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351" r:id="rId2"/>
    <p:sldId id="352" r:id="rId3"/>
    <p:sldId id="353" r:id="rId4"/>
    <p:sldId id="354" r:id="rId5"/>
    <p:sldId id="355" r:id="rId6"/>
    <p:sldId id="356" r:id="rId7"/>
    <p:sldId id="357" r:id="rId8"/>
    <p:sldId id="382" r:id="rId9"/>
    <p:sldId id="383" r:id="rId10"/>
    <p:sldId id="384" r:id="rId11"/>
    <p:sldId id="385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73" r:id="rId22"/>
    <p:sldId id="374" r:id="rId23"/>
    <p:sldId id="375" r:id="rId24"/>
    <p:sldId id="376" r:id="rId25"/>
    <p:sldId id="377" r:id="rId26"/>
    <p:sldId id="378" r:id="rId27"/>
    <p:sldId id="386" r:id="rId28"/>
    <p:sldId id="387" r:id="rId29"/>
    <p:sldId id="388" r:id="rId30"/>
    <p:sldId id="389" r:id="rId31"/>
    <p:sldId id="390" r:id="rId32"/>
    <p:sldId id="391" r:id="rId33"/>
    <p:sldId id="379" r:id="rId34"/>
    <p:sldId id="392" r:id="rId35"/>
    <p:sldId id="393" r:id="rId36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1" r:id="rId44"/>
    <p:sldId id="404" r:id="rId45"/>
    <p:sldId id="405" r:id="rId46"/>
    <p:sldId id="406" r:id="rId47"/>
    <p:sldId id="402" r:id="rId48"/>
    <p:sldId id="403" r:id="rId49"/>
    <p:sldId id="407" r:id="rId50"/>
    <p:sldId id="408" r:id="rId51"/>
    <p:sldId id="409" r:id="rId52"/>
    <p:sldId id="410" r:id="rId53"/>
    <p:sldId id="411" r:id="rId54"/>
    <p:sldId id="413" r:id="rId55"/>
    <p:sldId id="414" r:id="rId56"/>
    <p:sldId id="415" r:id="rId57"/>
    <p:sldId id="412" r:id="rId58"/>
    <p:sldId id="416" r:id="rId59"/>
    <p:sldId id="417" r:id="rId60"/>
    <p:sldId id="418" r:id="rId6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8">
          <p15:clr>
            <a:srgbClr val="A4A3A4"/>
          </p15:clr>
        </p15:guide>
        <p15:guide id="2" pos="28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007"/>
    <a:srgbClr val="00AF92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0" autoAdjust="0"/>
    <p:restoredTop sz="95905" autoAdjust="0"/>
  </p:normalViewPr>
  <p:slideViewPr>
    <p:cSldViewPr snapToGrid="0">
      <p:cViewPr>
        <p:scale>
          <a:sx n="100" d="100"/>
          <a:sy n="100" d="100"/>
        </p:scale>
        <p:origin x="2130" y="864"/>
      </p:cViewPr>
      <p:guideLst>
        <p:guide orient="horz" pos="1568"/>
        <p:guide pos="28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6FD99-B1FA-4331-8905-DB39E8B288F7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A5662-EE05-40AE-BC81-81279C4CD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893"/>
            <a:ext cx="6858000" cy="1242039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8035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2022/2/5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8983"/>
            <a:ext cx="7886700" cy="326407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8650" y="1640869"/>
            <a:ext cx="7886700" cy="1862662"/>
          </a:xfrm>
        </p:spPr>
        <p:txBody>
          <a:bodyPr>
            <a:normAutofit/>
          </a:bodyPr>
          <a:lstStyle>
            <a:lvl1pPr algn="ctr">
              <a:defRPr sz="45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458"/>
            <a:ext cx="3886200" cy="32640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458"/>
            <a:ext cx="3886200" cy="32640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994346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950"/>
            <a:ext cx="3868340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2050"/>
            <a:ext cx="3868340" cy="268100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950"/>
            <a:ext cx="3887391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2050"/>
            <a:ext cx="3887391" cy="268100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5" y="1619533"/>
            <a:ext cx="4286250" cy="1037019"/>
          </a:xfrm>
        </p:spPr>
        <p:txBody>
          <a:bodyPr anchor="b" anchorCtr="0">
            <a:normAutofit/>
          </a:bodyPr>
          <a:lstStyle>
            <a:lvl1pPr algn="ctr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2428875" y="2800391"/>
            <a:ext cx="4286250" cy="88960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535348"/>
            <a:ext cx="3511241" cy="1071308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31888" y="535348"/>
            <a:ext cx="4283912" cy="405340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735708"/>
            <a:ext cx="3511241" cy="2859191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8035" indent="0">
              <a:buNone/>
              <a:defRPr sz="750"/>
            </a:lvl7pPr>
            <a:lvl8pPr marL="2400935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2022/2/5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833674" y="273892"/>
            <a:ext cx="681676" cy="4359641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49" y="273892"/>
            <a:ext cx="7084832" cy="4359641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730"/>
            <a:ext cx="7886700" cy="416995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4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箭头: 右 9">
            <a:extLst>
              <a:ext uri="{FF2B5EF4-FFF2-40B4-BE49-F238E27FC236}">
                <a16:creationId xmlns:a16="http://schemas.microsoft.com/office/drawing/2014/main" id="{674E8F4C-C8A5-4E27-A604-70BC0FB5957E}"/>
              </a:ext>
            </a:extLst>
          </p:cNvPr>
          <p:cNvSpPr/>
          <p:nvPr/>
        </p:nvSpPr>
        <p:spPr>
          <a:xfrm>
            <a:off x="3870634" y="3621551"/>
            <a:ext cx="1855062" cy="26194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1" name="流程图: 直接访问存储器 10">
            <a:extLst>
              <a:ext uri="{FF2B5EF4-FFF2-40B4-BE49-F238E27FC236}">
                <a16:creationId xmlns:a16="http://schemas.microsoft.com/office/drawing/2014/main" id="{D26E7E60-A64C-4714-B3A3-75DF3EB51395}"/>
              </a:ext>
            </a:extLst>
          </p:cNvPr>
          <p:cNvSpPr/>
          <p:nvPr/>
        </p:nvSpPr>
        <p:spPr>
          <a:xfrm>
            <a:off x="3653795" y="2858904"/>
            <a:ext cx="2385257" cy="1490682"/>
          </a:xfrm>
          <a:prstGeom prst="flowChartMagneticDrum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dirty="0"/>
              <a:t>Kafka</a:t>
            </a:r>
            <a:r>
              <a:rPr lang="zh-CN" altLang="en-US" sz="1400" dirty="0"/>
              <a:t>集群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251ADB-D98C-4F6A-A153-51656999096A}"/>
              </a:ext>
            </a:extLst>
          </p:cNvPr>
          <p:cNvSpPr/>
          <p:nvPr/>
        </p:nvSpPr>
        <p:spPr>
          <a:xfrm>
            <a:off x="54064" y="3161453"/>
            <a:ext cx="2429703" cy="10081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400" dirty="0"/>
              <a:t>日志服务器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7417C7C-8352-4435-81B4-B4A4EAA74C53}"/>
              </a:ext>
            </a:extLst>
          </p:cNvPr>
          <p:cNvSpPr/>
          <p:nvPr/>
        </p:nvSpPr>
        <p:spPr>
          <a:xfrm>
            <a:off x="198080" y="3665509"/>
            <a:ext cx="670263" cy="36004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Log</a:t>
            </a:r>
            <a:endParaRPr lang="zh-CN" altLang="en-US" sz="1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AE154AF-2DE2-4278-80DB-1A27ACCA2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5" y="483518"/>
            <a:ext cx="2501711" cy="149163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B8CA77B-C649-424A-B2E7-B962704317EC}"/>
              </a:ext>
            </a:extLst>
          </p:cNvPr>
          <p:cNvSpPr txBox="1"/>
          <p:nvPr/>
        </p:nvSpPr>
        <p:spPr>
          <a:xfrm>
            <a:off x="54064" y="1975148"/>
            <a:ext cx="2501711" cy="75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8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前端埋点记录用户</a:t>
            </a:r>
            <a:r>
              <a:rPr lang="zh-CN" altLang="en-US" sz="1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购买海购人参丸的行为数据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（浏览、点赞、收藏、评论等）。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7439C6-C345-41F3-82D5-CC97311ED55F}"/>
              </a:ext>
            </a:extLst>
          </p:cNvPr>
          <p:cNvSpPr/>
          <p:nvPr/>
        </p:nvSpPr>
        <p:spPr>
          <a:xfrm>
            <a:off x="1475657" y="3665509"/>
            <a:ext cx="767160" cy="3600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Flume</a:t>
            </a:r>
            <a:endParaRPr lang="zh-CN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09EF23-C7FA-4A09-A52B-B38A7396DD38}"/>
              </a:ext>
            </a:extLst>
          </p:cNvPr>
          <p:cNvSpPr/>
          <p:nvPr/>
        </p:nvSpPr>
        <p:spPr>
          <a:xfrm>
            <a:off x="7020271" y="3161453"/>
            <a:ext cx="1862922" cy="10081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Hadoop</a:t>
            </a:r>
            <a:endParaRPr lang="zh-CN" altLang="en-US" sz="1400" dirty="0"/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EA6D9B86-059F-4A10-BA27-E2B82CDF9258}"/>
              </a:ext>
            </a:extLst>
          </p:cNvPr>
          <p:cNvSpPr/>
          <p:nvPr/>
        </p:nvSpPr>
        <p:spPr>
          <a:xfrm>
            <a:off x="1152917" y="2764382"/>
            <a:ext cx="248352" cy="330478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1E3770D-F1F2-464B-8E2D-1FB73E4E58E3}"/>
              </a:ext>
            </a:extLst>
          </p:cNvPr>
          <p:cNvSpPr/>
          <p:nvPr/>
        </p:nvSpPr>
        <p:spPr>
          <a:xfrm>
            <a:off x="2832837" y="3629344"/>
            <a:ext cx="576064" cy="26194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9BE2991-D8D7-43FF-9B39-93A09B2FEDA5}"/>
              </a:ext>
            </a:extLst>
          </p:cNvPr>
          <p:cNvSpPr/>
          <p:nvPr/>
        </p:nvSpPr>
        <p:spPr>
          <a:xfrm>
            <a:off x="6294913" y="3629344"/>
            <a:ext cx="576064" cy="26194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ABAD03-DFC7-43F7-846D-441DF23DBEE8}"/>
              </a:ext>
            </a:extLst>
          </p:cNvPr>
          <p:cNvSpPr txBox="1"/>
          <p:nvPr/>
        </p:nvSpPr>
        <p:spPr>
          <a:xfrm>
            <a:off x="443672" y="0"/>
            <a:ext cx="1320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Kafka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0DB3CB6-4D1E-4D52-BAF0-37D9E8878618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>
            <a:off x="868343" y="3845529"/>
            <a:ext cx="607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2250F61-8163-45AC-9A80-BAA45D8BE386}"/>
              </a:ext>
            </a:extLst>
          </p:cNvPr>
          <p:cNvSpPr txBox="1"/>
          <p:nvPr/>
        </p:nvSpPr>
        <p:spPr>
          <a:xfrm>
            <a:off x="6690315" y="4280197"/>
            <a:ext cx="2453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/>
              <a:t>Hadoop</a:t>
            </a:r>
            <a:r>
              <a:rPr lang="zh-CN" altLang="en-US" sz="1400" dirty="0"/>
              <a:t>上传速度</a:t>
            </a:r>
            <a:r>
              <a:rPr lang="en-US" altLang="zh-CN" sz="1400" dirty="0">
                <a:solidFill>
                  <a:srgbClr val="FF0000"/>
                </a:solidFill>
              </a:rPr>
              <a:t>100m/s</a:t>
            </a:r>
            <a:r>
              <a:rPr lang="zh-CN" altLang="en-US" sz="1400" dirty="0">
                <a:solidFill>
                  <a:srgbClr val="FF0000"/>
                </a:solidFill>
              </a:rPr>
              <a:t>左右。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924D58B-1B85-4EB8-9B12-5F2B68C16432}"/>
              </a:ext>
            </a:extLst>
          </p:cNvPr>
          <p:cNvSpPr txBox="1"/>
          <p:nvPr/>
        </p:nvSpPr>
        <p:spPr>
          <a:xfrm>
            <a:off x="237542" y="4349585"/>
            <a:ext cx="3243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dirty="0"/>
              <a:t>日常：</a:t>
            </a:r>
            <a:r>
              <a:rPr lang="en-US" altLang="zh-CN" sz="1400" dirty="0"/>
              <a:t>Flume</a:t>
            </a:r>
            <a:r>
              <a:rPr lang="zh-CN" altLang="en-US" sz="1400" dirty="0"/>
              <a:t>采集速度，</a:t>
            </a:r>
            <a:r>
              <a:rPr lang="zh-CN" altLang="en-US" sz="1400" dirty="0">
                <a:solidFill>
                  <a:srgbClr val="FF0000"/>
                </a:solidFill>
              </a:rPr>
              <a:t>小于</a:t>
            </a:r>
            <a:r>
              <a:rPr lang="en-US" altLang="zh-CN" sz="1400" dirty="0">
                <a:solidFill>
                  <a:srgbClr val="FF0000"/>
                </a:solidFill>
              </a:rPr>
              <a:t>100m/s</a:t>
            </a:r>
            <a:r>
              <a:rPr lang="zh-CN" altLang="en-US" sz="1400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EFDF8B5-BFEC-4DAE-8E5C-3BFDDEDF5C4D}"/>
              </a:ext>
            </a:extLst>
          </p:cNvPr>
          <p:cNvSpPr txBox="1"/>
          <p:nvPr/>
        </p:nvSpPr>
        <p:spPr>
          <a:xfrm>
            <a:off x="237541" y="4712245"/>
            <a:ext cx="3720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11.11 </a:t>
            </a:r>
            <a:r>
              <a:rPr lang="zh-CN" altLang="en-US" sz="1400" b="1" dirty="0"/>
              <a:t>活动：</a:t>
            </a:r>
            <a:r>
              <a:rPr lang="en-US" altLang="zh-CN" sz="1400" dirty="0"/>
              <a:t>Flume</a:t>
            </a:r>
            <a:r>
              <a:rPr lang="zh-CN" altLang="en-US" sz="1400" dirty="0"/>
              <a:t>采集速度，</a:t>
            </a:r>
            <a:r>
              <a:rPr lang="zh-CN" altLang="en-US" sz="1400" dirty="0">
                <a:solidFill>
                  <a:srgbClr val="FF0000"/>
                </a:solidFill>
              </a:rPr>
              <a:t>大于</a:t>
            </a:r>
            <a:r>
              <a:rPr lang="en-US" altLang="zh-CN" sz="1400" dirty="0">
                <a:solidFill>
                  <a:srgbClr val="FF0000"/>
                </a:solidFill>
              </a:rPr>
              <a:t>200m/s</a:t>
            </a:r>
            <a:r>
              <a:rPr lang="zh-CN" altLang="en-US" sz="1400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2CEB51-0A01-496D-864B-6BCF83C70001}"/>
              </a:ext>
            </a:extLst>
          </p:cNvPr>
          <p:cNvSpPr/>
          <p:nvPr/>
        </p:nvSpPr>
        <p:spPr>
          <a:xfrm>
            <a:off x="5099825" y="4397393"/>
            <a:ext cx="265245" cy="2830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5A03CE-66A2-4932-90DD-97D844EAA7D6}"/>
              </a:ext>
            </a:extLst>
          </p:cNvPr>
          <p:cNvSpPr/>
          <p:nvPr/>
        </p:nvSpPr>
        <p:spPr>
          <a:xfrm>
            <a:off x="4716016" y="4397393"/>
            <a:ext cx="265245" cy="2830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1CD614E-89E6-44B3-88FC-4038C497CE5F}"/>
              </a:ext>
            </a:extLst>
          </p:cNvPr>
          <p:cNvSpPr txBox="1"/>
          <p:nvPr/>
        </p:nvSpPr>
        <p:spPr>
          <a:xfrm>
            <a:off x="4102068" y="4363816"/>
            <a:ext cx="513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/>
              <a:t>。。。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B6D9216-5449-4514-9D76-8CAAECE4A0CF}"/>
              </a:ext>
            </a:extLst>
          </p:cNvPr>
          <p:cNvSpPr txBox="1"/>
          <p:nvPr/>
        </p:nvSpPr>
        <p:spPr>
          <a:xfrm>
            <a:off x="3049780" y="445802"/>
            <a:ext cx="5914707" cy="61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Kafka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传统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是一个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分布式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的基于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发布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订阅模式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消息队列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Message Queue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），主要应用于大数据实时处理领域。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74DEEC3-E812-4D0B-8B9A-5D2703534191}"/>
              </a:ext>
            </a:extLst>
          </p:cNvPr>
          <p:cNvSpPr txBox="1"/>
          <p:nvPr/>
        </p:nvSpPr>
        <p:spPr>
          <a:xfrm>
            <a:off x="3049780" y="1756723"/>
            <a:ext cx="5914707" cy="61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最新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是一个开源的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分布式事件流平台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Event Streaming Platform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），被数千家公司用于高性能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数据管道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流分析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数据集成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关键任务应用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F1EB03B-C410-4DFB-9156-8B70A9D3367F}"/>
              </a:ext>
            </a:extLst>
          </p:cNvPr>
          <p:cNvSpPr txBox="1"/>
          <p:nvPr/>
        </p:nvSpPr>
        <p:spPr>
          <a:xfrm>
            <a:off x="3061361" y="1005366"/>
            <a:ext cx="6028574" cy="61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发布/订阅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：消息的发布者不会将消息直接发送给特定的订阅者，而是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将发布的消息分为不同的类别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，订阅者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只接收感兴趣的消息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9B0024-C90B-48ED-9ED9-BBD346A47E40}"/>
              </a:ext>
            </a:extLst>
          </p:cNvPr>
          <p:cNvSpPr/>
          <p:nvPr/>
        </p:nvSpPr>
        <p:spPr>
          <a:xfrm>
            <a:off x="3870634" y="3225310"/>
            <a:ext cx="1080120" cy="282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/>
              <a:t>Kafka</a:t>
            </a:r>
            <a:endParaRPr lang="zh-CN" altLang="en-US" sz="14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84E5A2D-A4D8-4BC5-ABE9-32063F7BC042}"/>
              </a:ext>
            </a:extLst>
          </p:cNvPr>
          <p:cNvSpPr/>
          <p:nvPr/>
        </p:nvSpPr>
        <p:spPr>
          <a:xfrm>
            <a:off x="3870634" y="3920894"/>
            <a:ext cx="1080120" cy="282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/>
              <a:t>Kafka</a:t>
            </a:r>
            <a:endParaRPr lang="zh-CN" altLang="en-US" sz="14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88D6B6C-0992-4305-B695-7F683E8E7D57}"/>
              </a:ext>
            </a:extLst>
          </p:cNvPr>
          <p:cNvSpPr/>
          <p:nvPr/>
        </p:nvSpPr>
        <p:spPr>
          <a:xfrm>
            <a:off x="3870634" y="3584065"/>
            <a:ext cx="1080120" cy="282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/>
              <a:t>Kafka</a:t>
            </a:r>
            <a:endParaRPr lang="zh-CN" altLang="en-US" sz="1400" dirty="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1B9579C-D2AD-40D8-91EC-2674C79C06D4}"/>
              </a:ext>
            </a:extLst>
          </p:cNvPr>
          <p:cNvSpPr/>
          <p:nvPr/>
        </p:nvSpPr>
        <p:spPr>
          <a:xfrm>
            <a:off x="4529053" y="3242085"/>
            <a:ext cx="570771" cy="26194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浏览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80A4EFB-FE19-4647-91D4-DF4874F73A08}"/>
              </a:ext>
            </a:extLst>
          </p:cNvPr>
          <p:cNvSpPr/>
          <p:nvPr/>
        </p:nvSpPr>
        <p:spPr>
          <a:xfrm>
            <a:off x="4529053" y="3598522"/>
            <a:ext cx="570771" cy="26194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点赞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6C5C421-8D61-40DC-ACA8-5EE0F5FB1790}"/>
              </a:ext>
            </a:extLst>
          </p:cNvPr>
          <p:cNvSpPr/>
          <p:nvPr/>
        </p:nvSpPr>
        <p:spPr>
          <a:xfrm>
            <a:off x="4523760" y="3931363"/>
            <a:ext cx="570771" cy="26194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收藏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39378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2" grpId="0" animBg="1"/>
      <p:bldP spid="13" grpId="0" animBg="1"/>
      <p:bldP spid="15" grpId="0"/>
      <p:bldP spid="16" grpId="0" animBg="1"/>
      <p:bldP spid="17" grpId="0" animBg="1"/>
      <p:bldP spid="18" grpId="0" animBg="1"/>
      <p:bldP spid="19" grpId="0" animBg="1"/>
      <p:bldP spid="21" grpId="0" animBg="1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形 38" descr="男人">
            <a:extLst>
              <a:ext uri="{FF2B5EF4-FFF2-40B4-BE49-F238E27FC236}">
                <a16:creationId xmlns:a16="http://schemas.microsoft.com/office/drawing/2014/main" id="{46A40810-F07F-4352-BFF6-D5AA4E236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1367451"/>
            <a:ext cx="412211" cy="412211"/>
          </a:xfrm>
          <a:prstGeom prst="rect">
            <a:avLst/>
          </a:prstGeom>
        </p:spPr>
      </p:pic>
      <p:pic>
        <p:nvPicPr>
          <p:cNvPr id="40" name="图形 39" descr="男人">
            <a:extLst>
              <a:ext uri="{FF2B5EF4-FFF2-40B4-BE49-F238E27FC236}">
                <a16:creationId xmlns:a16="http://schemas.microsoft.com/office/drawing/2014/main" id="{B0DFDF4A-A8FD-46ED-A5FA-6FC645ECD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429" y="1367451"/>
            <a:ext cx="412211" cy="412211"/>
          </a:xfrm>
          <a:prstGeom prst="rect">
            <a:avLst/>
          </a:prstGeom>
        </p:spPr>
      </p:pic>
      <p:pic>
        <p:nvPicPr>
          <p:cNvPr id="41" name="图形 40" descr="男人">
            <a:extLst>
              <a:ext uri="{FF2B5EF4-FFF2-40B4-BE49-F238E27FC236}">
                <a16:creationId xmlns:a16="http://schemas.microsoft.com/office/drawing/2014/main" id="{304C9636-F14A-487F-915B-95C624BBB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9323" y="1367451"/>
            <a:ext cx="412211" cy="412211"/>
          </a:xfrm>
          <a:prstGeom prst="rect">
            <a:avLst/>
          </a:prstGeom>
        </p:spPr>
      </p:pic>
      <p:pic>
        <p:nvPicPr>
          <p:cNvPr id="42" name="图形 41" descr="男人">
            <a:extLst>
              <a:ext uri="{FF2B5EF4-FFF2-40B4-BE49-F238E27FC236}">
                <a16:creationId xmlns:a16="http://schemas.microsoft.com/office/drawing/2014/main" id="{E42EB523-CB33-48F3-B304-9A7D86CE3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1871507"/>
            <a:ext cx="412211" cy="412211"/>
          </a:xfrm>
          <a:prstGeom prst="rect">
            <a:avLst/>
          </a:prstGeom>
        </p:spPr>
      </p:pic>
      <p:pic>
        <p:nvPicPr>
          <p:cNvPr id="43" name="图形 42" descr="男人">
            <a:extLst>
              <a:ext uri="{FF2B5EF4-FFF2-40B4-BE49-F238E27FC236}">
                <a16:creationId xmlns:a16="http://schemas.microsoft.com/office/drawing/2014/main" id="{2D1E3C7E-E53A-4234-96E6-57A1BC175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429" y="1871507"/>
            <a:ext cx="412211" cy="412211"/>
          </a:xfrm>
          <a:prstGeom prst="rect">
            <a:avLst/>
          </a:prstGeom>
        </p:spPr>
      </p:pic>
      <p:pic>
        <p:nvPicPr>
          <p:cNvPr id="44" name="图形 43" descr="男人">
            <a:extLst>
              <a:ext uri="{FF2B5EF4-FFF2-40B4-BE49-F238E27FC236}">
                <a16:creationId xmlns:a16="http://schemas.microsoft.com/office/drawing/2014/main" id="{A504A2FB-2455-4E96-BDAD-945E6E3AE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9323" y="1871507"/>
            <a:ext cx="412211" cy="412211"/>
          </a:xfrm>
          <a:prstGeom prst="rect">
            <a:avLst/>
          </a:prstGeom>
        </p:spPr>
      </p:pic>
      <p:pic>
        <p:nvPicPr>
          <p:cNvPr id="45" name="图形 44" descr="男人">
            <a:extLst>
              <a:ext uri="{FF2B5EF4-FFF2-40B4-BE49-F238E27FC236}">
                <a16:creationId xmlns:a16="http://schemas.microsoft.com/office/drawing/2014/main" id="{08C1CC05-5457-432B-81AE-BB3D8C4A2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2447571"/>
            <a:ext cx="412211" cy="412211"/>
          </a:xfrm>
          <a:prstGeom prst="rect">
            <a:avLst/>
          </a:prstGeom>
        </p:spPr>
      </p:pic>
      <p:pic>
        <p:nvPicPr>
          <p:cNvPr id="46" name="图形 45" descr="男人">
            <a:extLst>
              <a:ext uri="{FF2B5EF4-FFF2-40B4-BE49-F238E27FC236}">
                <a16:creationId xmlns:a16="http://schemas.microsoft.com/office/drawing/2014/main" id="{BD838C2C-F9A5-4D39-B1DA-58AD70AAB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429" y="2447571"/>
            <a:ext cx="412211" cy="412211"/>
          </a:xfrm>
          <a:prstGeom prst="rect">
            <a:avLst/>
          </a:prstGeom>
        </p:spPr>
      </p:pic>
      <p:pic>
        <p:nvPicPr>
          <p:cNvPr id="47" name="图形 46" descr="男人">
            <a:extLst>
              <a:ext uri="{FF2B5EF4-FFF2-40B4-BE49-F238E27FC236}">
                <a16:creationId xmlns:a16="http://schemas.microsoft.com/office/drawing/2014/main" id="{37C75CDA-44AB-4BD0-A0FC-82F381DD3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9323" y="2447571"/>
            <a:ext cx="412211" cy="412211"/>
          </a:xfrm>
          <a:prstGeom prst="rect">
            <a:avLst/>
          </a:prstGeom>
        </p:spPr>
      </p:pic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7188FF-A0B4-4D10-8262-303B25DCF1AD}"/>
              </a:ext>
            </a:extLst>
          </p:cNvPr>
          <p:cNvCxnSpPr>
            <a:cxnSpLocks/>
          </p:cNvCxnSpPr>
          <p:nvPr/>
        </p:nvCxnSpPr>
        <p:spPr>
          <a:xfrm>
            <a:off x="0" y="3111809"/>
            <a:ext cx="9111936" cy="360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4DF4FFF-8CA9-4243-8839-A95DE9EE2EF4}"/>
              </a:ext>
            </a:extLst>
          </p:cNvPr>
          <p:cNvSpPr/>
          <p:nvPr/>
        </p:nvSpPr>
        <p:spPr>
          <a:xfrm>
            <a:off x="6372200" y="1739276"/>
            <a:ext cx="1671471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秒杀系统</a:t>
            </a:r>
            <a:endParaRPr lang="en-US" altLang="zh-CN" dirty="0"/>
          </a:p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（秒杀海购人参丸）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A4F2B4A-1FEF-4D10-858F-CE9A6BA683EF}"/>
              </a:ext>
            </a:extLst>
          </p:cNvPr>
          <p:cNvCxnSpPr>
            <a:stCxn id="41" idx="3"/>
            <a:endCxn id="49" idx="1"/>
          </p:cNvCxnSpPr>
          <p:nvPr/>
        </p:nvCxnSpPr>
        <p:spPr>
          <a:xfrm>
            <a:off x="2061534" y="1573557"/>
            <a:ext cx="4310666" cy="622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39D8B74-92CE-45E3-BEF5-D981A8DD26B4}"/>
              </a:ext>
            </a:extLst>
          </p:cNvPr>
          <p:cNvCxnSpPr>
            <a:stCxn id="44" idx="3"/>
            <a:endCxn id="49" idx="1"/>
          </p:cNvCxnSpPr>
          <p:nvPr/>
        </p:nvCxnSpPr>
        <p:spPr>
          <a:xfrm>
            <a:off x="2061534" y="2077613"/>
            <a:ext cx="4310666" cy="118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969D32-2F79-47C7-B013-4C5998750E70}"/>
              </a:ext>
            </a:extLst>
          </p:cNvPr>
          <p:cNvCxnSpPr>
            <a:stCxn id="47" idx="3"/>
            <a:endCxn id="49" idx="1"/>
          </p:cNvCxnSpPr>
          <p:nvPr/>
        </p:nvCxnSpPr>
        <p:spPr>
          <a:xfrm flipV="1">
            <a:off x="2061534" y="2196476"/>
            <a:ext cx="4310666" cy="457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图形 52" descr="男人">
            <a:extLst>
              <a:ext uri="{FF2B5EF4-FFF2-40B4-BE49-F238E27FC236}">
                <a16:creationId xmlns:a16="http://schemas.microsoft.com/office/drawing/2014/main" id="{A55978E7-E9DE-49A5-ADBA-40E39E538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3455683"/>
            <a:ext cx="412211" cy="412211"/>
          </a:xfrm>
          <a:prstGeom prst="rect">
            <a:avLst/>
          </a:prstGeom>
        </p:spPr>
      </p:pic>
      <p:pic>
        <p:nvPicPr>
          <p:cNvPr id="54" name="图形 53" descr="男人">
            <a:extLst>
              <a:ext uri="{FF2B5EF4-FFF2-40B4-BE49-F238E27FC236}">
                <a16:creationId xmlns:a16="http://schemas.microsoft.com/office/drawing/2014/main" id="{3159E36B-7830-4287-B687-F19978298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429" y="3455683"/>
            <a:ext cx="412211" cy="412211"/>
          </a:xfrm>
          <a:prstGeom prst="rect">
            <a:avLst/>
          </a:prstGeom>
        </p:spPr>
      </p:pic>
      <p:pic>
        <p:nvPicPr>
          <p:cNvPr id="55" name="图形 54" descr="男人">
            <a:extLst>
              <a:ext uri="{FF2B5EF4-FFF2-40B4-BE49-F238E27FC236}">
                <a16:creationId xmlns:a16="http://schemas.microsoft.com/office/drawing/2014/main" id="{ABB87877-2121-405F-95BE-F236F487B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9323" y="3455683"/>
            <a:ext cx="412211" cy="412211"/>
          </a:xfrm>
          <a:prstGeom prst="rect">
            <a:avLst/>
          </a:prstGeom>
        </p:spPr>
      </p:pic>
      <p:pic>
        <p:nvPicPr>
          <p:cNvPr id="56" name="图形 55" descr="男人">
            <a:extLst>
              <a:ext uri="{FF2B5EF4-FFF2-40B4-BE49-F238E27FC236}">
                <a16:creationId xmlns:a16="http://schemas.microsoft.com/office/drawing/2014/main" id="{06942005-0727-490C-9236-8BB4DD38E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3959739"/>
            <a:ext cx="412211" cy="412211"/>
          </a:xfrm>
          <a:prstGeom prst="rect">
            <a:avLst/>
          </a:prstGeom>
        </p:spPr>
      </p:pic>
      <p:pic>
        <p:nvPicPr>
          <p:cNvPr id="57" name="图形 56" descr="男人">
            <a:extLst>
              <a:ext uri="{FF2B5EF4-FFF2-40B4-BE49-F238E27FC236}">
                <a16:creationId xmlns:a16="http://schemas.microsoft.com/office/drawing/2014/main" id="{58D33A71-FDA5-480D-B1F2-F79C24888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429" y="3959739"/>
            <a:ext cx="412211" cy="412211"/>
          </a:xfrm>
          <a:prstGeom prst="rect">
            <a:avLst/>
          </a:prstGeom>
        </p:spPr>
      </p:pic>
      <p:pic>
        <p:nvPicPr>
          <p:cNvPr id="58" name="图形 57" descr="男人">
            <a:extLst>
              <a:ext uri="{FF2B5EF4-FFF2-40B4-BE49-F238E27FC236}">
                <a16:creationId xmlns:a16="http://schemas.microsoft.com/office/drawing/2014/main" id="{26C18D69-B9E5-41A9-B83C-7A6C38672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9323" y="3959739"/>
            <a:ext cx="412211" cy="412211"/>
          </a:xfrm>
          <a:prstGeom prst="rect">
            <a:avLst/>
          </a:prstGeom>
        </p:spPr>
      </p:pic>
      <p:pic>
        <p:nvPicPr>
          <p:cNvPr id="59" name="图形 58" descr="男人">
            <a:extLst>
              <a:ext uri="{FF2B5EF4-FFF2-40B4-BE49-F238E27FC236}">
                <a16:creationId xmlns:a16="http://schemas.microsoft.com/office/drawing/2014/main" id="{BD86EABE-BFC4-4BD1-999B-8BCAE3C33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4535803"/>
            <a:ext cx="412211" cy="412211"/>
          </a:xfrm>
          <a:prstGeom prst="rect">
            <a:avLst/>
          </a:prstGeom>
        </p:spPr>
      </p:pic>
      <p:pic>
        <p:nvPicPr>
          <p:cNvPr id="60" name="图形 59" descr="男人">
            <a:extLst>
              <a:ext uri="{FF2B5EF4-FFF2-40B4-BE49-F238E27FC236}">
                <a16:creationId xmlns:a16="http://schemas.microsoft.com/office/drawing/2014/main" id="{DAF137D4-4AE8-4936-9DCD-9461689D2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429" y="4535803"/>
            <a:ext cx="412211" cy="412211"/>
          </a:xfrm>
          <a:prstGeom prst="rect">
            <a:avLst/>
          </a:prstGeom>
        </p:spPr>
      </p:pic>
      <p:pic>
        <p:nvPicPr>
          <p:cNvPr id="61" name="图形 60" descr="男人">
            <a:extLst>
              <a:ext uri="{FF2B5EF4-FFF2-40B4-BE49-F238E27FC236}">
                <a16:creationId xmlns:a16="http://schemas.microsoft.com/office/drawing/2014/main" id="{C6CB8320-FD16-46D8-8BD4-48B5AD36F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9323" y="4535803"/>
            <a:ext cx="412211" cy="412211"/>
          </a:xfrm>
          <a:prstGeom prst="rect">
            <a:avLst/>
          </a:prstGeom>
        </p:spPr>
      </p:pic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2B6146AD-0160-49B9-9AF7-207D57A7B7FD}"/>
              </a:ext>
            </a:extLst>
          </p:cNvPr>
          <p:cNvSpPr/>
          <p:nvPr/>
        </p:nvSpPr>
        <p:spPr>
          <a:xfrm>
            <a:off x="6372199" y="3708644"/>
            <a:ext cx="1671471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秒杀系统</a:t>
            </a:r>
            <a:endParaRPr lang="en-US" altLang="zh-CN" dirty="0"/>
          </a:p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（秒杀海购人参丸）</a:t>
            </a:r>
          </a:p>
        </p:txBody>
      </p:sp>
      <p:sp>
        <p:nvSpPr>
          <p:cNvPr id="63" name="流程图: 直接访问存储器 62">
            <a:extLst>
              <a:ext uri="{FF2B5EF4-FFF2-40B4-BE49-F238E27FC236}">
                <a16:creationId xmlns:a16="http://schemas.microsoft.com/office/drawing/2014/main" id="{6A9D798C-77E9-4315-84DF-A6E9809DF5D8}"/>
              </a:ext>
            </a:extLst>
          </p:cNvPr>
          <p:cNvSpPr/>
          <p:nvPr/>
        </p:nvSpPr>
        <p:spPr>
          <a:xfrm>
            <a:off x="3190728" y="3815723"/>
            <a:ext cx="2114408" cy="720080"/>
          </a:xfrm>
          <a:prstGeom prst="flowChartMagneticDru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b="1" dirty="0"/>
              <a:t>MQ</a:t>
            </a:r>
            <a:r>
              <a:rPr lang="zh-CN" altLang="en-US" sz="1200" b="1" dirty="0"/>
              <a:t>消息队列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C3F4BF5-D06E-4989-B1FC-F7FE60B28453}"/>
              </a:ext>
            </a:extLst>
          </p:cNvPr>
          <p:cNvSpPr/>
          <p:nvPr/>
        </p:nvSpPr>
        <p:spPr>
          <a:xfrm>
            <a:off x="4248785" y="4249839"/>
            <a:ext cx="265245" cy="2830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FE34AFC-F654-4B26-BD37-5CCF90A6F30F}"/>
              </a:ext>
            </a:extLst>
          </p:cNvPr>
          <p:cNvSpPr/>
          <p:nvPr/>
        </p:nvSpPr>
        <p:spPr>
          <a:xfrm>
            <a:off x="3864976" y="4249839"/>
            <a:ext cx="265245" cy="2830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1EA2270-4DA5-4D5A-B8FD-F6D4E6460EA0}"/>
              </a:ext>
            </a:extLst>
          </p:cNvPr>
          <p:cNvSpPr txBox="1"/>
          <p:nvPr/>
        </p:nvSpPr>
        <p:spPr>
          <a:xfrm>
            <a:off x="3251028" y="4216262"/>
            <a:ext cx="513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/>
              <a:t>。。。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13DABCD-3FCF-4B4C-858F-33419D637B05}"/>
              </a:ext>
            </a:extLst>
          </p:cNvPr>
          <p:cNvCxnSpPr>
            <a:stCxn id="55" idx="3"/>
            <a:endCxn id="63" idx="1"/>
          </p:cNvCxnSpPr>
          <p:nvPr/>
        </p:nvCxnSpPr>
        <p:spPr>
          <a:xfrm>
            <a:off x="2061534" y="3661789"/>
            <a:ext cx="1129194" cy="51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50C11DA-6300-4E85-97E3-499DDDD246B4}"/>
              </a:ext>
            </a:extLst>
          </p:cNvPr>
          <p:cNvCxnSpPr>
            <a:stCxn id="58" idx="3"/>
            <a:endCxn id="63" idx="1"/>
          </p:cNvCxnSpPr>
          <p:nvPr/>
        </p:nvCxnSpPr>
        <p:spPr>
          <a:xfrm>
            <a:off x="2061534" y="4165845"/>
            <a:ext cx="1129194" cy="9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E7322D3A-55F7-4124-9403-8BFC20B52654}"/>
              </a:ext>
            </a:extLst>
          </p:cNvPr>
          <p:cNvCxnSpPr>
            <a:stCxn id="61" idx="3"/>
            <a:endCxn id="63" idx="1"/>
          </p:cNvCxnSpPr>
          <p:nvPr/>
        </p:nvCxnSpPr>
        <p:spPr>
          <a:xfrm flipV="1">
            <a:off x="2061534" y="4175763"/>
            <a:ext cx="1129194" cy="566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AECF1B34-5070-4178-A9E8-EB2DAB23B32E}"/>
              </a:ext>
            </a:extLst>
          </p:cNvPr>
          <p:cNvCxnSpPr>
            <a:stCxn id="63" idx="4"/>
            <a:endCxn id="62" idx="1"/>
          </p:cNvCxnSpPr>
          <p:nvPr/>
        </p:nvCxnSpPr>
        <p:spPr>
          <a:xfrm flipV="1">
            <a:off x="5305136" y="4165844"/>
            <a:ext cx="1067063" cy="9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B8A982E2-935E-45C1-A048-50DDB9CE7861}"/>
              </a:ext>
            </a:extLst>
          </p:cNvPr>
          <p:cNvSpPr txBox="1"/>
          <p:nvPr/>
        </p:nvSpPr>
        <p:spPr>
          <a:xfrm>
            <a:off x="443672" y="0"/>
            <a:ext cx="4200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消息队列的应用场景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缓冲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</a:t>
            </a:r>
            <a:r>
              <a:rPr lang="zh-CN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峰</a:t>
            </a:r>
            <a:endParaRPr lang="zh-CN" altLang="en-US" b="1" kern="1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FA2D4E4-2D05-4D4B-A736-31CB5E7EC38E}"/>
              </a:ext>
            </a:extLst>
          </p:cNvPr>
          <p:cNvSpPr txBox="1"/>
          <p:nvPr/>
        </p:nvSpPr>
        <p:spPr>
          <a:xfrm>
            <a:off x="415943" y="424318"/>
            <a:ext cx="8476537" cy="378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缓冲</a:t>
            </a:r>
            <a:r>
              <a:rPr lang="en-US" altLang="zh-CN" sz="1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消峰：</a:t>
            </a:r>
            <a:r>
              <a:rPr lang="zh-CN" altLang="zh-CN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有助于控制和优化数据流经过系统的速度，解决生产消息和消费消息的处理速度不一致的情况。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C9F0441-D1FD-468B-9BC5-E617056CC31F}"/>
              </a:ext>
            </a:extLst>
          </p:cNvPr>
          <p:cNvSpPr txBox="1"/>
          <p:nvPr/>
        </p:nvSpPr>
        <p:spPr>
          <a:xfrm>
            <a:off x="415943" y="933724"/>
            <a:ext cx="2067825" cy="33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双十一参与用户：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亿人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/s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EE6172F-8AF5-45A2-B10E-ACAC25886B42}"/>
              </a:ext>
            </a:extLst>
          </p:cNvPr>
          <p:cNvSpPr txBox="1"/>
          <p:nvPr/>
        </p:nvSpPr>
        <p:spPr>
          <a:xfrm>
            <a:off x="6450101" y="1296968"/>
            <a:ext cx="1671470" cy="33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处理能力：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千万人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/s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25E29C8-6681-4DEC-9981-A54560F70D05}"/>
              </a:ext>
            </a:extLst>
          </p:cNvPr>
          <p:cNvSpPr txBox="1"/>
          <p:nvPr/>
        </p:nvSpPr>
        <p:spPr>
          <a:xfrm>
            <a:off x="395833" y="3073281"/>
            <a:ext cx="2067825" cy="33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双十一参与用户：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亿人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/s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D6780A5-B75F-4DE6-AC4D-D6A554AF9899}"/>
              </a:ext>
            </a:extLst>
          </p:cNvPr>
          <p:cNvSpPr txBox="1"/>
          <p:nvPr/>
        </p:nvSpPr>
        <p:spPr>
          <a:xfrm>
            <a:off x="6372200" y="3329074"/>
            <a:ext cx="1671470" cy="33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处理能力：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千万人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/s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A2575F8-C433-4EC3-B241-95A0224D5F87}"/>
              </a:ext>
            </a:extLst>
          </p:cNvPr>
          <p:cNvSpPr txBox="1"/>
          <p:nvPr/>
        </p:nvSpPr>
        <p:spPr>
          <a:xfrm>
            <a:off x="3284515" y="3359762"/>
            <a:ext cx="1958491" cy="33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按照顺序写入消息队列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56276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2" grpId="0" animBg="1"/>
      <p:bldP spid="63" grpId="0" animBg="1"/>
      <p:bldP spid="64" grpId="0" animBg="1"/>
      <p:bldP spid="65" grpId="0" animBg="1"/>
      <p:bldP spid="66" grpId="0"/>
      <p:bldP spid="73" grpId="0"/>
      <p:bldP spid="74" grpId="0"/>
      <p:bldP spid="75" grpId="0"/>
      <p:bldP spid="76" grpId="0"/>
      <p:bldP spid="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直接访问存储器 1">
            <a:extLst>
              <a:ext uri="{FF2B5EF4-FFF2-40B4-BE49-F238E27FC236}">
                <a16:creationId xmlns:a16="http://schemas.microsoft.com/office/drawing/2014/main" id="{2086A2CB-ED09-441C-BA1E-0CCD938699F5}"/>
              </a:ext>
            </a:extLst>
          </p:cNvPr>
          <p:cNvSpPr/>
          <p:nvPr/>
        </p:nvSpPr>
        <p:spPr>
          <a:xfrm>
            <a:off x="2645494" y="2351514"/>
            <a:ext cx="3389292" cy="1490682"/>
          </a:xfrm>
          <a:prstGeom prst="flowChartMagneticDrum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b="1" dirty="0"/>
              <a:t>  MQ</a:t>
            </a:r>
            <a:r>
              <a:rPr lang="zh-CN" altLang="en-US" sz="1400" b="1" dirty="0"/>
              <a:t>消息队列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6D747C-47BE-42F0-8A9C-465B96C25F71}"/>
              </a:ext>
            </a:extLst>
          </p:cNvPr>
          <p:cNvSpPr/>
          <p:nvPr/>
        </p:nvSpPr>
        <p:spPr>
          <a:xfrm>
            <a:off x="3613820" y="2698052"/>
            <a:ext cx="1256737" cy="282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/>
              <a:t>queue1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F23592-EBD1-4045-8EDD-293D031661EF}"/>
              </a:ext>
            </a:extLst>
          </p:cNvPr>
          <p:cNvSpPr/>
          <p:nvPr/>
        </p:nvSpPr>
        <p:spPr>
          <a:xfrm>
            <a:off x="3613820" y="3020637"/>
            <a:ext cx="1256737" cy="282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/>
              <a:t>queue2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64E301-151C-4BB0-B6E0-33017FA1EFE8}"/>
              </a:ext>
            </a:extLst>
          </p:cNvPr>
          <p:cNvSpPr/>
          <p:nvPr/>
        </p:nvSpPr>
        <p:spPr>
          <a:xfrm>
            <a:off x="3613820" y="3343222"/>
            <a:ext cx="1256737" cy="282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/>
              <a:t>queue3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585C9D-DB57-4BD5-80D0-16579650B082}"/>
              </a:ext>
            </a:extLst>
          </p:cNvPr>
          <p:cNvSpPr txBox="1"/>
          <p:nvPr/>
        </p:nvSpPr>
        <p:spPr>
          <a:xfrm>
            <a:off x="443672" y="0"/>
            <a:ext cx="3321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消息队列的应用场景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6BA4F1E-D26B-4160-90D7-5B114736A2ED}"/>
              </a:ext>
            </a:extLst>
          </p:cNvPr>
          <p:cNvSpPr/>
          <p:nvPr/>
        </p:nvSpPr>
        <p:spPr>
          <a:xfrm>
            <a:off x="395537" y="1487636"/>
            <a:ext cx="1303708" cy="48235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MySQL</a:t>
            </a:r>
            <a:endParaRPr lang="zh-CN" altLang="en-US" sz="16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E2C819-2DE5-419D-ABE8-F49A2B7B7CDD}"/>
              </a:ext>
            </a:extLst>
          </p:cNvPr>
          <p:cNvSpPr/>
          <p:nvPr/>
        </p:nvSpPr>
        <p:spPr>
          <a:xfrm>
            <a:off x="7020272" y="1487636"/>
            <a:ext cx="1723276" cy="48235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Hadoop</a:t>
            </a:r>
            <a:endParaRPr lang="zh-CN" altLang="en-US" sz="16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EA2D6BC-420E-4C5F-A91A-05A5EAA40BD1}"/>
              </a:ext>
            </a:extLst>
          </p:cNvPr>
          <p:cNvSpPr/>
          <p:nvPr/>
        </p:nvSpPr>
        <p:spPr>
          <a:xfrm>
            <a:off x="7025188" y="2408303"/>
            <a:ext cx="1723276" cy="48235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SparkStreaming</a:t>
            </a:r>
            <a:endParaRPr lang="zh-CN" altLang="en-US" sz="16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8B47772-DB6D-453B-95CE-BA9CD8ED2E76}"/>
              </a:ext>
            </a:extLst>
          </p:cNvPr>
          <p:cNvSpPr/>
          <p:nvPr/>
        </p:nvSpPr>
        <p:spPr>
          <a:xfrm>
            <a:off x="7020272" y="3328970"/>
            <a:ext cx="1723276" cy="48235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Flink</a:t>
            </a:r>
            <a:endParaRPr lang="zh-CN" altLang="en-US" sz="1600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E921FB-9FB6-4A16-B7BC-4890B2582149}"/>
              </a:ext>
            </a:extLst>
          </p:cNvPr>
          <p:cNvSpPr/>
          <p:nvPr/>
        </p:nvSpPr>
        <p:spPr>
          <a:xfrm>
            <a:off x="7016412" y="4249638"/>
            <a:ext cx="1723276" cy="48235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SpringBoot</a:t>
            </a:r>
            <a:endParaRPr lang="zh-CN" altLang="en-US" sz="1600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04C83E7-58C7-4BF6-A1E4-9BA7E5073836}"/>
              </a:ext>
            </a:extLst>
          </p:cNvPr>
          <p:cNvSpPr/>
          <p:nvPr/>
        </p:nvSpPr>
        <p:spPr>
          <a:xfrm>
            <a:off x="395537" y="2868637"/>
            <a:ext cx="1303708" cy="48235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Flume</a:t>
            </a:r>
            <a:endParaRPr lang="zh-CN" altLang="en-US" sz="16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DAE85BA-122E-4E3C-A255-B99E4E2D166B}"/>
              </a:ext>
            </a:extLst>
          </p:cNvPr>
          <p:cNvSpPr/>
          <p:nvPr/>
        </p:nvSpPr>
        <p:spPr>
          <a:xfrm>
            <a:off x="403197" y="4249638"/>
            <a:ext cx="1303708" cy="48235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网络端口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6D7760-9AA4-4A03-B906-CCB23A788EC9}"/>
              </a:ext>
            </a:extLst>
          </p:cNvPr>
          <p:cNvSpPr txBox="1"/>
          <p:nvPr/>
        </p:nvSpPr>
        <p:spPr>
          <a:xfrm>
            <a:off x="2658743" y="2938078"/>
            <a:ext cx="1008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Producer</a:t>
            </a:r>
          </a:p>
          <a:p>
            <a:pPr algn="ctr"/>
            <a:r>
              <a:rPr lang="zh-CN" altLang="en-US" sz="1600" dirty="0"/>
              <a:t>生产者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617E17-9895-4CCE-B73A-11E59B0B2E0D}"/>
              </a:ext>
            </a:extLst>
          </p:cNvPr>
          <p:cNvSpPr txBox="1"/>
          <p:nvPr/>
        </p:nvSpPr>
        <p:spPr>
          <a:xfrm>
            <a:off x="4906482" y="2950917"/>
            <a:ext cx="1159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Consumer</a:t>
            </a:r>
          </a:p>
          <a:p>
            <a:pPr algn="ctr"/>
            <a:r>
              <a:rPr lang="zh-CN" altLang="en-US" sz="1600" dirty="0"/>
              <a:t>消费者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1594BC4-222F-47D8-BE2E-F4028CF2FF6F}"/>
              </a:ext>
            </a:extLst>
          </p:cNvPr>
          <p:cNvCxnSpPr>
            <a:cxnSpLocks/>
            <a:stCxn id="7" idx="3"/>
            <a:endCxn id="2" idx="1"/>
          </p:cNvCxnSpPr>
          <p:nvPr/>
        </p:nvCxnSpPr>
        <p:spPr>
          <a:xfrm>
            <a:off x="1699245" y="1728812"/>
            <a:ext cx="946249" cy="1368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B07E176-7E5D-4113-AC97-EA53E41CC845}"/>
              </a:ext>
            </a:extLst>
          </p:cNvPr>
          <p:cNvCxnSpPr>
            <a:cxnSpLocks/>
            <a:stCxn id="12" idx="3"/>
            <a:endCxn id="2" idx="1"/>
          </p:cNvCxnSpPr>
          <p:nvPr/>
        </p:nvCxnSpPr>
        <p:spPr>
          <a:xfrm flipV="1">
            <a:off x="1699245" y="3096855"/>
            <a:ext cx="946249" cy="12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99C089A-2023-4B07-A5AE-3F3F5F1F9282}"/>
              </a:ext>
            </a:extLst>
          </p:cNvPr>
          <p:cNvCxnSpPr>
            <a:cxnSpLocks/>
            <a:stCxn id="13" idx="3"/>
            <a:endCxn id="2" idx="1"/>
          </p:cNvCxnSpPr>
          <p:nvPr/>
        </p:nvCxnSpPr>
        <p:spPr>
          <a:xfrm flipV="1">
            <a:off x="1706905" y="3096855"/>
            <a:ext cx="938589" cy="1393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08657D7-C09B-4A1F-8EC3-FBEF9E231228}"/>
              </a:ext>
            </a:extLst>
          </p:cNvPr>
          <p:cNvCxnSpPr>
            <a:stCxn id="2" idx="4"/>
            <a:endCxn id="8" idx="1"/>
          </p:cNvCxnSpPr>
          <p:nvPr/>
        </p:nvCxnSpPr>
        <p:spPr>
          <a:xfrm flipV="1">
            <a:off x="6034786" y="1728812"/>
            <a:ext cx="985486" cy="1368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502C8B8-867E-4243-B68E-EBE2100472AE}"/>
              </a:ext>
            </a:extLst>
          </p:cNvPr>
          <p:cNvCxnSpPr>
            <a:stCxn id="2" idx="4"/>
            <a:endCxn id="9" idx="1"/>
          </p:cNvCxnSpPr>
          <p:nvPr/>
        </p:nvCxnSpPr>
        <p:spPr>
          <a:xfrm flipV="1">
            <a:off x="6034786" y="2649479"/>
            <a:ext cx="990402" cy="447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1B4E510-30A3-432F-9915-0A6BED577E25}"/>
              </a:ext>
            </a:extLst>
          </p:cNvPr>
          <p:cNvCxnSpPr>
            <a:stCxn id="2" idx="4"/>
            <a:endCxn id="10" idx="1"/>
          </p:cNvCxnSpPr>
          <p:nvPr/>
        </p:nvCxnSpPr>
        <p:spPr>
          <a:xfrm>
            <a:off x="6034786" y="3096855"/>
            <a:ext cx="985486" cy="473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105309-649D-41D0-AE54-EBFBDA743761}"/>
              </a:ext>
            </a:extLst>
          </p:cNvPr>
          <p:cNvCxnSpPr>
            <a:cxnSpLocks/>
            <a:stCxn id="2" idx="4"/>
            <a:endCxn id="11" idx="1"/>
          </p:cNvCxnSpPr>
          <p:nvPr/>
        </p:nvCxnSpPr>
        <p:spPr>
          <a:xfrm>
            <a:off x="6034786" y="3096855"/>
            <a:ext cx="981626" cy="1393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94B5660-4170-4D57-BF4C-6DDD2ADEF756}"/>
              </a:ext>
            </a:extLst>
          </p:cNvPr>
          <p:cNvSpPr txBox="1"/>
          <p:nvPr/>
        </p:nvSpPr>
        <p:spPr>
          <a:xfrm>
            <a:off x="307692" y="398516"/>
            <a:ext cx="8064896" cy="414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解耦：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允许你独立的扩展或修改两边的处理过程，只要确保它们遵守同样的接口约束。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85736AC-B601-4313-8ED2-847CAC9C2C67}"/>
              </a:ext>
            </a:extLst>
          </p:cNvPr>
          <p:cNvSpPr txBox="1"/>
          <p:nvPr/>
        </p:nvSpPr>
        <p:spPr>
          <a:xfrm>
            <a:off x="648695" y="1067566"/>
            <a:ext cx="812711" cy="414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数据源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4D98F0B-B4A4-4944-BB07-768A64E5E88C}"/>
              </a:ext>
            </a:extLst>
          </p:cNvPr>
          <p:cNvSpPr txBox="1"/>
          <p:nvPr/>
        </p:nvSpPr>
        <p:spPr>
          <a:xfrm>
            <a:off x="7480470" y="1041338"/>
            <a:ext cx="812711" cy="414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目的地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03632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 descr="男人">
            <a:extLst>
              <a:ext uri="{FF2B5EF4-FFF2-40B4-BE49-F238E27FC236}">
                <a16:creationId xmlns:a16="http://schemas.microsoft.com/office/drawing/2014/main" id="{056052B6-F820-4AB6-86E4-C53396394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129" y="1632579"/>
            <a:ext cx="914400" cy="9144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910C43F-4D9E-468D-9212-E5EBC02ED5B6}"/>
              </a:ext>
            </a:extLst>
          </p:cNvPr>
          <p:cNvSpPr txBox="1"/>
          <p:nvPr/>
        </p:nvSpPr>
        <p:spPr>
          <a:xfrm>
            <a:off x="32064" y="1238168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同步处理</a:t>
            </a:r>
          </a:p>
        </p:txBody>
      </p:sp>
      <p:cxnSp>
        <p:nvCxnSpPr>
          <p:cNvPr id="4" name="连接符: 曲线 3">
            <a:extLst>
              <a:ext uri="{FF2B5EF4-FFF2-40B4-BE49-F238E27FC236}">
                <a16:creationId xmlns:a16="http://schemas.microsoft.com/office/drawing/2014/main" id="{D513F16E-5394-4D78-856C-027E070F3E72}"/>
              </a:ext>
            </a:extLst>
          </p:cNvPr>
          <p:cNvCxnSpPr>
            <a:cxnSpLocks/>
            <a:stCxn id="2" idx="0"/>
            <a:endCxn id="6" idx="0"/>
          </p:cNvCxnSpPr>
          <p:nvPr/>
        </p:nvCxnSpPr>
        <p:spPr>
          <a:xfrm rot="5400000" flipH="1" flipV="1">
            <a:off x="2784987" y="525143"/>
            <a:ext cx="7778" cy="2207095"/>
          </a:xfrm>
          <a:prstGeom prst="curvedConnector3">
            <a:avLst>
              <a:gd name="adj1" fmla="val 30390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F7990EC-A22E-41F6-844C-FAF4279FF6EE}"/>
              </a:ext>
            </a:extLst>
          </p:cNvPr>
          <p:cNvSpPr txBox="1"/>
          <p:nvPr/>
        </p:nvSpPr>
        <p:spPr>
          <a:xfrm>
            <a:off x="1907704" y="1122583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填写注册信息 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0D8A4F2-A6BF-40D7-9831-FE26BF101102}"/>
              </a:ext>
            </a:extLst>
          </p:cNvPr>
          <p:cNvSpPr/>
          <p:nvPr/>
        </p:nvSpPr>
        <p:spPr>
          <a:xfrm>
            <a:off x="3100336" y="1624801"/>
            <a:ext cx="1584176" cy="70139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2.</a:t>
            </a:r>
            <a:r>
              <a:rPr lang="zh-CN" altLang="en-US" sz="1600" dirty="0"/>
              <a:t>注册信息写入数据库</a:t>
            </a:r>
          </a:p>
        </p:txBody>
      </p: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9A86D3C2-052F-46BB-9794-0230D3ABD391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16200000" flipH="1">
            <a:off x="5306870" y="210355"/>
            <a:ext cx="7778" cy="2836670"/>
          </a:xfrm>
          <a:prstGeom prst="curvedConnector3">
            <a:avLst>
              <a:gd name="adj1" fmla="val -29390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7CC4310-BB68-4DF7-8EDB-2FE0D87CC38B}"/>
              </a:ext>
            </a:extLst>
          </p:cNvPr>
          <p:cNvSpPr/>
          <p:nvPr/>
        </p:nvSpPr>
        <p:spPr>
          <a:xfrm>
            <a:off x="5893358" y="1632579"/>
            <a:ext cx="1671471" cy="70139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4.</a:t>
            </a:r>
            <a:r>
              <a:rPr lang="zh-CN" altLang="en-US" sz="1600" dirty="0"/>
              <a:t>发送短信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9A70C0-8389-4676-8127-E75F5049801F}"/>
              </a:ext>
            </a:extLst>
          </p:cNvPr>
          <p:cNvSpPr txBox="1"/>
          <p:nvPr/>
        </p:nvSpPr>
        <p:spPr>
          <a:xfrm>
            <a:off x="4555968" y="1108233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3.</a:t>
            </a:r>
            <a:r>
              <a:rPr lang="zh-CN" altLang="en-US" sz="1200" dirty="0"/>
              <a:t>调用发送短信接口</a:t>
            </a: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12BC82F0-4748-4BC8-B608-20C616610305}"/>
              </a:ext>
            </a:extLst>
          </p:cNvPr>
          <p:cNvCxnSpPr>
            <a:cxnSpLocks/>
            <a:stCxn id="8" idx="2"/>
            <a:endCxn id="2" idx="2"/>
          </p:cNvCxnSpPr>
          <p:nvPr/>
        </p:nvCxnSpPr>
        <p:spPr>
          <a:xfrm rot="5400000">
            <a:off x="4100711" y="-81404"/>
            <a:ext cx="213002" cy="5043765"/>
          </a:xfrm>
          <a:prstGeom prst="curvedConnector3">
            <a:avLst>
              <a:gd name="adj1" fmla="val 2073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3CFF91F-CA41-4E9D-AA61-B2A1C837D608}"/>
              </a:ext>
            </a:extLst>
          </p:cNvPr>
          <p:cNvSpPr txBox="1"/>
          <p:nvPr/>
        </p:nvSpPr>
        <p:spPr>
          <a:xfrm>
            <a:off x="3435407" y="2798807"/>
            <a:ext cx="1556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5.</a:t>
            </a:r>
            <a:r>
              <a:rPr lang="zh-CN" altLang="en-US" sz="1200" dirty="0"/>
              <a:t>页面响应注册成功</a:t>
            </a:r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47574AD0-8D6E-4552-A5B5-4A527A54E27D}"/>
              </a:ext>
            </a:extLst>
          </p:cNvPr>
          <p:cNvSpPr/>
          <p:nvPr/>
        </p:nvSpPr>
        <p:spPr>
          <a:xfrm>
            <a:off x="7695600" y="1950837"/>
            <a:ext cx="118864" cy="1188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接点 12">
            <a:extLst>
              <a:ext uri="{FF2B5EF4-FFF2-40B4-BE49-F238E27FC236}">
                <a16:creationId xmlns:a16="http://schemas.microsoft.com/office/drawing/2014/main" id="{FF3BC4EA-FBB4-4923-8AD4-AE2323CF7A3D}"/>
              </a:ext>
            </a:extLst>
          </p:cNvPr>
          <p:cNvSpPr/>
          <p:nvPr/>
        </p:nvSpPr>
        <p:spPr>
          <a:xfrm>
            <a:off x="7899051" y="1950837"/>
            <a:ext cx="118864" cy="1188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86DD0E7A-8F39-4C0C-82B0-63509318FE47}"/>
              </a:ext>
            </a:extLst>
          </p:cNvPr>
          <p:cNvSpPr/>
          <p:nvPr/>
        </p:nvSpPr>
        <p:spPr>
          <a:xfrm>
            <a:off x="8102502" y="1952885"/>
            <a:ext cx="118864" cy="1188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20FA955B-47BC-4536-867D-9E7BE9E37307}"/>
              </a:ext>
            </a:extLst>
          </p:cNvPr>
          <p:cNvSpPr/>
          <p:nvPr/>
        </p:nvSpPr>
        <p:spPr>
          <a:xfrm>
            <a:off x="8305953" y="1950837"/>
            <a:ext cx="118864" cy="1188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98843864-A2D8-463E-8F3C-8F12AD6494C4}"/>
              </a:ext>
            </a:extLst>
          </p:cNvPr>
          <p:cNvSpPr/>
          <p:nvPr/>
        </p:nvSpPr>
        <p:spPr>
          <a:xfrm>
            <a:off x="8509404" y="1958615"/>
            <a:ext cx="118864" cy="1188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8D7711F7-8EC5-4273-AD33-276473D6331D}"/>
              </a:ext>
            </a:extLst>
          </p:cNvPr>
          <p:cNvSpPr/>
          <p:nvPr/>
        </p:nvSpPr>
        <p:spPr>
          <a:xfrm>
            <a:off x="8712855" y="1958615"/>
            <a:ext cx="118864" cy="1188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形 17" descr="男人">
            <a:extLst>
              <a:ext uri="{FF2B5EF4-FFF2-40B4-BE49-F238E27FC236}">
                <a16:creationId xmlns:a16="http://schemas.microsoft.com/office/drawing/2014/main" id="{83218D3D-6CEA-4C59-82DE-4EF6531C7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043" y="3929517"/>
            <a:ext cx="914400" cy="914400"/>
          </a:xfrm>
          <a:prstGeom prst="rect">
            <a:avLst/>
          </a:prstGeom>
        </p:spPr>
      </p:pic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38523CBC-1B46-41C1-BB32-38E48322CD43}"/>
              </a:ext>
            </a:extLst>
          </p:cNvPr>
          <p:cNvCxnSpPr>
            <a:cxnSpLocks/>
            <a:stCxn id="18" idx="0"/>
            <a:endCxn id="21" idx="0"/>
          </p:cNvCxnSpPr>
          <p:nvPr/>
        </p:nvCxnSpPr>
        <p:spPr>
          <a:xfrm rot="5400000" flipH="1" flipV="1">
            <a:off x="2353901" y="2822081"/>
            <a:ext cx="7778" cy="2207095"/>
          </a:xfrm>
          <a:prstGeom prst="curvedConnector3">
            <a:avLst>
              <a:gd name="adj1" fmla="val 30390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B8F0D0D-AB96-4C8A-89F2-C8AF4D202CE7}"/>
              </a:ext>
            </a:extLst>
          </p:cNvPr>
          <p:cNvSpPr txBox="1"/>
          <p:nvPr/>
        </p:nvSpPr>
        <p:spPr>
          <a:xfrm>
            <a:off x="1403685" y="3337897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填写注册信息 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C5748F4-2C7C-4056-852F-A2DF269FA9D5}"/>
              </a:ext>
            </a:extLst>
          </p:cNvPr>
          <p:cNvSpPr/>
          <p:nvPr/>
        </p:nvSpPr>
        <p:spPr>
          <a:xfrm>
            <a:off x="2669250" y="3921739"/>
            <a:ext cx="1584176" cy="79208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2.</a:t>
            </a:r>
            <a:r>
              <a:rPr lang="zh-CN" altLang="en-US" sz="1600" dirty="0"/>
              <a:t>注册信息写入数据库</a:t>
            </a:r>
          </a:p>
        </p:txBody>
      </p: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2E4FFFF6-5D1E-4034-BE3A-A5B49025C411}"/>
              </a:ext>
            </a:extLst>
          </p:cNvPr>
          <p:cNvCxnSpPr>
            <a:cxnSpLocks/>
            <a:stCxn id="21" idx="0"/>
            <a:endCxn id="26" idx="0"/>
          </p:cNvCxnSpPr>
          <p:nvPr/>
        </p:nvCxnSpPr>
        <p:spPr>
          <a:xfrm rot="16200000" flipH="1">
            <a:off x="4604191" y="2778886"/>
            <a:ext cx="72008" cy="2357714"/>
          </a:xfrm>
          <a:prstGeom prst="curvedConnector3">
            <a:avLst>
              <a:gd name="adj1" fmla="val -3174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FD27D6C-6138-47DC-85C0-58186AC56520}"/>
              </a:ext>
            </a:extLst>
          </p:cNvPr>
          <p:cNvSpPr txBox="1"/>
          <p:nvPr/>
        </p:nvSpPr>
        <p:spPr>
          <a:xfrm>
            <a:off x="3496165" y="3352819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3.</a:t>
            </a:r>
            <a:r>
              <a:rPr lang="zh-CN" altLang="en-US" sz="1200" dirty="0"/>
              <a:t>发送短信的请求写入消息队列</a:t>
            </a:r>
          </a:p>
        </p:txBody>
      </p: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44705201-7FE5-48A9-9550-5DF1AD85078E}"/>
              </a:ext>
            </a:extLst>
          </p:cNvPr>
          <p:cNvCxnSpPr>
            <a:cxnSpLocks/>
            <a:stCxn id="21" idx="2"/>
            <a:endCxn id="18" idx="2"/>
          </p:cNvCxnSpPr>
          <p:nvPr/>
        </p:nvCxnSpPr>
        <p:spPr>
          <a:xfrm rot="5400000">
            <a:off x="2292746" y="3675325"/>
            <a:ext cx="130090" cy="2207095"/>
          </a:xfrm>
          <a:prstGeom prst="curvedConnector3">
            <a:avLst>
              <a:gd name="adj1" fmla="val 2757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A2A5A4A-9123-4D13-904C-C212F5FBD0B6}"/>
              </a:ext>
            </a:extLst>
          </p:cNvPr>
          <p:cNvSpPr txBox="1"/>
          <p:nvPr/>
        </p:nvSpPr>
        <p:spPr>
          <a:xfrm>
            <a:off x="1522918" y="4743023"/>
            <a:ext cx="1556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4.</a:t>
            </a:r>
            <a:r>
              <a:rPr lang="zh-CN" altLang="en-US" sz="1200" dirty="0"/>
              <a:t>页面响应注册成功</a:t>
            </a:r>
          </a:p>
        </p:txBody>
      </p:sp>
      <p:sp>
        <p:nvSpPr>
          <p:cNvPr id="26" name="流程图: 直接访问存储器 25">
            <a:extLst>
              <a:ext uri="{FF2B5EF4-FFF2-40B4-BE49-F238E27FC236}">
                <a16:creationId xmlns:a16="http://schemas.microsoft.com/office/drawing/2014/main" id="{75DDBACF-FA5A-40B3-9DAC-08876BCCA86C}"/>
              </a:ext>
            </a:extLst>
          </p:cNvPr>
          <p:cNvSpPr/>
          <p:nvPr/>
        </p:nvSpPr>
        <p:spPr>
          <a:xfrm>
            <a:off x="4761848" y="3993747"/>
            <a:ext cx="2114408" cy="641533"/>
          </a:xfrm>
          <a:prstGeom prst="flowChartMagneticDru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MQ</a:t>
            </a:r>
            <a:r>
              <a:rPr lang="zh-CN" altLang="en-US" sz="1200" b="1" dirty="0">
                <a:solidFill>
                  <a:schemeClr val="tx1"/>
                </a:solidFill>
              </a:rPr>
              <a:t>消息队列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9AA6C44-E10F-436F-BC01-5F45992BDBCA}"/>
              </a:ext>
            </a:extLst>
          </p:cNvPr>
          <p:cNvSpPr/>
          <p:nvPr/>
        </p:nvSpPr>
        <p:spPr>
          <a:xfrm>
            <a:off x="7225827" y="3993746"/>
            <a:ext cx="1584176" cy="64153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发送短信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76D58F8-C13C-40B3-A93E-983DF293E12B}"/>
              </a:ext>
            </a:extLst>
          </p:cNvPr>
          <p:cNvSpPr txBox="1"/>
          <p:nvPr/>
        </p:nvSpPr>
        <p:spPr>
          <a:xfrm>
            <a:off x="32064" y="3276152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异步处理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E1DDA36-5D06-4910-AE3A-C015F0BDA662}"/>
              </a:ext>
            </a:extLst>
          </p:cNvPr>
          <p:cNvCxnSpPr>
            <a:cxnSpLocks/>
          </p:cNvCxnSpPr>
          <p:nvPr/>
        </p:nvCxnSpPr>
        <p:spPr>
          <a:xfrm>
            <a:off x="0" y="3219822"/>
            <a:ext cx="9111936" cy="360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44EACDE-66A4-4EB1-B041-66A4B4F8D90B}"/>
              </a:ext>
            </a:extLst>
          </p:cNvPr>
          <p:cNvSpPr txBox="1"/>
          <p:nvPr/>
        </p:nvSpPr>
        <p:spPr>
          <a:xfrm>
            <a:off x="443671" y="0"/>
            <a:ext cx="3768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消息队列的应用场景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异步通信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A560CA0-6750-4AA3-AAAE-4CA3B18B1002}"/>
              </a:ext>
            </a:extLst>
          </p:cNvPr>
          <p:cNvSpPr txBox="1"/>
          <p:nvPr/>
        </p:nvSpPr>
        <p:spPr>
          <a:xfrm>
            <a:off x="7740829" y="2217460"/>
            <a:ext cx="113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等待大约</a:t>
            </a:r>
            <a:r>
              <a:rPr lang="en-US" altLang="zh-CN" sz="1200" dirty="0"/>
              <a:t>3</a:t>
            </a:r>
            <a:r>
              <a:rPr lang="zh-CN" altLang="en-US" sz="1200" dirty="0"/>
              <a:t>秒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4FBC8AD-B8B1-4822-A74E-A4817CA99E74}"/>
              </a:ext>
            </a:extLst>
          </p:cNvPr>
          <p:cNvSpPr/>
          <p:nvPr/>
        </p:nvSpPr>
        <p:spPr>
          <a:xfrm>
            <a:off x="5849855" y="4327214"/>
            <a:ext cx="265245" cy="2830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080DBA8-4E3F-4616-9FAE-EFF85FBB0E00}"/>
              </a:ext>
            </a:extLst>
          </p:cNvPr>
          <p:cNvSpPr/>
          <p:nvPr/>
        </p:nvSpPr>
        <p:spPr>
          <a:xfrm>
            <a:off x="5466046" y="4327214"/>
            <a:ext cx="265245" cy="2830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5C101D-E68A-4B2F-848B-0979197FDC17}"/>
              </a:ext>
            </a:extLst>
          </p:cNvPr>
          <p:cNvSpPr txBox="1"/>
          <p:nvPr/>
        </p:nvSpPr>
        <p:spPr>
          <a:xfrm>
            <a:off x="4852098" y="4293637"/>
            <a:ext cx="513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/>
              <a:t>。。。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EA16540-9513-4A47-BC2D-3A93A5EA6B7C}"/>
              </a:ext>
            </a:extLst>
          </p:cNvPr>
          <p:cNvCxnSpPr>
            <a:stCxn id="26" idx="4"/>
            <a:endCxn id="27" idx="1"/>
          </p:cNvCxnSpPr>
          <p:nvPr/>
        </p:nvCxnSpPr>
        <p:spPr>
          <a:xfrm flipV="1">
            <a:off x="6876256" y="4314513"/>
            <a:ext cx="3495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7235E6A5-43BF-4A8F-9460-CF96EAE0A6C7}"/>
              </a:ext>
            </a:extLst>
          </p:cNvPr>
          <p:cNvSpPr txBox="1"/>
          <p:nvPr/>
        </p:nvSpPr>
        <p:spPr>
          <a:xfrm>
            <a:off x="173642" y="383648"/>
            <a:ext cx="8132311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异步通信：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允许用户把一个消息放入队列，但并不立即处理它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然后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在需要的时候再去处理它们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65446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  <p:bldP spid="8" grpId="0" animBg="1"/>
      <p:bldP spid="9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/>
      <p:bldP spid="21" grpId="0" animBg="1"/>
      <p:bldP spid="23" grpId="0"/>
      <p:bldP spid="25" grpId="0"/>
      <p:bldP spid="26" grpId="0" animBg="1"/>
      <p:bldP spid="27" grpId="0" animBg="1"/>
      <p:bldP spid="28" grpId="0"/>
      <p:bldP spid="31" grpId="0"/>
      <p:bldP spid="32" grpId="0" animBg="1"/>
      <p:bldP spid="33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05638B-8F3B-4C31-BADA-F5B88C67A91F}"/>
              </a:ext>
            </a:extLst>
          </p:cNvPr>
          <p:cNvSpPr/>
          <p:nvPr/>
        </p:nvSpPr>
        <p:spPr>
          <a:xfrm>
            <a:off x="2867994" y="1239544"/>
            <a:ext cx="2520280" cy="10801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dirty="0"/>
              <a:t>Message Queue</a:t>
            </a:r>
            <a:endParaRPr lang="zh-CN" altLang="en-US" sz="1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97EBF7-AF4D-46D3-A297-19A55CB7402F}"/>
              </a:ext>
            </a:extLst>
          </p:cNvPr>
          <p:cNvSpPr/>
          <p:nvPr/>
        </p:nvSpPr>
        <p:spPr>
          <a:xfrm>
            <a:off x="707754" y="1599584"/>
            <a:ext cx="864096" cy="3600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6C7727-B2FC-455C-AF5E-173CA6D4C72C}"/>
              </a:ext>
            </a:extLst>
          </p:cNvPr>
          <p:cNvSpPr/>
          <p:nvPr/>
        </p:nvSpPr>
        <p:spPr>
          <a:xfrm>
            <a:off x="2940002" y="1671592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5</a:t>
            </a:r>
            <a:endParaRPr lang="zh-CN" altLang="en-US" sz="1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8F1ACB-B15C-46C6-8D01-FC25D2EC236E}"/>
              </a:ext>
            </a:extLst>
          </p:cNvPr>
          <p:cNvSpPr/>
          <p:nvPr/>
        </p:nvSpPr>
        <p:spPr>
          <a:xfrm>
            <a:off x="3444058" y="1671592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4</a:t>
            </a:r>
            <a:endParaRPr lang="zh-CN" altLang="en-US" sz="1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94DCED-431D-43E6-8160-4C348D780378}"/>
              </a:ext>
            </a:extLst>
          </p:cNvPr>
          <p:cNvSpPr/>
          <p:nvPr/>
        </p:nvSpPr>
        <p:spPr>
          <a:xfrm>
            <a:off x="3948114" y="1671592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3</a:t>
            </a:r>
            <a:endParaRPr lang="zh-CN" altLang="en-US" sz="1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96B3B5-9854-4134-A23E-0038C9CE389C}"/>
              </a:ext>
            </a:extLst>
          </p:cNvPr>
          <p:cNvSpPr/>
          <p:nvPr/>
        </p:nvSpPr>
        <p:spPr>
          <a:xfrm>
            <a:off x="4452170" y="1671592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zh-CN" altLang="en-US" sz="1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104DF2-27B1-414A-B9C0-2854E23B547F}"/>
              </a:ext>
            </a:extLst>
          </p:cNvPr>
          <p:cNvSpPr/>
          <p:nvPr/>
        </p:nvSpPr>
        <p:spPr>
          <a:xfrm>
            <a:off x="4956226" y="1671592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91FC77-A46F-4151-967C-ABE2F20A776D}"/>
              </a:ext>
            </a:extLst>
          </p:cNvPr>
          <p:cNvSpPr/>
          <p:nvPr/>
        </p:nvSpPr>
        <p:spPr>
          <a:xfrm>
            <a:off x="7596336" y="1672599"/>
            <a:ext cx="864096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consumer</a:t>
            </a:r>
            <a:endParaRPr lang="zh-CN" altLang="en-US" sz="1200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F5E8342-7DF7-44C0-A3CA-CE2362AF1B8E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>
            <a:off x="1571850" y="1779604"/>
            <a:ext cx="1296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B2142927-B66A-42F9-BD8F-8F67E3242A43}"/>
              </a:ext>
            </a:extLst>
          </p:cNvPr>
          <p:cNvCxnSpPr>
            <a:cxnSpLocks/>
            <a:stCxn id="2" idx="3"/>
            <a:endCxn id="9" idx="2"/>
          </p:cNvCxnSpPr>
          <p:nvPr/>
        </p:nvCxnSpPr>
        <p:spPr>
          <a:xfrm>
            <a:off x="5388274" y="1779604"/>
            <a:ext cx="2640110" cy="253035"/>
          </a:xfrm>
          <a:prstGeom prst="bentConnector4">
            <a:avLst>
              <a:gd name="adj1" fmla="val 41818"/>
              <a:gd name="adj2" fmla="val 1903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42BC1325-2738-4532-949D-F040F41B872F}"/>
              </a:ext>
            </a:extLst>
          </p:cNvPr>
          <p:cNvCxnSpPr>
            <a:cxnSpLocks/>
            <a:stCxn id="9" idx="0"/>
          </p:cNvCxnSpPr>
          <p:nvPr/>
        </p:nvCxnSpPr>
        <p:spPr>
          <a:xfrm rot="16200000" flipV="1">
            <a:off x="6625014" y="269229"/>
            <a:ext cx="166630" cy="26401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1052B12-C92A-412C-A9E1-8D1A48076A32}"/>
              </a:ext>
            </a:extLst>
          </p:cNvPr>
          <p:cNvSpPr/>
          <p:nvPr/>
        </p:nvSpPr>
        <p:spPr>
          <a:xfrm>
            <a:off x="4956226" y="1672515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zh-CN" altLang="en-US" sz="1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012C8E-F984-45DC-A7B8-9BE0A8406C00}"/>
              </a:ext>
            </a:extLst>
          </p:cNvPr>
          <p:cNvSpPr txBox="1"/>
          <p:nvPr/>
        </p:nvSpPr>
        <p:spPr>
          <a:xfrm>
            <a:off x="540060" y="425559"/>
            <a:ext cx="2027807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）点对点模式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03358-F3E3-40ED-A779-DE4E349FB4E3}"/>
              </a:ext>
            </a:extLst>
          </p:cNvPr>
          <p:cNvSpPr txBox="1"/>
          <p:nvPr/>
        </p:nvSpPr>
        <p:spPr>
          <a:xfrm>
            <a:off x="809413" y="727510"/>
            <a:ext cx="3336300" cy="33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/>
              <a:t>消费者主动拉取数据，消息收到后清除消息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6C12CE-AC42-44FF-AD05-23980AF530D4}"/>
              </a:ext>
            </a:extLst>
          </p:cNvPr>
          <p:cNvSpPr txBox="1"/>
          <p:nvPr/>
        </p:nvSpPr>
        <p:spPr>
          <a:xfrm>
            <a:off x="311710" y="2499742"/>
            <a:ext cx="2520280" cy="33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）发布</a:t>
            </a:r>
            <a:r>
              <a:rPr lang="en-US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订阅模式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22B714-DEDC-4226-A62B-1C840982480F}"/>
              </a:ext>
            </a:extLst>
          </p:cNvPr>
          <p:cNvSpPr/>
          <p:nvPr/>
        </p:nvSpPr>
        <p:spPr>
          <a:xfrm>
            <a:off x="2867994" y="3639033"/>
            <a:ext cx="2520280" cy="13364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dirty="0"/>
              <a:t>Message Queue</a:t>
            </a:r>
            <a:r>
              <a:rPr lang="zh-CN" altLang="en-US" sz="1400" dirty="0"/>
              <a:t>的</a:t>
            </a:r>
            <a:r>
              <a:rPr lang="en-US" altLang="zh-CN" sz="1400" dirty="0">
                <a:solidFill>
                  <a:srgbClr val="FF0000"/>
                </a:solidFill>
              </a:rPr>
              <a:t>Topic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159BAB-7E61-4C6D-BDF9-E19EF8CD5352}"/>
              </a:ext>
            </a:extLst>
          </p:cNvPr>
          <p:cNvSpPr/>
          <p:nvPr/>
        </p:nvSpPr>
        <p:spPr>
          <a:xfrm>
            <a:off x="695432" y="4199840"/>
            <a:ext cx="864096" cy="3600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49DD6C-C774-4D4A-8562-8E458175F0DF}"/>
              </a:ext>
            </a:extLst>
          </p:cNvPr>
          <p:cNvSpPr/>
          <p:nvPr/>
        </p:nvSpPr>
        <p:spPr>
          <a:xfrm>
            <a:off x="2940002" y="4047788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5</a:t>
            </a:r>
            <a:endParaRPr lang="zh-CN" altLang="en-US" sz="1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1C8F49-A6CF-481D-BF3A-96B9938EA03E}"/>
              </a:ext>
            </a:extLst>
          </p:cNvPr>
          <p:cNvSpPr/>
          <p:nvPr/>
        </p:nvSpPr>
        <p:spPr>
          <a:xfrm>
            <a:off x="3444058" y="4047788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4</a:t>
            </a:r>
            <a:endParaRPr lang="zh-CN" altLang="en-US" sz="1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444DEDC-37A8-4C42-8229-69FC0FB02518}"/>
              </a:ext>
            </a:extLst>
          </p:cNvPr>
          <p:cNvSpPr/>
          <p:nvPr/>
        </p:nvSpPr>
        <p:spPr>
          <a:xfrm>
            <a:off x="3948114" y="4047788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3</a:t>
            </a:r>
            <a:endParaRPr lang="zh-CN" altLang="en-US" sz="1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91A1F7-19FE-4DF5-AB3A-49122D4E1D97}"/>
              </a:ext>
            </a:extLst>
          </p:cNvPr>
          <p:cNvSpPr/>
          <p:nvPr/>
        </p:nvSpPr>
        <p:spPr>
          <a:xfrm>
            <a:off x="4452170" y="4047788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zh-CN" altLang="en-US" sz="1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CC00376-37DD-4502-AF32-EB563EE39E81}"/>
              </a:ext>
            </a:extLst>
          </p:cNvPr>
          <p:cNvSpPr/>
          <p:nvPr/>
        </p:nvSpPr>
        <p:spPr>
          <a:xfrm>
            <a:off x="4956226" y="4047788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zh-CN" altLang="en-US" sz="1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3C3EB28-B39C-47D0-A74A-B149049AECCF}"/>
              </a:ext>
            </a:extLst>
          </p:cNvPr>
          <p:cNvSpPr/>
          <p:nvPr/>
        </p:nvSpPr>
        <p:spPr>
          <a:xfrm>
            <a:off x="7596336" y="3473359"/>
            <a:ext cx="864096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consumer</a:t>
            </a:r>
            <a:endParaRPr lang="zh-CN" altLang="en-US" sz="1200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755A1D2-06F0-4938-924C-3FB80D583F7A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1559528" y="4227808"/>
            <a:ext cx="1380474" cy="152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56822374-09E2-4A23-A259-011E9F3098A6}"/>
              </a:ext>
            </a:extLst>
          </p:cNvPr>
          <p:cNvSpPr/>
          <p:nvPr/>
        </p:nvSpPr>
        <p:spPr>
          <a:xfrm>
            <a:off x="7606693" y="4096439"/>
            <a:ext cx="864096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consumer</a:t>
            </a:r>
            <a:endParaRPr lang="zh-CN" altLang="en-US" sz="1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12CC67-8364-48D8-A7AC-4FC9CB804775}"/>
              </a:ext>
            </a:extLst>
          </p:cNvPr>
          <p:cNvSpPr/>
          <p:nvPr/>
        </p:nvSpPr>
        <p:spPr>
          <a:xfrm>
            <a:off x="7606693" y="4719520"/>
            <a:ext cx="864096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consumer</a:t>
            </a:r>
            <a:endParaRPr lang="zh-CN" altLang="en-US" sz="1200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6E3589D-41E9-4812-BB33-B7CF38380AB4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316266" y="3653379"/>
            <a:ext cx="2280070" cy="574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8B16BE2-3E7A-4F0D-B79D-B6D87BEF97BD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5316266" y="4227808"/>
            <a:ext cx="2290427" cy="48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49058B9-674C-43EF-8582-4485350DF8ED}"/>
              </a:ext>
            </a:extLst>
          </p:cNvPr>
          <p:cNvCxnSpPr>
            <a:cxnSpLocks/>
            <a:stCxn id="43" idx="3"/>
            <a:endCxn id="27" idx="1"/>
          </p:cNvCxnSpPr>
          <p:nvPr/>
        </p:nvCxnSpPr>
        <p:spPr>
          <a:xfrm>
            <a:off x="5316266" y="4731864"/>
            <a:ext cx="2290427" cy="167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A020834-B942-4B22-9CB2-2FB53E62F046}"/>
              </a:ext>
            </a:extLst>
          </p:cNvPr>
          <p:cNvSpPr txBox="1"/>
          <p:nvPr/>
        </p:nvSpPr>
        <p:spPr>
          <a:xfrm>
            <a:off x="2221952" y="3752159"/>
            <a:ext cx="683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Topic1</a:t>
            </a:r>
          </a:p>
          <a:p>
            <a:pPr algn="ctr"/>
            <a:r>
              <a:rPr lang="zh-CN" altLang="en-US" sz="1200" dirty="0"/>
              <a:t>主题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1FC91A-60FE-4E4E-9E41-49A26B875238}"/>
              </a:ext>
            </a:extLst>
          </p:cNvPr>
          <p:cNvSpPr txBox="1"/>
          <p:nvPr/>
        </p:nvSpPr>
        <p:spPr>
          <a:xfrm>
            <a:off x="6672325" y="3280531"/>
            <a:ext cx="983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subscribe</a:t>
            </a:r>
          </a:p>
          <a:p>
            <a:pPr algn="ctr"/>
            <a:r>
              <a:rPr lang="zh-CN" altLang="en-US" sz="1200" dirty="0"/>
              <a:t>订阅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BA2C7A-57E7-404E-82E8-6D957CCD6760}"/>
              </a:ext>
            </a:extLst>
          </p:cNvPr>
          <p:cNvSpPr txBox="1"/>
          <p:nvPr/>
        </p:nvSpPr>
        <p:spPr>
          <a:xfrm>
            <a:off x="6725026" y="4405712"/>
            <a:ext cx="839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subscribe</a:t>
            </a:r>
          </a:p>
          <a:p>
            <a:pPr algn="ctr"/>
            <a:r>
              <a:rPr lang="zh-CN" altLang="en-US" sz="1200" dirty="0"/>
              <a:t>订阅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17D71FE-A1F4-4BE6-8447-82A33497526F}"/>
              </a:ext>
            </a:extLst>
          </p:cNvPr>
          <p:cNvSpPr txBox="1"/>
          <p:nvPr/>
        </p:nvSpPr>
        <p:spPr>
          <a:xfrm>
            <a:off x="6727540" y="3842169"/>
            <a:ext cx="892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subscribe</a:t>
            </a:r>
          </a:p>
          <a:p>
            <a:pPr algn="ctr"/>
            <a:r>
              <a:rPr lang="zh-CN" altLang="en-US" sz="1200" dirty="0"/>
              <a:t>订阅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2C7F2BF-3F03-4F27-97AF-781B734F0671}"/>
              </a:ext>
            </a:extLst>
          </p:cNvPr>
          <p:cNvSpPr txBox="1"/>
          <p:nvPr/>
        </p:nvSpPr>
        <p:spPr>
          <a:xfrm>
            <a:off x="5964338" y="2276042"/>
            <a:ext cx="9839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1 </a:t>
            </a:r>
            <a:r>
              <a:rPr lang="zh-CN" altLang="en-US" sz="1200" dirty="0"/>
              <a:t>消费信息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3D252D-26C3-4709-B026-282D441EDED2}"/>
              </a:ext>
            </a:extLst>
          </p:cNvPr>
          <p:cNvSpPr txBox="1"/>
          <p:nvPr/>
        </p:nvSpPr>
        <p:spPr>
          <a:xfrm>
            <a:off x="6047910" y="1203598"/>
            <a:ext cx="9839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2 </a:t>
            </a:r>
            <a:r>
              <a:rPr lang="zh-CN" altLang="en-US" sz="1200" dirty="0"/>
              <a:t>确认收到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E7B90AB-4C9A-49AE-ADA1-88EF624173AD}"/>
              </a:ext>
            </a:extLst>
          </p:cNvPr>
          <p:cNvSpPr txBox="1"/>
          <p:nvPr/>
        </p:nvSpPr>
        <p:spPr>
          <a:xfrm>
            <a:off x="4812210" y="2061775"/>
            <a:ext cx="6238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3 </a:t>
            </a:r>
            <a:r>
              <a:rPr lang="zh-CN" altLang="en-US" sz="1200" dirty="0"/>
              <a:t>删除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3583F3-E539-487E-B808-BA4C10D11172}"/>
              </a:ext>
            </a:extLst>
          </p:cNvPr>
          <p:cNvSpPr txBox="1"/>
          <p:nvPr/>
        </p:nvSpPr>
        <p:spPr>
          <a:xfrm>
            <a:off x="467798" y="33367"/>
            <a:ext cx="2315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消息队列的两种模式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81B11E6-4A45-43CF-9360-6FFCCDA78BEB}"/>
              </a:ext>
            </a:extLst>
          </p:cNvPr>
          <p:cNvSpPr/>
          <p:nvPr/>
        </p:nvSpPr>
        <p:spPr>
          <a:xfrm>
            <a:off x="2940002" y="4551844"/>
            <a:ext cx="360040" cy="3600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5</a:t>
            </a:r>
            <a:endParaRPr lang="zh-CN" altLang="en-US" sz="10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AAC1966-3FCA-49AA-B4E9-FAE3C0FDC618}"/>
              </a:ext>
            </a:extLst>
          </p:cNvPr>
          <p:cNvSpPr/>
          <p:nvPr/>
        </p:nvSpPr>
        <p:spPr>
          <a:xfrm>
            <a:off x="3444058" y="4551844"/>
            <a:ext cx="360040" cy="3600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4</a:t>
            </a:r>
            <a:endParaRPr lang="zh-CN" altLang="en-US" sz="1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64ABA96-39E6-4184-A59E-BDE58AD278BD}"/>
              </a:ext>
            </a:extLst>
          </p:cNvPr>
          <p:cNvSpPr/>
          <p:nvPr/>
        </p:nvSpPr>
        <p:spPr>
          <a:xfrm>
            <a:off x="3948114" y="4551844"/>
            <a:ext cx="360040" cy="3600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3</a:t>
            </a:r>
            <a:endParaRPr lang="zh-CN" altLang="en-US" sz="10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9979705-76E5-4112-9782-DFAED950A9BA}"/>
              </a:ext>
            </a:extLst>
          </p:cNvPr>
          <p:cNvSpPr/>
          <p:nvPr/>
        </p:nvSpPr>
        <p:spPr>
          <a:xfrm>
            <a:off x="4452170" y="4551844"/>
            <a:ext cx="360040" cy="3600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zh-CN" altLang="en-US" sz="1000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700577-1E65-4D9C-B9B0-852FF0FC52CF}"/>
              </a:ext>
            </a:extLst>
          </p:cNvPr>
          <p:cNvSpPr/>
          <p:nvPr/>
        </p:nvSpPr>
        <p:spPr>
          <a:xfrm>
            <a:off x="4956226" y="4551844"/>
            <a:ext cx="360040" cy="3600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1334B71-0744-4973-A345-7FDFD04D310F}"/>
              </a:ext>
            </a:extLst>
          </p:cNvPr>
          <p:cNvSpPr txBox="1"/>
          <p:nvPr/>
        </p:nvSpPr>
        <p:spPr>
          <a:xfrm>
            <a:off x="2214444" y="4693883"/>
            <a:ext cx="683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Topic2</a:t>
            </a:r>
          </a:p>
          <a:p>
            <a:pPr algn="ctr"/>
            <a:r>
              <a:rPr lang="zh-CN" altLang="en-US" sz="1200" dirty="0"/>
              <a:t>主题</a:t>
            </a:r>
            <a:r>
              <a:rPr lang="en-US" altLang="zh-CN" sz="1200" dirty="0"/>
              <a:t>2</a:t>
            </a:r>
            <a:endParaRPr lang="zh-CN" altLang="en-US" sz="1200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20EF0BB-0E1C-40DE-A8D7-C8647FDD85F7}"/>
              </a:ext>
            </a:extLst>
          </p:cNvPr>
          <p:cNvCxnSpPr>
            <a:stCxn id="18" idx="3"/>
            <a:endCxn id="39" idx="1"/>
          </p:cNvCxnSpPr>
          <p:nvPr/>
        </p:nvCxnSpPr>
        <p:spPr>
          <a:xfrm>
            <a:off x="1559528" y="4379860"/>
            <a:ext cx="1380474" cy="352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20387039-A9C8-4175-8594-C12C03A2A152}"/>
              </a:ext>
            </a:extLst>
          </p:cNvPr>
          <p:cNvSpPr/>
          <p:nvPr/>
        </p:nvSpPr>
        <p:spPr>
          <a:xfrm>
            <a:off x="4954280" y="4047788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zh-CN" altLang="en-US" sz="10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7774DB6-02A1-484F-A300-3C1B31136999}"/>
              </a:ext>
            </a:extLst>
          </p:cNvPr>
          <p:cNvSpPr/>
          <p:nvPr/>
        </p:nvSpPr>
        <p:spPr>
          <a:xfrm>
            <a:off x="4951048" y="4047788"/>
            <a:ext cx="360040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zh-CN" altLang="en-US" sz="10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DF113DB-6C6E-45AC-9625-DF64BB3E171E}"/>
              </a:ext>
            </a:extLst>
          </p:cNvPr>
          <p:cNvSpPr/>
          <p:nvPr/>
        </p:nvSpPr>
        <p:spPr>
          <a:xfrm>
            <a:off x="4954280" y="4551844"/>
            <a:ext cx="360040" cy="3600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zh-CN" altLang="en-US" sz="10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62054A9-9852-4305-A975-54981F0C9567}"/>
              </a:ext>
            </a:extLst>
          </p:cNvPr>
          <p:cNvSpPr txBox="1"/>
          <p:nvPr/>
        </p:nvSpPr>
        <p:spPr>
          <a:xfrm>
            <a:off x="829400" y="3055551"/>
            <a:ext cx="2734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zh-CN" sz="1200" dirty="0"/>
              <a:t>消费者消费数据之后</a:t>
            </a:r>
            <a:r>
              <a:rPr lang="zh-CN" altLang="en-US" sz="1200" dirty="0"/>
              <a:t>，不删除数据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050B4A8-6F7B-4BEB-8C95-4A332F5ED320}"/>
              </a:ext>
            </a:extLst>
          </p:cNvPr>
          <p:cNvSpPr txBox="1"/>
          <p:nvPr/>
        </p:nvSpPr>
        <p:spPr>
          <a:xfrm>
            <a:off x="829400" y="3313259"/>
            <a:ext cx="31665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每个消费者相互独立，都可以消费到数据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46D3B22-BBF8-48A1-B5B1-9107C4F5EDD3}"/>
              </a:ext>
            </a:extLst>
          </p:cNvPr>
          <p:cNvSpPr txBox="1"/>
          <p:nvPr/>
        </p:nvSpPr>
        <p:spPr>
          <a:xfrm>
            <a:off x="832030" y="2808008"/>
            <a:ext cx="38119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可以有多个</a:t>
            </a:r>
            <a:r>
              <a:rPr lang="en-US" altLang="zh-CN" sz="1200" dirty="0"/>
              <a:t>topic</a:t>
            </a:r>
            <a:r>
              <a:rPr lang="zh-CN" altLang="en-US" sz="1200" dirty="0"/>
              <a:t>主题（浏览、点赞、收藏、评论等）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6349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45679E-6 L 0.33993 0.07901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97" y="39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58025E-6 L 0.39531 -0.11327 " pathEditMode="relative" rAng="0" ptsTypes="AA">
                                      <p:cBhvr>
                                        <p:cTn id="25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57" y="-5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58025E-6 L 0.39531 0.00895 " pathEditMode="relative" rAng="0" ptsTypes="AA">
                                      <p:cBhvr>
                                        <p:cTn id="27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57" y="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08642E-6 L 0.39531 0.03272 " pathEditMode="relative" rAng="0" ptsTypes="AA">
                                      <p:cBhvr>
                                        <p:cTn id="30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57" y="16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  <p:bldP spid="9" grpId="0" animBg="1"/>
      <p:bldP spid="13" grpId="0" animBg="1"/>
      <p:bldP spid="13" grpId="1" animBg="1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/>
      <p:bldP spid="50" grpId="0"/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C30205-AEB3-4F90-A622-C63A26976B10}"/>
              </a:ext>
            </a:extLst>
          </p:cNvPr>
          <p:cNvSpPr/>
          <p:nvPr/>
        </p:nvSpPr>
        <p:spPr>
          <a:xfrm>
            <a:off x="1763688" y="1800918"/>
            <a:ext cx="5333182" cy="30235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BA167E-AF7B-4D61-815A-0AA30D887E4F}"/>
              </a:ext>
            </a:extLst>
          </p:cNvPr>
          <p:cNvSpPr/>
          <p:nvPr/>
        </p:nvSpPr>
        <p:spPr>
          <a:xfrm>
            <a:off x="1953938" y="2908767"/>
            <a:ext cx="2952328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</a:t>
            </a:r>
            <a:endParaRPr lang="zh-CN" altLang="en-US" sz="1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0E16A7-AB30-48AD-918B-29D222543DF4}"/>
              </a:ext>
            </a:extLst>
          </p:cNvPr>
          <p:cNvSpPr/>
          <p:nvPr/>
        </p:nvSpPr>
        <p:spPr>
          <a:xfrm>
            <a:off x="1951662" y="2047552"/>
            <a:ext cx="5045310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AC8F32-500C-431F-BBAE-E9D95317F73E}"/>
              </a:ext>
            </a:extLst>
          </p:cNvPr>
          <p:cNvSpPr txBox="1"/>
          <p:nvPr/>
        </p:nvSpPr>
        <p:spPr>
          <a:xfrm>
            <a:off x="2033292" y="2033037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312F29-7162-4CF2-9EA9-0BB26B3637EA}"/>
              </a:ext>
            </a:extLst>
          </p:cNvPr>
          <p:cNvSpPr txBox="1"/>
          <p:nvPr/>
        </p:nvSpPr>
        <p:spPr>
          <a:xfrm>
            <a:off x="1850498" y="1755982"/>
            <a:ext cx="1555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5781E-8DE8-4BD2-BA6C-A6586550223D}"/>
              </a:ext>
            </a:extLst>
          </p:cNvPr>
          <p:cNvSpPr txBox="1"/>
          <p:nvPr/>
        </p:nvSpPr>
        <p:spPr>
          <a:xfrm>
            <a:off x="467544" y="0"/>
            <a:ext cx="18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Kafka </a:t>
            </a:r>
            <a:r>
              <a:rPr lang="zh-CN" altLang="en-US" dirty="0">
                <a:solidFill>
                  <a:srgbClr val="FF0000"/>
                </a:solidFill>
              </a:rPr>
              <a:t>基础架构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4D1CD1-8B38-481F-B9B4-F34A3BE32BA2}"/>
              </a:ext>
            </a:extLst>
          </p:cNvPr>
          <p:cNvSpPr/>
          <p:nvPr/>
        </p:nvSpPr>
        <p:spPr>
          <a:xfrm>
            <a:off x="1950452" y="2970391"/>
            <a:ext cx="5045310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447234-298B-4A9F-9409-3EC60805FE87}"/>
              </a:ext>
            </a:extLst>
          </p:cNvPr>
          <p:cNvSpPr/>
          <p:nvPr/>
        </p:nvSpPr>
        <p:spPr>
          <a:xfrm>
            <a:off x="201012" y="3336164"/>
            <a:ext cx="1125730" cy="2880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387BF5-4B72-412D-A7DC-0B1581A7CEF7}"/>
              </a:ext>
            </a:extLst>
          </p:cNvPr>
          <p:cNvSpPr/>
          <p:nvPr/>
        </p:nvSpPr>
        <p:spPr>
          <a:xfrm>
            <a:off x="7621748" y="1574668"/>
            <a:ext cx="115212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Consumer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5A6D97-B2FC-4A72-A3AA-0DF8399FE95E}"/>
              </a:ext>
            </a:extLst>
          </p:cNvPr>
          <p:cNvSpPr/>
          <p:nvPr/>
        </p:nvSpPr>
        <p:spPr>
          <a:xfrm>
            <a:off x="7621748" y="3026649"/>
            <a:ext cx="115212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Consumer</a:t>
            </a:r>
            <a:endParaRPr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5EC4D6-C6C5-40B2-9D1F-9BFBCD4A14B3}"/>
              </a:ext>
            </a:extLst>
          </p:cNvPr>
          <p:cNvSpPr/>
          <p:nvPr/>
        </p:nvSpPr>
        <p:spPr>
          <a:xfrm>
            <a:off x="7621748" y="4635450"/>
            <a:ext cx="115212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Consumer</a:t>
            </a:r>
            <a:endParaRPr lang="zh-CN" altLang="en-US" sz="14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92B9769-8050-4F59-99EA-78EEFC429B33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>
            <a:off x="1326742" y="3480180"/>
            <a:ext cx="627196" cy="46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7E1714A-D84C-4476-83C8-ABB61D8522D5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4906266" y="1718684"/>
            <a:ext cx="2715482" cy="17661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7315E4-0FB4-4BF0-87B8-316242918CB8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4906266" y="3170665"/>
            <a:ext cx="2715482" cy="3141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7864591-1B98-4D26-A1CE-B88E608CCE8F}"/>
              </a:ext>
            </a:extLst>
          </p:cNvPr>
          <p:cNvSpPr txBox="1"/>
          <p:nvPr/>
        </p:nvSpPr>
        <p:spPr>
          <a:xfrm>
            <a:off x="0" y="458548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1.</a:t>
            </a:r>
            <a:r>
              <a:rPr lang="zh-CN" altLang="en-US" sz="1200" b="1" dirty="0">
                <a:solidFill>
                  <a:srgbClr val="FF0000"/>
                </a:solidFill>
              </a:rPr>
              <a:t>为方便扩展，并提高吞吐量，一个</a:t>
            </a:r>
            <a:r>
              <a:rPr lang="en-US" altLang="zh-CN" sz="1200" b="1" dirty="0">
                <a:solidFill>
                  <a:srgbClr val="FF0000"/>
                </a:solidFill>
              </a:rPr>
              <a:t>topic</a:t>
            </a:r>
            <a:r>
              <a:rPr lang="zh-CN" altLang="en-US" sz="1200" b="1" dirty="0">
                <a:solidFill>
                  <a:srgbClr val="FF0000"/>
                </a:solidFill>
              </a:rPr>
              <a:t>分为多个</a:t>
            </a:r>
            <a:r>
              <a:rPr lang="en-US" altLang="zh-CN" sz="1200" b="1" dirty="0">
                <a:solidFill>
                  <a:srgbClr val="FF0000"/>
                </a:solidFill>
              </a:rPr>
              <a:t>partition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882105-8D9F-411E-B9C3-7AC07D8FB4AE}"/>
              </a:ext>
            </a:extLst>
          </p:cNvPr>
          <p:cNvSpPr/>
          <p:nvPr/>
        </p:nvSpPr>
        <p:spPr>
          <a:xfrm>
            <a:off x="2093661" y="2354146"/>
            <a:ext cx="1606985" cy="38568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TopicA-Partition0</a:t>
            </a:r>
            <a:endParaRPr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BE6BFB-636A-4217-8AC9-D6A8206711BF}"/>
              </a:ext>
            </a:extLst>
          </p:cNvPr>
          <p:cNvSpPr/>
          <p:nvPr/>
        </p:nvSpPr>
        <p:spPr>
          <a:xfrm>
            <a:off x="2093661" y="3281614"/>
            <a:ext cx="1606985" cy="385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TopicA-Partition1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5CA506-E023-4723-9FA6-B33F597EE0A0}"/>
              </a:ext>
            </a:extLst>
          </p:cNvPr>
          <p:cNvSpPr txBox="1"/>
          <p:nvPr/>
        </p:nvSpPr>
        <p:spPr>
          <a:xfrm>
            <a:off x="2033292" y="2952283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05A8F6-7083-4D2B-9E2F-87D8A9181D6C}"/>
              </a:ext>
            </a:extLst>
          </p:cNvPr>
          <p:cNvSpPr/>
          <p:nvPr/>
        </p:nvSpPr>
        <p:spPr>
          <a:xfrm>
            <a:off x="1950452" y="3898990"/>
            <a:ext cx="5045310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BFA3B6-9A3C-41B3-93B4-7FEAF8AEEBFF}"/>
              </a:ext>
            </a:extLst>
          </p:cNvPr>
          <p:cNvSpPr txBox="1"/>
          <p:nvPr/>
        </p:nvSpPr>
        <p:spPr>
          <a:xfrm>
            <a:off x="2033292" y="3880882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72D3CD-8362-4537-AC40-581B221744AE}"/>
              </a:ext>
            </a:extLst>
          </p:cNvPr>
          <p:cNvSpPr/>
          <p:nvPr/>
        </p:nvSpPr>
        <p:spPr>
          <a:xfrm>
            <a:off x="2116173" y="4175989"/>
            <a:ext cx="1606985" cy="3856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TopicA-Partition2</a:t>
            </a:r>
            <a:endParaRPr lang="zh-CN" altLang="en-US" sz="1400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66AD7AB-A2D5-4ECB-9686-3C81AF8B0822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4906266" y="3484831"/>
            <a:ext cx="2715482" cy="12946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436929E-2424-43D2-A4E7-7F431070DEA4}"/>
              </a:ext>
            </a:extLst>
          </p:cNvPr>
          <p:cNvGrpSpPr/>
          <p:nvPr/>
        </p:nvGrpSpPr>
        <p:grpSpPr>
          <a:xfrm>
            <a:off x="7628022" y="1033441"/>
            <a:ext cx="1264683" cy="1342094"/>
            <a:chOff x="7798493" y="2732651"/>
            <a:chExt cx="1264683" cy="134209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AEF2E0D-BE08-476B-9CEE-9340247E4683}"/>
                </a:ext>
              </a:extLst>
            </p:cNvPr>
            <p:cNvSpPr/>
            <p:nvPr/>
          </p:nvSpPr>
          <p:spPr>
            <a:xfrm>
              <a:off x="7798493" y="2767698"/>
              <a:ext cx="1264683" cy="13070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656B3CB-CAA1-4BB4-B3F2-586419A362B1}"/>
                </a:ext>
              </a:extLst>
            </p:cNvPr>
            <p:cNvSpPr/>
            <p:nvPr/>
          </p:nvSpPr>
          <p:spPr>
            <a:xfrm>
              <a:off x="7879615" y="3063780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67641EE-F933-4C0A-AF19-4E4061AACADB}"/>
                </a:ext>
              </a:extLst>
            </p:cNvPr>
            <p:cNvSpPr/>
            <p:nvPr/>
          </p:nvSpPr>
          <p:spPr>
            <a:xfrm>
              <a:off x="7879617" y="3402062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D950419-99B1-491E-BF00-954BDD319D3E}"/>
                </a:ext>
              </a:extLst>
            </p:cNvPr>
            <p:cNvSpPr/>
            <p:nvPr/>
          </p:nvSpPr>
          <p:spPr>
            <a:xfrm>
              <a:off x="7879615" y="3731609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D9B7541-9830-4FB1-BFFA-4EFA0C8DDCC7}"/>
                </a:ext>
              </a:extLst>
            </p:cNvPr>
            <p:cNvSpPr txBox="1"/>
            <p:nvPr/>
          </p:nvSpPr>
          <p:spPr>
            <a:xfrm>
              <a:off x="7889210" y="2732651"/>
              <a:ext cx="1043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group</a:t>
              </a:r>
              <a:endParaRPr lang="zh-CN" altLang="en-US" sz="1400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AE62FF4-E513-4D3E-804E-672DFAE39BD2}"/>
              </a:ext>
            </a:extLst>
          </p:cNvPr>
          <p:cNvGrpSpPr/>
          <p:nvPr/>
        </p:nvGrpSpPr>
        <p:grpSpPr>
          <a:xfrm>
            <a:off x="7616005" y="2387152"/>
            <a:ext cx="1264683" cy="1356961"/>
            <a:chOff x="7798493" y="2717784"/>
            <a:chExt cx="1264683" cy="1356961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F6EF54B-BF93-43B3-99A6-CE8AE7F5FC1D}"/>
                </a:ext>
              </a:extLst>
            </p:cNvPr>
            <p:cNvSpPr/>
            <p:nvPr/>
          </p:nvSpPr>
          <p:spPr>
            <a:xfrm>
              <a:off x="7798493" y="2767698"/>
              <a:ext cx="1264683" cy="13070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BA54105-91A5-4B22-92A2-1654C6C5E6E9}"/>
                </a:ext>
              </a:extLst>
            </p:cNvPr>
            <p:cNvSpPr/>
            <p:nvPr/>
          </p:nvSpPr>
          <p:spPr>
            <a:xfrm>
              <a:off x="7879615" y="3063780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B62858D-ABB7-46FD-8C9B-3F7D98866BB1}"/>
                </a:ext>
              </a:extLst>
            </p:cNvPr>
            <p:cNvSpPr/>
            <p:nvPr/>
          </p:nvSpPr>
          <p:spPr>
            <a:xfrm>
              <a:off x="7879617" y="3402062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A6D962C-0749-4F2D-AC71-0119557C15FE}"/>
                </a:ext>
              </a:extLst>
            </p:cNvPr>
            <p:cNvSpPr/>
            <p:nvPr/>
          </p:nvSpPr>
          <p:spPr>
            <a:xfrm>
              <a:off x="7879615" y="3731609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A17EA89-91F4-44D1-B575-6514798FEB88}"/>
                </a:ext>
              </a:extLst>
            </p:cNvPr>
            <p:cNvSpPr txBox="1"/>
            <p:nvPr/>
          </p:nvSpPr>
          <p:spPr>
            <a:xfrm>
              <a:off x="7879615" y="2717784"/>
              <a:ext cx="1043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group</a:t>
              </a:r>
              <a:endParaRPr lang="zh-CN" altLang="en-US" sz="1400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DCED274-0CEF-493A-980F-020CC4EE2B02}"/>
              </a:ext>
            </a:extLst>
          </p:cNvPr>
          <p:cNvGrpSpPr/>
          <p:nvPr/>
        </p:nvGrpSpPr>
        <p:grpSpPr>
          <a:xfrm>
            <a:off x="7617978" y="3735069"/>
            <a:ext cx="1264683" cy="1356961"/>
            <a:chOff x="7798493" y="2717784"/>
            <a:chExt cx="1264683" cy="1356961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1B9297B-140E-48A1-AD1E-5A59CF28823E}"/>
                </a:ext>
              </a:extLst>
            </p:cNvPr>
            <p:cNvSpPr/>
            <p:nvPr/>
          </p:nvSpPr>
          <p:spPr>
            <a:xfrm>
              <a:off x="7798493" y="2767698"/>
              <a:ext cx="1264683" cy="13070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FE664B6-14E2-482D-ADD9-479A7C4395A4}"/>
                </a:ext>
              </a:extLst>
            </p:cNvPr>
            <p:cNvSpPr/>
            <p:nvPr/>
          </p:nvSpPr>
          <p:spPr>
            <a:xfrm>
              <a:off x="7879615" y="3063780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F08A756-6FC9-4419-B8A9-B47071071368}"/>
                </a:ext>
              </a:extLst>
            </p:cNvPr>
            <p:cNvSpPr/>
            <p:nvPr/>
          </p:nvSpPr>
          <p:spPr>
            <a:xfrm>
              <a:off x="7879617" y="3402062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B3E9994-D151-4656-88AC-E79B4BDECF3D}"/>
                </a:ext>
              </a:extLst>
            </p:cNvPr>
            <p:cNvSpPr/>
            <p:nvPr/>
          </p:nvSpPr>
          <p:spPr>
            <a:xfrm>
              <a:off x="7879615" y="3731609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BC7CEC9-881F-4C5B-B20B-729CE112C5C6}"/>
                </a:ext>
              </a:extLst>
            </p:cNvPr>
            <p:cNvSpPr txBox="1"/>
            <p:nvPr/>
          </p:nvSpPr>
          <p:spPr>
            <a:xfrm>
              <a:off x="7879615" y="2717784"/>
              <a:ext cx="1043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group</a:t>
              </a:r>
              <a:endParaRPr lang="zh-CN" altLang="en-US" sz="1400" dirty="0"/>
            </a:p>
          </p:txBody>
        </p:sp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2E53AEC-2D1C-41C3-BA40-6D8B2D276E0A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1326742" y="2546989"/>
            <a:ext cx="766919" cy="9331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6D79005-DB1B-4BE8-ADF6-378108CEA8D5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 flipV="1">
            <a:off x="1326742" y="3474457"/>
            <a:ext cx="766919" cy="57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CB84251-AB54-4B70-9C2A-728A51A2891D}"/>
              </a:ext>
            </a:extLst>
          </p:cNvPr>
          <p:cNvCxnSpPr>
            <a:cxnSpLocks/>
            <a:stCxn id="9" idx="3"/>
            <a:endCxn id="22" idx="1"/>
          </p:cNvCxnSpPr>
          <p:nvPr/>
        </p:nvCxnSpPr>
        <p:spPr>
          <a:xfrm>
            <a:off x="1326742" y="3480180"/>
            <a:ext cx="789431" cy="8886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B18390D4-3A9C-4ACD-BCCC-30B7EA534A35}"/>
              </a:ext>
            </a:extLst>
          </p:cNvPr>
          <p:cNvSpPr txBox="1"/>
          <p:nvPr/>
        </p:nvSpPr>
        <p:spPr>
          <a:xfrm>
            <a:off x="10192" y="741063"/>
            <a:ext cx="4777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2.</a:t>
            </a:r>
            <a:r>
              <a:rPr lang="zh-CN" altLang="en-US" sz="1200" b="1" dirty="0">
                <a:solidFill>
                  <a:srgbClr val="FF0000"/>
                </a:solidFill>
              </a:rPr>
              <a:t>配合分区的设计，提出消费者组的概念，组内每个消费者并行消费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4044EE-BC27-41B8-AA56-720CAEC65A02}"/>
              </a:ext>
            </a:extLst>
          </p:cNvPr>
          <p:cNvSpPr txBox="1"/>
          <p:nvPr/>
        </p:nvSpPr>
        <p:spPr>
          <a:xfrm>
            <a:off x="10192" y="1012298"/>
            <a:ext cx="4896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3.</a:t>
            </a:r>
            <a:r>
              <a:rPr lang="zh-CN" altLang="en-US" sz="1200" b="1" dirty="0">
                <a:solidFill>
                  <a:srgbClr val="FF0000"/>
                </a:solidFill>
              </a:rPr>
              <a:t>为提高可用性，为每个</a:t>
            </a:r>
            <a:r>
              <a:rPr lang="en-US" altLang="zh-CN" sz="1200" b="1" dirty="0">
                <a:solidFill>
                  <a:srgbClr val="FF0000"/>
                </a:solidFill>
              </a:rPr>
              <a:t>partition</a:t>
            </a:r>
            <a:r>
              <a:rPr lang="zh-CN" altLang="en-US" sz="1200" b="1" dirty="0">
                <a:solidFill>
                  <a:srgbClr val="FF0000"/>
                </a:solidFill>
              </a:rPr>
              <a:t>增加若干副本，类似</a:t>
            </a:r>
            <a:r>
              <a:rPr lang="en-US" altLang="zh-CN" sz="1200" b="1" dirty="0" err="1">
                <a:solidFill>
                  <a:srgbClr val="FF0000"/>
                </a:solidFill>
              </a:rPr>
              <a:t>NameNode</a:t>
            </a:r>
            <a:r>
              <a:rPr lang="zh-CN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</a:rPr>
              <a:t>HA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1A48912-DDF6-4018-B1B5-0EF16F996860}"/>
              </a:ext>
            </a:extLst>
          </p:cNvPr>
          <p:cNvSpPr/>
          <p:nvPr/>
        </p:nvSpPr>
        <p:spPr>
          <a:xfrm>
            <a:off x="4750080" y="4172539"/>
            <a:ext cx="1606985" cy="38568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TopicA-Partition0</a:t>
            </a:r>
            <a:endParaRPr lang="zh-CN" altLang="en-US" sz="14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27F582D-0C98-445E-AE0E-2A07B948D02B}"/>
              </a:ext>
            </a:extLst>
          </p:cNvPr>
          <p:cNvSpPr/>
          <p:nvPr/>
        </p:nvSpPr>
        <p:spPr>
          <a:xfrm>
            <a:off x="4750080" y="2358565"/>
            <a:ext cx="1606985" cy="385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TopicA-Partition1</a:t>
            </a:r>
            <a:endParaRPr lang="zh-CN" altLang="en-US" sz="14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F87EF54-BDD3-4B99-B9E4-EF46A376931C}"/>
              </a:ext>
            </a:extLst>
          </p:cNvPr>
          <p:cNvSpPr/>
          <p:nvPr/>
        </p:nvSpPr>
        <p:spPr>
          <a:xfrm>
            <a:off x="4750080" y="3281616"/>
            <a:ext cx="1606985" cy="3856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TopicA-Partition2</a:t>
            </a:r>
            <a:endParaRPr lang="zh-CN" altLang="en-US" sz="14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0786FFC-EF7F-4410-82B5-1D1E59FD2355}"/>
              </a:ext>
            </a:extLst>
          </p:cNvPr>
          <p:cNvCxnSpPr>
            <a:cxnSpLocks/>
            <a:stCxn id="18" idx="3"/>
            <a:endCxn id="48" idx="1"/>
          </p:cNvCxnSpPr>
          <p:nvPr/>
        </p:nvCxnSpPr>
        <p:spPr>
          <a:xfrm flipV="1">
            <a:off x="3700646" y="2551408"/>
            <a:ext cx="1049434" cy="92304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47212912-6029-4584-B451-591C437DDCF7}"/>
              </a:ext>
            </a:extLst>
          </p:cNvPr>
          <p:cNvCxnSpPr>
            <a:cxnSpLocks/>
            <a:stCxn id="17" idx="3"/>
            <a:endCxn id="47" idx="1"/>
          </p:cNvCxnSpPr>
          <p:nvPr/>
        </p:nvCxnSpPr>
        <p:spPr>
          <a:xfrm>
            <a:off x="3700646" y="2546989"/>
            <a:ext cx="1049434" cy="1818393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FBCEDF8-2E7C-4ADE-ADF1-5979E005945E}"/>
              </a:ext>
            </a:extLst>
          </p:cNvPr>
          <p:cNvCxnSpPr>
            <a:cxnSpLocks/>
            <a:stCxn id="22" idx="3"/>
            <a:endCxn id="49" idx="1"/>
          </p:cNvCxnSpPr>
          <p:nvPr/>
        </p:nvCxnSpPr>
        <p:spPr>
          <a:xfrm flipV="1">
            <a:off x="3723158" y="3474458"/>
            <a:ext cx="1026922" cy="8943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5B05A5E-77A0-45F4-8A85-6A48F5EA1317}"/>
              </a:ext>
            </a:extLst>
          </p:cNvPr>
          <p:cNvCxnSpPr>
            <a:cxnSpLocks/>
            <a:stCxn id="17" idx="3"/>
            <a:endCxn id="32" idx="1"/>
          </p:cNvCxnSpPr>
          <p:nvPr/>
        </p:nvCxnSpPr>
        <p:spPr>
          <a:xfrm>
            <a:off x="3700646" y="2546989"/>
            <a:ext cx="3996481" cy="3301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366CA2D-9A61-4E43-BC48-5565257A8C5B}"/>
              </a:ext>
            </a:extLst>
          </p:cNvPr>
          <p:cNvCxnSpPr>
            <a:cxnSpLocks/>
            <a:stCxn id="18" idx="3"/>
            <a:endCxn id="33" idx="1"/>
          </p:cNvCxnSpPr>
          <p:nvPr/>
        </p:nvCxnSpPr>
        <p:spPr>
          <a:xfrm flipV="1">
            <a:off x="3700646" y="3215446"/>
            <a:ext cx="3996483" cy="2590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5D0350C-F834-47EB-96A1-86466129DCF0}"/>
              </a:ext>
            </a:extLst>
          </p:cNvPr>
          <p:cNvCxnSpPr>
            <a:cxnSpLocks/>
            <a:stCxn id="22" idx="3"/>
            <a:endCxn id="34" idx="1"/>
          </p:cNvCxnSpPr>
          <p:nvPr/>
        </p:nvCxnSpPr>
        <p:spPr>
          <a:xfrm flipV="1">
            <a:off x="3723158" y="3544993"/>
            <a:ext cx="3973969" cy="8238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F4B04DC1-544C-4EC4-8017-29D1A9F01DE0}"/>
              </a:ext>
            </a:extLst>
          </p:cNvPr>
          <p:cNvSpPr/>
          <p:nvPr/>
        </p:nvSpPr>
        <p:spPr>
          <a:xfrm>
            <a:off x="201012" y="1635646"/>
            <a:ext cx="842596" cy="3111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leader</a:t>
            </a:r>
            <a:endParaRPr lang="zh-CN" altLang="en-US" sz="1400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43644B4-F5DA-4E29-83EF-1136C7F7E10C}"/>
              </a:ext>
            </a:extLst>
          </p:cNvPr>
          <p:cNvSpPr/>
          <p:nvPr/>
        </p:nvSpPr>
        <p:spPr>
          <a:xfrm>
            <a:off x="152546" y="4783874"/>
            <a:ext cx="1022033" cy="3111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E4C67D7-F6BA-4CAA-94E5-E5B77609D74D}"/>
              </a:ext>
            </a:extLst>
          </p:cNvPr>
          <p:cNvCxnSpPr>
            <a:cxnSpLocks/>
            <a:stCxn id="17" idx="1"/>
            <a:endCxn id="56" idx="3"/>
          </p:cNvCxnSpPr>
          <p:nvPr/>
        </p:nvCxnSpPr>
        <p:spPr>
          <a:xfrm flipH="1" flipV="1">
            <a:off x="1043608" y="1791211"/>
            <a:ext cx="1050053" cy="75577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2EF7938-F46F-4D7F-8140-9F8032D588DD}"/>
              </a:ext>
            </a:extLst>
          </p:cNvPr>
          <p:cNvCxnSpPr>
            <a:cxnSpLocks/>
            <a:stCxn id="47" idx="1"/>
            <a:endCxn id="57" idx="3"/>
          </p:cNvCxnSpPr>
          <p:nvPr/>
        </p:nvCxnSpPr>
        <p:spPr>
          <a:xfrm flipH="1">
            <a:off x="1174579" y="4365382"/>
            <a:ext cx="3575501" cy="57405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9521D8E6-769B-45D0-A73F-3B71708BAF26}"/>
              </a:ext>
            </a:extLst>
          </p:cNvPr>
          <p:cNvSpPr txBox="1"/>
          <p:nvPr/>
        </p:nvSpPr>
        <p:spPr>
          <a:xfrm>
            <a:off x="11142" y="1255770"/>
            <a:ext cx="4412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4. ZK</a:t>
            </a:r>
            <a:r>
              <a:rPr lang="zh-CN" altLang="en-US" sz="1200" b="1" dirty="0">
                <a:solidFill>
                  <a:srgbClr val="FF0000"/>
                </a:solidFill>
              </a:rPr>
              <a:t>中记录谁是</a:t>
            </a:r>
            <a:r>
              <a:rPr lang="en-US" altLang="zh-CN" sz="1200" b="1" dirty="0">
                <a:solidFill>
                  <a:srgbClr val="FF0000"/>
                </a:solidFill>
              </a:rPr>
              <a:t>leader</a:t>
            </a:r>
            <a:r>
              <a:rPr lang="zh-CN" altLang="en-US" sz="1200" b="1" dirty="0">
                <a:solidFill>
                  <a:srgbClr val="FF0000"/>
                </a:solidFill>
              </a:rPr>
              <a:t>，</a:t>
            </a:r>
            <a:r>
              <a:rPr lang="en-US" altLang="zh-CN" sz="1200" b="1" dirty="0">
                <a:solidFill>
                  <a:srgbClr val="FF0000"/>
                </a:solidFill>
              </a:rPr>
              <a:t>Kafka2.8.0</a:t>
            </a:r>
            <a:r>
              <a:rPr lang="zh-CN" altLang="en-US" sz="1200" b="1" dirty="0">
                <a:solidFill>
                  <a:srgbClr val="FF0000"/>
                </a:solidFill>
              </a:rPr>
              <a:t>以后也可以配置不采用</a:t>
            </a:r>
            <a:r>
              <a:rPr lang="en-US" altLang="zh-CN" sz="1200" b="1" dirty="0">
                <a:solidFill>
                  <a:srgbClr val="FF0000"/>
                </a:solidFill>
              </a:rPr>
              <a:t>ZK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A2BF92B-4161-4BCD-8C3D-81BAED4D1C66}"/>
              </a:ext>
            </a:extLst>
          </p:cNvPr>
          <p:cNvSpPr/>
          <p:nvPr/>
        </p:nvSpPr>
        <p:spPr>
          <a:xfrm>
            <a:off x="5094765" y="446047"/>
            <a:ext cx="2402998" cy="707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dirty="0"/>
              <a:t>Zookeeper</a:t>
            </a:r>
            <a:endParaRPr lang="zh-CN" altLang="en-US" sz="1400" dirty="0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0AE3CCBA-3C3B-4290-BC08-838B49BE2DEA}"/>
              </a:ext>
            </a:extLst>
          </p:cNvPr>
          <p:cNvSpPr/>
          <p:nvPr/>
        </p:nvSpPr>
        <p:spPr>
          <a:xfrm>
            <a:off x="5166773" y="798156"/>
            <a:ext cx="430467" cy="2972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ZK</a:t>
            </a:r>
            <a:endParaRPr lang="zh-CN" altLang="en-US" sz="1200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FFCC012-692C-486B-BE28-1D8DC9682B23}"/>
              </a:ext>
            </a:extLst>
          </p:cNvPr>
          <p:cNvSpPr/>
          <p:nvPr/>
        </p:nvSpPr>
        <p:spPr>
          <a:xfrm>
            <a:off x="6082419" y="793814"/>
            <a:ext cx="430467" cy="2972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ZK</a:t>
            </a:r>
            <a:endParaRPr lang="zh-CN" altLang="en-US" sz="1200" dirty="0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7F31175A-CD80-4701-A861-41FCEC42168D}"/>
              </a:ext>
            </a:extLst>
          </p:cNvPr>
          <p:cNvSpPr/>
          <p:nvPr/>
        </p:nvSpPr>
        <p:spPr>
          <a:xfrm>
            <a:off x="6998064" y="802498"/>
            <a:ext cx="430467" cy="2972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ZK</a:t>
            </a:r>
            <a:endParaRPr lang="zh-CN" altLang="en-US" sz="1200" dirty="0"/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933EC4BD-942C-4ADA-8D1F-1A95D1497CAD}"/>
              </a:ext>
            </a:extLst>
          </p:cNvPr>
          <p:cNvCxnSpPr>
            <a:cxnSpLocks/>
            <a:stCxn id="2" idx="0"/>
            <a:endCxn id="61" idx="2"/>
          </p:cNvCxnSpPr>
          <p:nvPr/>
        </p:nvCxnSpPr>
        <p:spPr>
          <a:xfrm rot="5400000" flipH="1" flipV="1">
            <a:off x="5039681" y="544336"/>
            <a:ext cx="647180" cy="1865985"/>
          </a:xfrm>
          <a:prstGeom prst="bentConnector3">
            <a:avLst>
              <a:gd name="adj1" fmla="val 6258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CED9FE4E-7E3E-4F0E-A8EB-94237F74227F}"/>
              </a:ext>
            </a:extLst>
          </p:cNvPr>
          <p:cNvSpPr txBox="1"/>
          <p:nvPr/>
        </p:nvSpPr>
        <p:spPr>
          <a:xfrm>
            <a:off x="4888540" y="1121794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/>
              <a:t>/brokers/ids/[0,1,2]</a:t>
            </a:r>
            <a:endParaRPr lang="zh-CN" altLang="en-US" sz="12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E5DB7FF-627F-4148-AC38-78499D215405}"/>
              </a:ext>
            </a:extLst>
          </p:cNvPr>
          <p:cNvSpPr txBox="1"/>
          <p:nvPr/>
        </p:nvSpPr>
        <p:spPr>
          <a:xfrm>
            <a:off x="4888540" y="1346001"/>
            <a:ext cx="2645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/brokers/topics/first/partitions/0/state</a:t>
            </a:r>
          </a:p>
          <a:p>
            <a:r>
              <a:rPr lang="en-US" altLang="zh-CN" sz="1200" dirty="0">
                <a:solidFill>
                  <a:srgbClr val="FF0000"/>
                </a:solidFill>
              </a:rPr>
              <a:t>"leader":0</a:t>
            </a:r>
            <a:r>
              <a:rPr lang="en-US" altLang="zh-CN" sz="1200" dirty="0"/>
              <a:t>,"isr":[0,2]</a:t>
            </a:r>
            <a:endParaRPr lang="zh-CN" altLang="en-US" sz="1200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9FD393E-AB94-4C4E-B391-7BCD6D731474}"/>
              </a:ext>
            </a:extLst>
          </p:cNvPr>
          <p:cNvSpPr/>
          <p:nvPr/>
        </p:nvSpPr>
        <p:spPr>
          <a:xfrm>
            <a:off x="221611" y="2547151"/>
            <a:ext cx="1105131" cy="6381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400" dirty="0"/>
              <a:t>数据</a:t>
            </a:r>
            <a:r>
              <a:rPr lang="en-US" altLang="zh-CN" sz="1400" dirty="0"/>
              <a:t>100T</a:t>
            </a:r>
            <a:endParaRPr lang="zh-CN" altLang="en-US" sz="1400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DB0B005-3FE5-45E1-9FF4-BC9D0965A7D1}"/>
              </a:ext>
            </a:extLst>
          </p:cNvPr>
          <p:cNvSpPr/>
          <p:nvPr/>
        </p:nvSpPr>
        <p:spPr>
          <a:xfrm>
            <a:off x="365628" y="2919336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6ACA568-A02E-436B-B4DA-C22C468DDA84}"/>
              </a:ext>
            </a:extLst>
          </p:cNvPr>
          <p:cNvSpPr/>
          <p:nvPr/>
        </p:nvSpPr>
        <p:spPr>
          <a:xfrm>
            <a:off x="670788" y="2923112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F8537C1-F6C4-48BE-8BE6-7D4A5E4230AC}"/>
              </a:ext>
            </a:extLst>
          </p:cNvPr>
          <p:cNvSpPr/>
          <p:nvPr/>
        </p:nvSpPr>
        <p:spPr>
          <a:xfrm>
            <a:off x="975947" y="2926888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26226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  <p:bldP spid="6" grpId="0"/>
      <p:bldP spid="8" grpId="0" animBg="1"/>
      <p:bldP spid="10" grpId="0" animBg="1"/>
      <p:bldP spid="11" grpId="0" animBg="1"/>
      <p:bldP spid="12" grpId="0" animBg="1"/>
      <p:bldP spid="16" grpId="0"/>
      <p:bldP spid="17" grpId="0" animBg="1"/>
      <p:bldP spid="18" grpId="0" animBg="1"/>
      <p:bldP spid="19" grpId="0"/>
      <p:bldP spid="20" grpId="0" animBg="1"/>
      <p:bldP spid="21" grpId="0"/>
      <p:bldP spid="22" grpId="0" animBg="1"/>
      <p:bldP spid="45" grpId="0"/>
      <p:bldP spid="46" grpId="0"/>
      <p:bldP spid="47" grpId="0" animBg="1"/>
      <p:bldP spid="48" grpId="0" animBg="1"/>
      <p:bldP spid="49" grpId="0" animBg="1"/>
      <p:bldP spid="56" grpId="0" animBg="1"/>
      <p:bldP spid="57" grpId="0" animBg="1"/>
      <p:bldP spid="60" grpId="0"/>
      <p:bldP spid="61" grpId="0" animBg="1"/>
      <p:bldP spid="62" grpId="0" animBg="1"/>
      <p:bldP spid="63" grpId="0" animBg="1"/>
      <p:bldP spid="64" grpId="0" animBg="1"/>
      <p:bldP spid="66" grpId="0"/>
      <p:bldP spid="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8DCA32-E535-4F12-A5A7-4C892480B496}"/>
              </a:ext>
            </a:extLst>
          </p:cNvPr>
          <p:cNvSpPr/>
          <p:nvPr/>
        </p:nvSpPr>
        <p:spPr>
          <a:xfrm>
            <a:off x="2051720" y="1675290"/>
            <a:ext cx="4889527" cy="31492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74C000-2CA9-4D7E-A429-F07289FBAA13}"/>
              </a:ext>
            </a:extLst>
          </p:cNvPr>
          <p:cNvSpPr/>
          <p:nvPr/>
        </p:nvSpPr>
        <p:spPr>
          <a:xfrm>
            <a:off x="2239694" y="2047552"/>
            <a:ext cx="4625602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6813F5-F93A-4212-A496-DBE969107E94}"/>
              </a:ext>
            </a:extLst>
          </p:cNvPr>
          <p:cNvSpPr txBox="1"/>
          <p:nvPr/>
        </p:nvSpPr>
        <p:spPr>
          <a:xfrm>
            <a:off x="2321324" y="2033037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D1B7AC-E139-4F1D-B649-56BFB52220F6}"/>
              </a:ext>
            </a:extLst>
          </p:cNvPr>
          <p:cNvSpPr txBox="1"/>
          <p:nvPr/>
        </p:nvSpPr>
        <p:spPr>
          <a:xfrm>
            <a:off x="4150576" y="1701830"/>
            <a:ext cx="1555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36AD0A-8B3E-44E5-BA40-45D67361706F}"/>
              </a:ext>
            </a:extLst>
          </p:cNvPr>
          <p:cNvSpPr txBox="1"/>
          <p:nvPr/>
        </p:nvSpPr>
        <p:spPr>
          <a:xfrm>
            <a:off x="467544" y="0"/>
            <a:ext cx="18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Kafka </a:t>
            </a:r>
            <a:r>
              <a:rPr lang="zh-CN" altLang="en-US" dirty="0">
                <a:solidFill>
                  <a:srgbClr val="FF0000"/>
                </a:solidFill>
              </a:rPr>
              <a:t>基础架构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AF427D-01F1-45E6-9CDB-432E6C0D2713}"/>
              </a:ext>
            </a:extLst>
          </p:cNvPr>
          <p:cNvSpPr/>
          <p:nvPr/>
        </p:nvSpPr>
        <p:spPr>
          <a:xfrm>
            <a:off x="2238484" y="2970391"/>
            <a:ext cx="4625602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5B805A-F6C1-4F66-A253-EA809A19930E}"/>
              </a:ext>
            </a:extLst>
          </p:cNvPr>
          <p:cNvSpPr/>
          <p:nvPr/>
        </p:nvSpPr>
        <p:spPr>
          <a:xfrm>
            <a:off x="201012" y="3336164"/>
            <a:ext cx="1125730" cy="2880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E37699-0317-4E13-8639-77BD44D030B2}"/>
              </a:ext>
            </a:extLst>
          </p:cNvPr>
          <p:cNvSpPr/>
          <p:nvPr/>
        </p:nvSpPr>
        <p:spPr>
          <a:xfrm>
            <a:off x="7533442" y="2318185"/>
            <a:ext cx="1102437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Consumer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2CAB46-2AE1-40D8-8378-22309C6D2BB1}"/>
              </a:ext>
            </a:extLst>
          </p:cNvPr>
          <p:cNvSpPr/>
          <p:nvPr/>
        </p:nvSpPr>
        <p:spPr>
          <a:xfrm>
            <a:off x="7458063" y="3322830"/>
            <a:ext cx="115212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Consumer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2794F8-3A92-46A1-97C0-8B7139D93906}"/>
              </a:ext>
            </a:extLst>
          </p:cNvPr>
          <p:cNvSpPr/>
          <p:nvPr/>
        </p:nvSpPr>
        <p:spPr>
          <a:xfrm>
            <a:off x="7516692" y="4155926"/>
            <a:ext cx="114002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Consumer</a:t>
            </a:r>
            <a:endParaRPr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8E19AF-F671-4DC9-A1B9-BF780A125992}"/>
              </a:ext>
            </a:extLst>
          </p:cNvPr>
          <p:cNvSpPr/>
          <p:nvPr/>
        </p:nvSpPr>
        <p:spPr>
          <a:xfrm>
            <a:off x="2381693" y="2354146"/>
            <a:ext cx="1606985" cy="38568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TopicA-Partition0</a:t>
            </a:r>
            <a:endParaRPr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2904F4-C4F8-4A12-84C8-4E6926078295}"/>
              </a:ext>
            </a:extLst>
          </p:cNvPr>
          <p:cNvSpPr/>
          <p:nvPr/>
        </p:nvSpPr>
        <p:spPr>
          <a:xfrm>
            <a:off x="2381693" y="3281614"/>
            <a:ext cx="1606985" cy="385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TopicA-Partition1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CF32F6-D6C7-4BCF-A278-C1A96DE82815}"/>
              </a:ext>
            </a:extLst>
          </p:cNvPr>
          <p:cNvSpPr txBox="1"/>
          <p:nvPr/>
        </p:nvSpPr>
        <p:spPr>
          <a:xfrm>
            <a:off x="2321324" y="2952283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859CB4-19DC-4762-B450-3C4447E08CA4}"/>
              </a:ext>
            </a:extLst>
          </p:cNvPr>
          <p:cNvSpPr/>
          <p:nvPr/>
        </p:nvSpPr>
        <p:spPr>
          <a:xfrm>
            <a:off x="2238484" y="3898990"/>
            <a:ext cx="4625602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1FDE66-9198-48F4-AC7A-B1DC3A539DD5}"/>
              </a:ext>
            </a:extLst>
          </p:cNvPr>
          <p:cNvSpPr txBox="1"/>
          <p:nvPr/>
        </p:nvSpPr>
        <p:spPr>
          <a:xfrm>
            <a:off x="2321324" y="3880882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052A1D-416B-4049-94D7-9724C7A667E7}"/>
              </a:ext>
            </a:extLst>
          </p:cNvPr>
          <p:cNvSpPr/>
          <p:nvPr/>
        </p:nvSpPr>
        <p:spPr>
          <a:xfrm>
            <a:off x="2404205" y="4175989"/>
            <a:ext cx="1606985" cy="3856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TopicA-Partition2</a:t>
            </a:r>
            <a:endParaRPr lang="zh-CN" altLang="en-US" sz="14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CB96BD3-A057-41AD-BD60-59441995C785}"/>
              </a:ext>
            </a:extLst>
          </p:cNvPr>
          <p:cNvGrpSpPr/>
          <p:nvPr/>
        </p:nvGrpSpPr>
        <p:grpSpPr>
          <a:xfrm>
            <a:off x="7452320" y="2683333"/>
            <a:ext cx="1264683" cy="1356961"/>
            <a:chOff x="7798493" y="2717784"/>
            <a:chExt cx="1264683" cy="1356961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CE6C37F-AE52-4918-B9D1-ACA07F3D0A02}"/>
                </a:ext>
              </a:extLst>
            </p:cNvPr>
            <p:cNvSpPr/>
            <p:nvPr/>
          </p:nvSpPr>
          <p:spPr>
            <a:xfrm>
              <a:off x="7798493" y="2767698"/>
              <a:ext cx="1264683" cy="13070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A9E3972-BCFF-414E-8298-774997849081}"/>
                </a:ext>
              </a:extLst>
            </p:cNvPr>
            <p:cNvSpPr/>
            <p:nvPr/>
          </p:nvSpPr>
          <p:spPr>
            <a:xfrm>
              <a:off x="7879615" y="3063780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8857C06-AB89-4D2B-83F8-593CD8CF308A}"/>
                </a:ext>
              </a:extLst>
            </p:cNvPr>
            <p:cNvSpPr/>
            <p:nvPr/>
          </p:nvSpPr>
          <p:spPr>
            <a:xfrm>
              <a:off x="7879617" y="3402062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AF51EF2-B8B7-48E0-B073-F416252D8599}"/>
                </a:ext>
              </a:extLst>
            </p:cNvPr>
            <p:cNvSpPr/>
            <p:nvPr/>
          </p:nvSpPr>
          <p:spPr>
            <a:xfrm>
              <a:off x="7879615" y="3731609"/>
              <a:ext cx="1102437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F8CBA6-9557-49DC-9D88-DC51F5CC368E}"/>
                </a:ext>
              </a:extLst>
            </p:cNvPr>
            <p:cNvSpPr txBox="1"/>
            <p:nvPr/>
          </p:nvSpPr>
          <p:spPr>
            <a:xfrm>
              <a:off x="7879615" y="2717784"/>
              <a:ext cx="1043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group</a:t>
              </a:r>
              <a:endParaRPr lang="zh-CN" altLang="en-US" sz="1400" dirty="0"/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E116578-37FC-49EA-AC90-0364F97EB07D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1326742" y="2546989"/>
            <a:ext cx="1054951" cy="9331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63E5DF5-AE3F-43AF-9534-0B3A497EC7E0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1402988" y="3474457"/>
            <a:ext cx="978705" cy="57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DDCB9F7-F8F3-482F-82DC-7B95335D2E84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1326742" y="3480180"/>
            <a:ext cx="1077463" cy="8886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39BF4FC0-1374-4151-9E50-4F2381F29071}"/>
              </a:ext>
            </a:extLst>
          </p:cNvPr>
          <p:cNvSpPr/>
          <p:nvPr/>
        </p:nvSpPr>
        <p:spPr>
          <a:xfrm>
            <a:off x="5038112" y="4172539"/>
            <a:ext cx="1606985" cy="38568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TopicA-Partition0</a:t>
            </a:r>
            <a:endParaRPr lang="zh-CN" altLang="en-US" sz="14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2C02F9-57AB-47D7-86F8-0AE55C129D0B}"/>
              </a:ext>
            </a:extLst>
          </p:cNvPr>
          <p:cNvSpPr/>
          <p:nvPr/>
        </p:nvSpPr>
        <p:spPr>
          <a:xfrm>
            <a:off x="5038112" y="2358565"/>
            <a:ext cx="1606985" cy="385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TopicA-Partition1</a:t>
            </a:r>
            <a:endParaRPr lang="zh-CN" altLang="en-US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F88B36A-6010-4EF4-BB9C-1AA952E169E8}"/>
              </a:ext>
            </a:extLst>
          </p:cNvPr>
          <p:cNvSpPr/>
          <p:nvPr/>
        </p:nvSpPr>
        <p:spPr>
          <a:xfrm>
            <a:off x="5038112" y="3281616"/>
            <a:ext cx="1606985" cy="3856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TopicA-Partition2</a:t>
            </a:r>
            <a:endParaRPr lang="zh-CN" altLang="en-US" sz="14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15EAE68-B129-48A3-9D5B-3FF56407E541}"/>
              </a:ext>
            </a:extLst>
          </p:cNvPr>
          <p:cNvCxnSpPr>
            <a:cxnSpLocks/>
            <a:stCxn id="13" idx="3"/>
            <a:endCxn id="28" idx="1"/>
          </p:cNvCxnSpPr>
          <p:nvPr/>
        </p:nvCxnSpPr>
        <p:spPr>
          <a:xfrm flipV="1">
            <a:off x="3988678" y="2551408"/>
            <a:ext cx="1049434" cy="92304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F51F10D-4E09-4CE8-8F24-BD725121CE33}"/>
              </a:ext>
            </a:extLst>
          </p:cNvPr>
          <p:cNvCxnSpPr>
            <a:cxnSpLocks/>
            <a:stCxn id="12" idx="3"/>
            <a:endCxn id="27" idx="1"/>
          </p:cNvCxnSpPr>
          <p:nvPr/>
        </p:nvCxnSpPr>
        <p:spPr>
          <a:xfrm>
            <a:off x="3988678" y="2546989"/>
            <a:ext cx="1049434" cy="1818393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E8C746D-980F-4F87-B62B-80AD6113DB0A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 flipV="1">
            <a:off x="4011190" y="3474458"/>
            <a:ext cx="1026922" cy="8943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5696EE3-E5F2-4223-A23D-8B5D47F9CB7C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>
            <a:off x="3988678" y="2546989"/>
            <a:ext cx="3544764" cy="6263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31B4483-5FB3-4F90-9097-78A670E68D89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3988678" y="3474457"/>
            <a:ext cx="3544766" cy="371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7149FAD-D378-4263-9C6D-2C121560DBEC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4011190" y="3841174"/>
            <a:ext cx="3522252" cy="527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92DAB90F-3CFE-4860-ADE2-37EACB9459C3}"/>
              </a:ext>
            </a:extLst>
          </p:cNvPr>
          <p:cNvSpPr/>
          <p:nvPr/>
        </p:nvSpPr>
        <p:spPr>
          <a:xfrm>
            <a:off x="3293771" y="447234"/>
            <a:ext cx="2402998" cy="707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dirty="0"/>
              <a:t>Zookeeper</a:t>
            </a:r>
            <a:endParaRPr lang="zh-CN" altLang="en-US" sz="1400" dirty="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BA10A76-DB10-40CC-A5E1-FE9B97190723}"/>
              </a:ext>
            </a:extLst>
          </p:cNvPr>
          <p:cNvSpPr/>
          <p:nvPr/>
        </p:nvSpPr>
        <p:spPr>
          <a:xfrm>
            <a:off x="3365779" y="799343"/>
            <a:ext cx="430467" cy="2972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ZK</a:t>
            </a:r>
            <a:endParaRPr lang="zh-CN" altLang="en-US" sz="1200" dirty="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6D60C4F-E1CF-4136-ABF6-12E66B4F813B}"/>
              </a:ext>
            </a:extLst>
          </p:cNvPr>
          <p:cNvSpPr/>
          <p:nvPr/>
        </p:nvSpPr>
        <p:spPr>
          <a:xfrm>
            <a:off x="4281425" y="795001"/>
            <a:ext cx="430467" cy="2972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ZK</a:t>
            </a:r>
            <a:endParaRPr lang="zh-CN" altLang="en-US" sz="12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051D99B-408C-45D3-82E9-B8465383F162}"/>
              </a:ext>
            </a:extLst>
          </p:cNvPr>
          <p:cNvSpPr/>
          <p:nvPr/>
        </p:nvSpPr>
        <p:spPr>
          <a:xfrm>
            <a:off x="5197070" y="803685"/>
            <a:ext cx="430467" cy="2972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ZK</a:t>
            </a:r>
            <a:endParaRPr lang="zh-CN" altLang="en-US" sz="12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2F46FE-AF99-4F93-9F58-AC46EAB28C0E}"/>
              </a:ext>
            </a:extLst>
          </p:cNvPr>
          <p:cNvSpPr txBox="1"/>
          <p:nvPr/>
        </p:nvSpPr>
        <p:spPr>
          <a:xfrm>
            <a:off x="2962144" y="1193740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/>
              <a:t>/brokers/ids/[0,1,2]</a:t>
            </a:r>
            <a:endParaRPr lang="zh-CN" altLang="en-US" sz="12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0887920-41F4-4072-A288-787F5A6D07E4}"/>
              </a:ext>
            </a:extLst>
          </p:cNvPr>
          <p:cNvSpPr txBox="1"/>
          <p:nvPr/>
        </p:nvSpPr>
        <p:spPr>
          <a:xfrm>
            <a:off x="4819604" y="1174809"/>
            <a:ext cx="262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/brokers/topics/first/partitions/0/state</a:t>
            </a:r>
          </a:p>
          <a:p>
            <a:r>
              <a:rPr lang="en-US" altLang="zh-CN" sz="1200" dirty="0">
                <a:solidFill>
                  <a:srgbClr val="FF0000"/>
                </a:solidFill>
              </a:rPr>
              <a:t>"leader":0</a:t>
            </a:r>
            <a:r>
              <a:rPr lang="en-US" altLang="zh-CN" sz="1200" dirty="0"/>
              <a:t>,"isr":[0,2]</a:t>
            </a:r>
            <a:endParaRPr lang="zh-CN" altLang="en-US" sz="12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5CA2C8-33D5-4AD6-A944-D1B57F7FB201}"/>
              </a:ext>
            </a:extLst>
          </p:cNvPr>
          <p:cNvSpPr/>
          <p:nvPr/>
        </p:nvSpPr>
        <p:spPr>
          <a:xfrm>
            <a:off x="221611" y="2547151"/>
            <a:ext cx="1105131" cy="6381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400" dirty="0"/>
              <a:t>数据</a:t>
            </a:r>
            <a:r>
              <a:rPr lang="en-US" altLang="zh-CN" sz="1400" dirty="0"/>
              <a:t>100T</a:t>
            </a:r>
            <a:endParaRPr lang="zh-CN" altLang="en-US" sz="1400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4860721-969D-433E-9893-245182A17EC2}"/>
              </a:ext>
            </a:extLst>
          </p:cNvPr>
          <p:cNvSpPr/>
          <p:nvPr/>
        </p:nvSpPr>
        <p:spPr>
          <a:xfrm>
            <a:off x="365628" y="2919336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563631-6D57-4D0A-960A-A12215FB7838}"/>
              </a:ext>
            </a:extLst>
          </p:cNvPr>
          <p:cNvSpPr/>
          <p:nvPr/>
        </p:nvSpPr>
        <p:spPr>
          <a:xfrm>
            <a:off x="670788" y="2923112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2389FAC-5D62-4D4F-AD30-51B212D59130}"/>
              </a:ext>
            </a:extLst>
          </p:cNvPr>
          <p:cNvSpPr/>
          <p:nvPr/>
        </p:nvSpPr>
        <p:spPr>
          <a:xfrm>
            <a:off x="975947" y="2926888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AACB7F6-EA77-4AA5-90AB-EBB69FF76C12}"/>
              </a:ext>
            </a:extLst>
          </p:cNvPr>
          <p:cNvSpPr txBox="1"/>
          <p:nvPr/>
        </p:nvSpPr>
        <p:spPr>
          <a:xfrm>
            <a:off x="3355361" y="2050956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rgbClr val="FF0000"/>
                </a:solidFill>
              </a:rPr>
              <a:t>leader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921BE53-5DD6-4841-878F-29BC171C1C2B}"/>
              </a:ext>
            </a:extLst>
          </p:cNvPr>
          <p:cNvSpPr txBox="1"/>
          <p:nvPr/>
        </p:nvSpPr>
        <p:spPr>
          <a:xfrm>
            <a:off x="3355361" y="3025255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rgbClr val="FF0000"/>
                </a:solidFill>
              </a:rPr>
              <a:t>leader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E4728A3-794C-4D89-A699-45D1084551FB}"/>
              </a:ext>
            </a:extLst>
          </p:cNvPr>
          <p:cNvSpPr txBox="1"/>
          <p:nvPr/>
        </p:nvSpPr>
        <p:spPr>
          <a:xfrm>
            <a:off x="3350096" y="3848880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rgbClr val="FF0000"/>
                </a:solidFill>
              </a:rPr>
              <a:t>leader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9A5221E-3172-4AC8-B87C-8D7DF9A51965}"/>
              </a:ext>
            </a:extLst>
          </p:cNvPr>
          <p:cNvSpPr txBox="1"/>
          <p:nvPr/>
        </p:nvSpPr>
        <p:spPr>
          <a:xfrm>
            <a:off x="4938498" y="2113599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EF3AB48-B3A8-4680-B165-E3A33D46CA17}"/>
              </a:ext>
            </a:extLst>
          </p:cNvPr>
          <p:cNvSpPr txBox="1"/>
          <p:nvPr/>
        </p:nvSpPr>
        <p:spPr>
          <a:xfrm>
            <a:off x="4977442" y="3022981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ED9E6B0-6BA6-4F02-9359-A0BFCCF4AD96}"/>
              </a:ext>
            </a:extLst>
          </p:cNvPr>
          <p:cNvSpPr txBox="1"/>
          <p:nvPr/>
        </p:nvSpPr>
        <p:spPr>
          <a:xfrm>
            <a:off x="4957081" y="3884640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684625AD-AEA5-4A7F-8F38-F3702340C529}"/>
              </a:ext>
            </a:extLst>
          </p:cNvPr>
          <p:cNvCxnSpPr>
            <a:cxnSpLocks/>
            <a:stCxn id="2" idx="0"/>
            <a:endCxn id="36" idx="2"/>
          </p:cNvCxnSpPr>
          <p:nvPr/>
        </p:nvCxnSpPr>
        <p:spPr>
          <a:xfrm flipH="1" flipV="1">
            <a:off x="4495270" y="1154925"/>
            <a:ext cx="1214" cy="520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35CC32A-B0EF-4586-99E9-49B7866FC9D1}"/>
              </a:ext>
            </a:extLst>
          </p:cNvPr>
          <p:cNvSpPr txBox="1"/>
          <p:nvPr/>
        </p:nvSpPr>
        <p:spPr>
          <a:xfrm>
            <a:off x="-55960" y="2125974"/>
            <a:ext cx="2205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kafka-console-producer.sh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3EDD9D9-15BF-4876-9BA3-FE6EAC48038E}"/>
              </a:ext>
            </a:extLst>
          </p:cNvPr>
          <p:cNvSpPr txBox="1"/>
          <p:nvPr/>
        </p:nvSpPr>
        <p:spPr>
          <a:xfrm>
            <a:off x="1955818" y="1458511"/>
            <a:ext cx="1451309" cy="24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100"/>
              </a:lnSpc>
            </a:pP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kafka-topics.sh</a:t>
            </a:r>
            <a:endParaRPr lang="zh-CN" altLang="zh-CN" sz="1400" b="1" kern="1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45C2640-266C-4EA0-AEED-679688C752DA}"/>
              </a:ext>
            </a:extLst>
          </p:cNvPr>
          <p:cNvSpPr txBox="1"/>
          <p:nvPr/>
        </p:nvSpPr>
        <p:spPr>
          <a:xfrm>
            <a:off x="6904307" y="2000810"/>
            <a:ext cx="2239694" cy="24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</a:pP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kafka-console-consumer.sh</a:t>
            </a:r>
            <a:endParaRPr lang="zh-CN" altLang="zh-CN" sz="1400" b="1" kern="1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07488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31F358E-632B-4BFB-BF2C-9512E1CF2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" y="0"/>
            <a:ext cx="9124293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65569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760D5A-443C-404A-B5C0-F4D6508D7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8"/>
            <a:ext cx="9144000" cy="5141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568315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53FCF3-7E86-4038-9C36-2C66FB46B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" y="0"/>
            <a:ext cx="9141073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51048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9A2F75-D0DE-48FC-A62D-A7FD15E35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" y="0"/>
            <a:ext cx="9134487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881433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11428B9-A8D0-4E51-84A4-F5F70CED3628}"/>
              </a:ext>
            </a:extLst>
          </p:cNvPr>
          <p:cNvSpPr/>
          <p:nvPr/>
        </p:nvSpPr>
        <p:spPr>
          <a:xfrm>
            <a:off x="2959036" y="1840767"/>
            <a:ext cx="2592288" cy="3179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89D4B0-2A31-40F8-8137-0676635BBC51}"/>
              </a:ext>
            </a:extLst>
          </p:cNvPr>
          <p:cNvSpPr/>
          <p:nvPr/>
        </p:nvSpPr>
        <p:spPr>
          <a:xfrm>
            <a:off x="3147010" y="2243083"/>
            <a:ext cx="2189500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9F74A3-5532-47FB-ACE7-7E4579644FEE}"/>
              </a:ext>
            </a:extLst>
          </p:cNvPr>
          <p:cNvSpPr txBox="1"/>
          <p:nvPr/>
        </p:nvSpPr>
        <p:spPr>
          <a:xfrm>
            <a:off x="3228640" y="2228568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18C9A9-B7CD-4D66-9DE1-DE5EAEAB49B6}"/>
              </a:ext>
            </a:extLst>
          </p:cNvPr>
          <p:cNvSpPr txBox="1"/>
          <p:nvPr/>
        </p:nvSpPr>
        <p:spPr>
          <a:xfrm>
            <a:off x="3535100" y="1819681"/>
            <a:ext cx="15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Kafka cluster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BD3686-81C6-4117-A758-40529E91C8D3}"/>
              </a:ext>
            </a:extLst>
          </p:cNvPr>
          <p:cNvSpPr/>
          <p:nvPr/>
        </p:nvSpPr>
        <p:spPr>
          <a:xfrm>
            <a:off x="3145800" y="3165922"/>
            <a:ext cx="2189500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0A5CF8-F225-4EE5-8BB5-53875C9635D6}"/>
              </a:ext>
            </a:extLst>
          </p:cNvPr>
          <p:cNvSpPr/>
          <p:nvPr/>
        </p:nvSpPr>
        <p:spPr>
          <a:xfrm>
            <a:off x="611560" y="3477145"/>
            <a:ext cx="1188775" cy="3856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5EF054-5300-4C59-A405-A42C85D719BF}"/>
              </a:ext>
            </a:extLst>
          </p:cNvPr>
          <p:cNvSpPr/>
          <p:nvPr/>
        </p:nvSpPr>
        <p:spPr>
          <a:xfrm>
            <a:off x="3289009" y="2549677"/>
            <a:ext cx="1728192" cy="38568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TopicA-Partition0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5E8B96-EBE3-46F3-B86E-EF9BAE3C71E4}"/>
              </a:ext>
            </a:extLst>
          </p:cNvPr>
          <p:cNvSpPr/>
          <p:nvPr/>
        </p:nvSpPr>
        <p:spPr>
          <a:xfrm>
            <a:off x="3289009" y="3477145"/>
            <a:ext cx="1728192" cy="385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TopicA-Partition1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7E337B-E273-4C33-A2DF-C1FF0F3F570F}"/>
              </a:ext>
            </a:extLst>
          </p:cNvPr>
          <p:cNvSpPr txBox="1"/>
          <p:nvPr/>
        </p:nvSpPr>
        <p:spPr>
          <a:xfrm>
            <a:off x="3228640" y="314781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7353AD-B551-4DB1-89A0-54B0116DE527}"/>
              </a:ext>
            </a:extLst>
          </p:cNvPr>
          <p:cNvSpPr/>
          <p:nvPr/>
        </p:nvSpPr>
        <p:spPr>
          <a:xfrm>
            <a:off x="3145800" y="4094521"/>
            <a:ext cx="2189500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5249A1-8469-4F75-BEDF-E4AAFD86B431}"/>
              </a:ext>
            </a:extLst>
          </p:cNvPr>
          <p:cNvSpPr txBox="1"/>
          <p:nvPr/>
        </p:nvSpPr>
        <p:spPr>
          <a:xfrm>
            <a:off x="3228640" y="4076413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CBA7E2-2181-4028-801F-6277D38C70CE}"/>
              </a:ext>
            </a:extLst>
          </p:cNvPr>
          <p:cNvSpPr/>
          <p:nvPr/>
        </p:nvSpPr>
        <p:spPr>
          <a:xfrm>
            <a:off x="3311521" y="4371520"/>
            <a:ext cx="1728192" cy="3856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TopicA-Partition2</a:t>
            </a:r>
            <a:endParaRPr lang="zh-CN" altLang="en-US" sz="140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FCF2B70-5E35-4A08-9724-9AD6844BE7E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800335" y="2742520"/>
            <a:ext cx="1488674" cy="9274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2863ED7-9F11-4A31-83B2-1BB0A3ACF22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800335" y="3669988"/>
            <a:ext cx="14886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AF73461-3A0B-45A2-8F97-81D21C8FCBA4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800335" y="3669988"/>
            <a:ext cx="1511186" cy="8943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2DDC0D4-B465-4D1B-AC69-88FB12784AF6}"/>
              </a:ext>
            </a:extLst>
          </p:cNvPr>
          <p:cNvCxnSpPr>
            <a:cxnSpLocks/>
            <a:stCxn id="9" idx="3"/>
            <a:endCxn id="24" idx="1"/>
          </p:cNvCxnSpPr>
          <p:nvPr/>
        </p:nvCxnSpPr>
        <p:spPr>
          <a:xfrm>
            <a:off x="5017201" y="3669988"/>
            <a:ext cx="1614244" cy="4793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746789D-2D43-4E32-8E83-EB3F0CBC3487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 flipV="1">
            <a:off x="5017201" y="2739597"/>
            <a:ext cx="1614243" cy="2923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0B94CD9-0341-46D9-8267-53A2AE40308D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5039713" y="4564362"/>
            <a:ext cx="1598770" cy="1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33C947F-8CB6-4857-99BF-82BFA7821520}"/>
              </a:ext>
            </a:extLst>
          </p:cNvPr>
          <p:cNvSpPr txBox="1"/>
          <p:nvPr/>
        </p:nvSpPr>
        <p:spPr>
          <a:xfrm>
            <a:off x="467544" y="0"/>
            <a:ext cx="18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Kafka </a:t>
            </a:r>
            <a:r>
              <a:rPr lang="zh-CN" altLang="en-US" dirty="0">
                <a:solidFill>
                  <a:srgbClr val="FF0000"/>
                </a:solidFill>
              </a:rPr>
              <a:t>分区好处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4A0DF0-9816-4FAF-AB49-026CA236C37F}"/>
              </a:ext>
            </a:extLst>
          </p:cNvPr>
          <p:cNvSpPr txBox="1"/>
          <p:nvPr/>
        </p:nvSpPr>
        <p:spPr>
          <a:xfrm>
            <a:off x="201012" y="433219"/>
            <a:ext cx="8475444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便于合理使用存储资源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，每个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Partition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在一个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上存储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可以把海量的数据按照分区切割成一块一块数据存储在多台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上。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合理控制分区的任务，可以实现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负载均衡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的效果。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917340-7C58-4E64-B46A-113BB7A48EB2}"/>
              </a:ext>
            </a:extLst>
          </p:cNvPr>
          <p:cNvSpPr txBox="1"/>
          <p:nvPr/>
        </p:nvSpPr>
        <p:spPr>
          <a:xfrm>
            <a:off x="201012" y="1292216"/>
            <a:ext cx="8259420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提高并</a:t>
            </a:r>
            <a:r>
              <a:rPr lang="zh-CN" altLang="en-US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行度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生产者可以以分区为单位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发送数据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；消费者可以以分区为单位进行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消费数据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318EF7-6414-4173-AD83-92823DD5B089}"/>
              </a:ext>
            </a:extLst>
          </p:cNvPr>
          <p:cNvSpPr/>
          <p:nvPr/>
        </p:nvSpPr>
        <p:spPr>
          <a:xfrm>
            <a:off x="6631444" y="2549677"/>
            <a:ext cx="1173877" cy="379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Consumer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A7D36F-6447-487D-99C0-E4127BB142A9}"/>
              </a:ext>
            </a:extLst>
          </p:cNvPr>
          <p:cNvSpPr/>
          <p:nvPr/>
        </p:nvSpPr>
        <p:spPr>
          <a:xfrm>
            <a:off x="6631445" y="3477145"/>
            <a:ext cx="1173877" cy="3952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Consumer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D740BC-4470-4C7B-BD8E-3762BCC60A37}"/>
              </a:ext>
            </a:extLst>
          </p:cNvPr>
          <p:cNvSpPr/>
          <p:nvPr/>
        </p:nvSpPr>
        <p:spPr>
          <a:xfrm>
            <a:off x="6638483" y="4368070"/>
            <a:ext cx="1173877" cy="3952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Consumer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BDB6D9-1347-4EDF-81FA-BC6B06D6F23C}"/>
              </a:ext>
            </a:extLst>
          </p:cNvPr>
          <p:cNvSpPr/>
          <p:nvPr/>
        </p:nvSpPr>
        <p:spPr>
          <a:xfrm>
            <a:off x="595566" y="2720410"/>
            <a:ext cx="1204769" cy="6381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dirty="0"/>
              <a:t>ss 100T</a:t>
            </a:r>
            <a:r>
              <a:rPr lang="zh-CN" altLang="en-US" sz="1400" dirty="0"/>
              <a:t>资料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030E50-9AAB-4E5E-92B4-A86AAB2559F6}"/>
              </a:ext>
            </a:extLst>
          </p:cNvPr>
          <p:cNvSpPr/>
          <p:nvPr/>
        </p:nvSpPr>
        <p:spPr>
          <a:xfrm>
            <a:off x="797703" y="3081300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385C398-1648-4A30-A9F6-B23E339E64FB}"/>
              </a:ext>
            </a:extLst>
          </p:cNvPr>
          <p:cNvSpPr/>
          <p:nvPr/>
        </p:nvSpPr>
        <p:spPr>
          <a:xfrm>
            <a:off x="1102863" y="3085076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269D46-4614-442B-8E78-E90E470C53E1}"/>
              </a:ext>
            </a:extLst>
          </p:cNvPr>
          <p:cNvSpPr/>
          <p:nvPr/>
        </p:nvSpPr>
        <p:spPr>
          <a:xfrm>
            <a:off x="1408022" y="3088852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DA303DA-CF59-4878-B338-C7A445535F28}"/>
              </a:ext>
            </a:extLst>
          </p:cNvPr>
          <p:cNvSpPr txBox="1"/>
          <p:nvPr/>
        </p:nvSpPr>
        <p:spPr>
          <a:xfrm>
            <a:off x="4427610" y="2263219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rgbClr val="FF0000"/>
                </a:solidFill>
              </a:rPr>
              <a:t>leader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AEC02CA-5429-4FB7-93B8-2E8638740369}"/>
              </a:ext>
            </a:extLst>
          </p:cNvPr>
          <p:cNvSpPr txBox="1"/>
          <p:nvPr/>
        </p:nvSpPr>
        <p:spPr>
          <a:xfrm>
            <a:off x="4403485" y="3183671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rgbClr val="FF0000"/>
                </a:solidFill>
              </a:rPr>
              <a:t>leader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A235E0B-77BA-4180-A9C6-932D23E9E5A1}"/>
              </a:ext>
            </a:extLst>
          </p:cNvPr>
          <p:cNvSpPr txBox="1"/>
          <p:nvPr/>
        </p:nvSpPr>
        <p:spPr>
          <a:xfrm>
            <a:off x="4425997" y="4063743"/>
            <a:ext cx="80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rgbClr val="FF0000"/>
                </a:solidFill>
              </a:rPr>
              <a:t>leader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620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58025E-6 L 0.20816 -0.08487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99" y="-4259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6 L 0.23941 0.09413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62" y="4691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9.87654E-7 L 0.27517 0.26389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1317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/>
      <p:bldP spid="31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0832E42-4044-44A5-A6E3-6B6617A98E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10" t="45464" b="16736"/>
          <a:stretch/>
        </p:blipFill>
        <p:spPr bwMode="auto">
          <a:xfrm>
            <a:off x="5946766" y="586646"/>
            <a:ext cx="1756891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843BC01-A827-4E49-8CE1-E8F4F8636D5C}"/>
              </a:ext>
            </a:extLst>
          </p:cNvPr>
          <p:cNvSpPr/>
          <p:nvPr/>
        </p:nvSpPr>
        <p:spPr>
          <a:xfrm>
            <a:off x="4866646" y="1378734"/>
            <a:ext cx="1080120" cy="7200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CF65BFE-3F17-4876-900A-EE1F07DBF9C3}"/>
              </a:ext>
            </a:extLst>
          </p:cNvPr>
          <p:cNvSpPr/>
          <p:nvPr/>
        </p:nvSpPr>
        <p:spPr>
          <a:xfrm>
            <a:off x="5298694" y="1666766"/>
            <a:ext cx="216024" cy="1440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B59555A-7100-4FCE-899C-16F3CCE0E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10" t="45464" b="16736"/>
          <a:stretch/>
        </p:blipFill>
        <p:spPr bwMode="auto">
          <a:xfrm>
            <a:off x="5998664" y="3277624"/>
            <a:ext cx="1756891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23B704C1-3585-4EB6-9D2C-E29DF624C1DE}"/>
              </a:ext>
            </a:extLst>
          </p:cNvPr>
          <p:cNvGrpSpPr/>
          <p:nvPr/>
        </p:nvGrpSpPr>
        <p:grpSpPr>
          <a:xfrm>
            <a:off x="4913846" y="4069712"/>
            <a:ext cx="1087380" cy="720080"/>
            <a:chOff x="5652264" y="3579862"/>
            <a:chExt cx="1087380" cy="72008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42F7E49-A0A8-4EB1-9E2D-F59CE7A461B3}"/>
                </a:ext>
              </a:extLst>
            </p:cNvPr>
            <p:cNvSpPr/>
            <p:nvPr/>
          </p:nvSpPr>
          <p:spPr>
            <a:xfrm>
              <a:off x="5656962" y="3579862"/>
              <a:ext cx="1080120" cy="7200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E9FD6DF-37B7-4759-A451-5CD6F1981013}"/>
                </a:ext>
              </a:extLst>
            </p:cNvPr>
            <p:cNvSpPr/>
            <p:nvPr/>
          </p:nvSpPr>
          <p:spPr>
            <a:xfrm>
              <a:off x="6099083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A7AF5B4-5EE2-4FB0-A6AE-3AB2B17EB07F}"/>
                </a:ext>
              </a:extLst>
            </p:cNvPr>
            <p:cNvSpPr/>
            <p:nvPr/>
          </p:nvSpPr>
          <p:spPr>
            <a:xfrm>
              <a:off x="6322511" y="395108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ADDB112-F1A1-441D-BDA4-3A8C08113425}"/>
                </a:ext>
              </a:extLst>
            </p:cNvPr>
            <p:cNvSpPr/>
            <p:nvPr/>
          </p:nvSpPr>
          <p:spPr>
            <a:xfrm>
              <a:off x="5875655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B3443E2-2A08-421B-B20A-8E3A72731105}"/>
                </a:ext>
              </a:extLst>
            </p:cNvPr>
            <p:cNvSpPr/>
            <p:nvPr/>
          </p:nvSpPr>
          <p:spPr>
            <a:xfrm>
              <a:off x="5652264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E6D88E3-A934-4503-9F32-FA0D1C7179C1}"/>
                </a:ext>
              </a:extLst>
            </p:cNvPr>
            <p:cNvSpPr/>
            <p:nvPr/>
          </p:nvSpPr>
          <p:spPr>
            <a:xfrm>
              <a:off x="6516216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DAF150B-EE56-4CCB-BCCB-53D8571DC24D}"/>
                </a:ext>
              </a:extLst>
            </p:cNvPr>
            <p:cNvSpPr/>
            <p:nvPr/>
          </p:nvSpPr>
          <p:spPr>
            <a:xfrm>
              <a:off x="6099083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39D2D6E-682E-471D-8571-70949E546507}"/>
                </a:ext>
              </a:extLst>
            </p:cNvPr>
            <p:cNvSpPr/>
            <p:nvPr/>
          </p:nvSpPr>
          <p:spPr>
            <a:xfrm>
              <a:off x="6322511" y="4149348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FB6BCC4-6C5F-4B29-9CB9-CBA64B648C30}"/>
                </a:ext>
              </a:extLst>
            </p:cNvPr>
            <p:cNvSpPr/>
            <p:nvPr/>
          </p:nvSpPr>
          <p:spPr>
            <a:xfrm>
              <a:off x="5875655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FD1002AB-DB0C-4C65-B6D8-9E8E7AE4746C}"/>
                </a:ext>
              </a:extLst>
            </p:cNvPr>
            <p:cNvSpPr/>
            <p:nvPr/>
          </p:nvSpPr>
          <p:spPr>
            <a:xfrm>
              <a:off x="5652264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34427B4-83CD-44FA-B7C1-4CABBBAEF16E}"/>
                </a:ext>
              </a:extLst>
            </p:cNvPr>
            <p:cNvSpPr/>
            <p:nvPr/>
          </p:nvSpPr>
          <p:spPr>
            <a:xfrm>
              <a:off x="6516216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4F097B1-00BC-4EF5-BF06-B157391181CA}"/>
                </a:ext>
              </a:extLst>
            </p:cNvPr>
            <p:cNvSpPr/>
            <p:nvPr/>
          </p:nvSpPr>
          <p:spPr>
            <a:xfrm>
              <a:off x="6099083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112ADC93-F2E1-4433-BDF2-88B4F4D78466}"/>
                </a:ext>
              </a:extLst>
            </p:cNvPr>
            <p:cNvSpPr/>
            <p:nvPr/>
          </p:nvSpPr>
          <p:spPr>
            <a:xfrm>
              <a:off x="6322511" y="376031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D61F3BDC-FC66-4AD3-BF47-05D1F7D42C04}"/>
                </a:ext>
              </a:extLst>
            </p:cNvPr>
            <p:cNvSpPr/>
            <p:nvPr/>
          </p:nvSpPr>
          <p:spPr>
            <a:xfrm>
              <a:off x="5875655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FE31D82B-C3BB-4DFB-9626-7A3321269E64}"/>
                </a:ext>
              </a:extLst>
            </p:cNvPr>
            <p:cNvSpPr/>
            <p:nvPr/>
          </p:nvSpPr>
          <p:spPr>
            <a:xfrm>
              <a:off x="5652264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CBF4A442-1F15-454B-B3D2-6C47178AB08E}"/>
                </a:ext>
              </a:extLst>
            </p:cNvPr>
            <p:cNvSpPr/>
            <p:nvPr/>
          </p:nvSpPr>
          <p:spPr>
            <a:xfrm>
              <a:off x="6516216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FF5ED010-FA59-4E39-A6DA-13694227FD43}"/>
                </a:ext>
              </a:extLst>
            </p:cNvPr>
            <p:cNvSpPr/>
            <p:nvPr/>
          </p:nvSpPr>
          <p:spPr>
            <a:xfrm>
              <a:off x="6106487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2F7C216-7016-428B-A635-8EE3151590F0}"/>
                </a:ext>
              </a:extLst>
            </p:cNvPr>
            <p:cNvSpPr/>
            <p:nvPr/>
          </p:nvSpPr>
          <p:spPr>
            <a:xfrm>
              <a:off x="6329915" y="3580001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1DF0DE2-5586-4936-8D29-2D2551C4D745}"/>
                </a:ext>
              </a:extLst>
            </p:cNvPr>
            <p:cNvSpPr/>
            <p:nvPr/>
          </p:nvSpPr>
          <p:spPr>
            <a:xfrm>
              <a:off x="5883059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061B225-2CAD-45C3-81E6-60E156381306}"/>
                </a:ext>
              </a:extLst>
            </p:cNvPr>
            <p:cNvSpPr/>
            <p:nvPr/>
          </p:nvSpPr>
          <p:spPr>
            <a:xfrm>
              <a:off x="5659668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5A760AA6-1170-47CA-B4A1-5DDA24A21805}"/>
                </a:ext>
              </a:extLst>
            </p:cNvPr>
            <p:cNvSpPr/>
            <p:nvPr/>
          </p:nvSpPr>
          <p:spPr>
            <a:xfrm>
              <a:off x="6523620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D08023BE-A3A2-457D-AE7F-D2DA4910DB0E}"/>
              </a:ext>
            </a:extLst>
          </p:cNvPr>
          <p:cNvSpPr txBox="1"/>
          <p:nvPr/>
        </p:nvSpPr>
        <p:spPr>
          <a:xfrm>
            <a:off x="179512" y="3523873"/>
            <a:ext cx="3613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</a:rPr>
              <a:t>batch.size</a:t>
            </a:r>
            <a:r>
              <a:rPr lang="zh-CN" altLang="zh-CN" sz="1400" dirty="0">
                <a:solidFill>
                  <a:srgbClr val="FF0000"/>
                </a:solidFill>
              </a:rPr>
              <a:t>：批次大小</a:t>
            </a:r>
            <a:r>
              <a:rPr lang="zh-CN" altLang="en-US" sz="1400" dirty="0">
                <a:solidFill>
                  <a:srgbClr val="FF0000"/>
                </a:solidFill>
              </a:rPr>
              <a:t>，默认</a:t>
            </a:r>
            <a:r>
              <a:rPr lang="en-US" altLang="zh-CN" sz="1400" dirty="0">
                <a:solidFill>
                  <a:srgbClr val="FF0000"/>
                </a:solidFill>
              </a:rPr>
              <a:t>16k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0000"/>
                </a:solidFill>
              </a:rPr>
              <a:t>linger.ms</a:t>
            </a:r>
            <a:r>
              <a:rPr lang="zh-CN" altLang="en-US" sz="1400" dirty="0">
                <a:solidFill>
                  <a:srgbClr val="FF0000"/>
                </a:solidFill>
              </a:rPr>
              <a:t>：等待时间，修改为</a:t>
            </a:r>
            <a:r>
              <a:rPr lang="en-US" altLang="zh-CN" sz="1400" dirty="0">
                <a:solidFill>
                  <a:srgbClr val="FF0000"/>
                </a:solidFill>
              </a:rPr>
              <a:t>5-100ms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1C2F22-667D-41FC-A723-31FD9D84D115}"/>
              </a:ext>
            </a:extLst>
          </p:cNvPr>
          <p:cNvSpPr txBox="1"/>
          <p:nvPr/>
        </p:nvSpPr>
        <p:spPr>
          <a:xfrm>
            <a:off x="4702172" y="645588"/>
            <a:ext cx="1430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一次拉一个，来了就走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EF6734F-3089-4394-9425-11B5BF65D99A}"/>
              </a:ext>
            </a:extLst>
          </p:cNvPr>
          <p:cNvGrpSpPr/>
          <p:nvPr/>
        </p:nvGrpSpPr>
        <p:grpSpPr>
          <a:xfrm>
            <a:off x="7935691" y="3349632"/>
            <a:ext cx="1087380" cy="720080"/>
            <a:chOff x="4460170" y="3579862"/>
            <a:chExt cx="1087380" cy="72008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F8442D6-26EE-4B6B-A7CA-6484647F87AE}"/>
                </a:ext>
              </a:extLst>
            </p:cNvPr>
            <p:cNvSpPr/>
            <p:nvPr/>
          </p:nvSpPr>
          <p:spPr>
            <a:xfrm>
              <a:off x="4464868" y="3579862"/>
              <a:ext cx="1080120" cy="7200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4767213A-7D30-44B2-A27F-72C12F65B97C}"/>
                </a:ext>
              </a:extLst>
            </p:cNvPr>
            <p:cNvSpPr/>
            <p:nvPr/>
          </p:nvSpPr>
          <p:spPr>
            <a:xfrm>
              <a:off x="4906989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AFC9F44D-E1A0-4C47-B9C7-8D5C7077DC5E}"/>
                </a:ext>
              </a:extLst>
            </p:cNvPr>
            <p:cNvSpPr/>
            <p:nvPr/>
          </p:nvSpPr>
          <p:spPr>
            <a:xfrm>
              <a:off x="5130417" y="395108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EBA53010-391A-4419-937A-4AA2282D75E5}"/>
                </a:ext>
              </a:extLst>
            </p:cNvPr>
            <p:cNvSpPr/>
            <p:nvPr/>
          </p:nvSpPr>
          <p:spPr>
            <a:xfrm>
              <a:off x="4683561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D0AF59B8-0A1D-4CD8-BCEA-5BD7DF3446B9}"/>
                </a:ext>
              </a:extLst>
            </p:cNvPr>
            <p:cNvSpPr/>
            <p:nvPr/>
          </p:nvSpPr>
          <p:spPr>
            <a:xfrm>
              <a:off x="4460170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3FCA5CD4-8D44-4436-A932-701A41E86E00}"/>
                </a:ext>
              </a:extLst>
            </p:cNvPr>
            <p:cNvSpPr/>
            <p:nvPr/>
          </p:nvSpPr>
          <p:spPr>
            <a:xfrm>
              <a:off x="5324122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B212A78B-9F9D-46B2-B6C1-5C28A5470C6D}"/>
                </a:ext>
              </a:extLst>
            </p:cNvPr>
            <p:cNvSpPr/>
            <p:nvPr/>
          </p:nvSpPr>
          <p:spPr>
            <a:xfrm>
              <a:off x="4906989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B3F9BF11-9F06-4FB8-98F2-7473FD035A4D}"/>
                </a:ext>
              </a:extLst>
            </p:cNvPr>
            <p:cNvSpPr/>
            <p:nvPr/>
          </p:nvSpPr>
          <p:spPr>
            <a:xfrm>
              <a:off x="5130417" y="4149348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5CEC692C-1300-4C8F-AAE0-29E04F3A0A8A}"/>
                </a:ext>
              </a:extLst>
            </p:cNvPr>
            <p:cNvSpPr/>
            <p:nvPr/>
          </p:nvSpPr>
          <p:spPr>
            <a:xfrm>
              <a:off x="4683561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07F541EC-7512-40FC-A5FB-4347C6F42F3A}"/>
                </a:ext>
              </a:extLst>
            </p:cNvPr>
            <p:cNvSpPr/>
            <p:nvPr/>
          </p:nvSpPr>
          <p:spPr>
            <a:xfrm>
              <a:off x="4460170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CB7F977-0307-45B0-9E4B-446F50C90FD6}"/>
                </a:ext>
              </a:extLst>
            </p:cNvPr>
            <p:cNvSpPr/>
            <p:nvPr/>
          </p:nvSpPr>
          <p:spPr>
            <a:xfrm>
              <a:off x="5324122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3EE1470A-6B7C-4B7D-9B31-6B0DE8AAD95E}"/>
                </a:ext>
              </a:extLst>
            </p:cNvPr>
            <p:cNvSpPr/>
            <p:nvPr/>
          </p:nvSpPr>
          <p:spPr>
            <a:xfrm>
              <a:off x="4906989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E209146B-F092-4376-AAFC-A3510FA50EF0}"/>
                </a:ext>
              </a:extLst>
            </p:cNvPr>
            <p:cNvSpPr/>
            <p:nvPr/>
          </p:nvSpPr>
          <p:spPr>
            <a:xfrm>
              <a:off x="5130417" y="376031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A8FD45E4-F764-4243-B527-E27304C3FCC0}"/>
                </a:ext>
              </a:extLst>
            </p:cNvPr>
            <p:cNvSpPr/>
            <p:nvPr/>
          </p:nvSpPr>
          <p:spPr>
            <a:xfrm>
              <a:off x="4683561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56CEB24D-79F7-4ED1-9619-986E16317242}"/>
                </a:ext>
              </a:extLst>
            </p:cNvPr>
            <p:cNvSpPr/>
            <p:nvPr/>
          </p:nvSpPr>
          <p:spPr>
            <a:xfrm>
              <a:off x="4460170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B57AFD30-A7DC-4AA8-973D-348682EBBEC4}"/>
                </a:ext>
              </a:extLst>
            </p:cNvPr>
            <p:cNvSpPr/>
            <p:nvPr/>
          </p:nvSpPr>
          <p:spPr>
            <a:xfrm>
              <a:off x="5324122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6A2C9227-16DE-4E1B-B4E6-0FA8E33EC011}"/>
                </a:ext>
              </a:extLst>
            </p:cNvPr>
            <p:cNvSpPr/>
            <p:nvPr/>
          </p:nvSpPr>
          <p:spPr>
            <a:xfrm>
              <a:off x="4914393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03236D52-45E9-406E-A003-3BA7F8428C5E}"/>
                </a:ext>
              </a:extLst>
            </p:cNvPr>
            <p:cNvSpPr/>
            <p:nvPr/>
          </p:nvSpPr>
          <p:spPr>
            <a:xfrm>
              <a:off x="5137821" y="3580001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1BB0B60D-A5EE-48E1-84E9-E26BF4344201}"/>
                </a:ext>
              </a:extLst>
            </p:cNvPr>
            <p:cNvSpPr/>
            <p:nvPr/>
          </p:nvSpPr>
          <p:spPr>
            <a:xfrm>
              <a:off x="4690965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56DECE54-E60B-4C63-A579-E30432A93F6D}"/>
                </a:ext>
              </a:extLst>
            </p:cNvPr>
            <p:cNvSpPr/>
            <p:nvPr/>
          </p:nvSpPr>
          <p:spPr>
            <a:xfrm>
              <a:off x="4467574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7542532-A74B-4766-879B-6F9C5CDE9DED}"/>
                </a:ext>
              </a:extLst>
            </p:cNvPr>
            <p:cNvSpPr/>
            <p:nvPr/>
          </p:nvSpPr>
          <p:spPr>
            <a:xfrm>
              <a:off x="5331526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CEE0626-6E67-41E8-B59C-81AAB47E2E52}"/>
              </a:ext>
            </a:extLst>
          </p:cNvPr>
          <p:cNvGrpSpPr/>
          <p:nvPr/>
        </p:nvGrpSpPr>
        <p:grpSpPr>
          <a:xfrm>
            <a:off x="7943095" y="4306441"/>
            <a:ext cx="1087380" cy="720080"/>
            <a:chOff x="3242494" y="3579723"/>
            <a:chExt cx="1087380" cy="720080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A90E33DE-B338-4BB5-A2E2-78B1433D443C}"/>
                </a:ext>
              </a:extLst>
            </p:cNvPr>
            <p:cNvSpPr/>
            <p:nvPr/>
          </p:nvSpPr>
          <p:spPr>
            <a:xfrm>
              <a:off x="3247192" y="3579723"/>
              <a:ext cx="1080120" cy="7200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832E8098-4D0A-4677-AFD2-C0E0D6C8EB6C}"/>
                </a:ext>
              </a:extLst>
            </p:cNvPr>
            <p:cNvSpPr/>
            <p:nvPr/>
          </p:nvSpPr>
          <p:spPr>
            <a:xfrm>
              <a:off x="3689313" y="3950805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F8F61A12-6F39-4819-A13E-53F60E7EA7CC}"/>
                </a:ext>
              </a:extLst>
            </p:cNvPr>
            <p:cNvSpPr/>
            <p:nvPr/>
          </p:nvSpPr>
          <p:spPr>
            <a:xfrm>
              <a:off x="3912741" y="395094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DD5EE741-6D98-4EB0-8D17-491C81DD94E8}"/>
                </a:ext>
              </a:extLst>
            </p:cNvPr>
            <p:cNvSpPr/>
            <p:nvPr/>
          </p:nvSpPr>
          <p:spPr>
            <a:xfrm>
              <a:off x="3465885" y="3950805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2D34B0A8-E64B-4F3E-80C5-BE029FE4BBFC}"/>
                </a:ext>
              </a:extLst>
            </p:cNvPr>
            <p:cNvSpPr/>
            <p:nvPr/>
          </p:nvSpPr>
          <p:spPr>
            <a:xfrm>
              <a:off x="3242494" y="3950805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D0E2F30D-F4D8-476E-A1AD-A4C5F1E1B53F}"/>
                </a:ext>
              </a:extLst>
            </p:cNvPr>
            <p:cNvSpPr/>
            <p:nvPr/>
          </p:nvSpPr>
          <p:spPr>
            <a:xfrm>
              <a:off x="4106446" y="3950805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93BBA93F-768A-465D-AF87-F5A947846B42}"/>
                </a:ext>
              </a:extLst>
            </p:cNvPr>
            <p:cNvSpPr/>
            <p:nvPr/>
          </p:nvSpPr>
          <p:spPr>
            <a:xfrm>
              <a:off x="3689313" y="4149070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C97E9F2A-D78C-4F92-B706-643E95680891}"/>
                </a:ext>
              </a:extLst>
            </p:cNvPr>
            <p:cNvSpPr/>
            <p:nvPr/>
          </p:nvSpPr>
          <p:spPr>
            <a:xfrm>
              <a:off x="3912741" y="4149209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B958AC92-13D5-4144-9848-F7790494AFA7}"/>
                </a:ext>
              </a:extLst>
            </p:cNvPr>
            <p:cNvSpPr/>
            <p:nvPr/>
          </p:nvSpPr>
          <p:spPr>
            <a:xfrm>
              <a:off x="3465885" y="4149070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06507400-BD87-4642-8ACF-BA4DD61FA6B9}"/>
                </a:ext>
              </a:extLst>
            </p:cNvPr>
            <p:cNvSpPr/>
            <p:nvPr/>
          </p:nvSpPr>
          <p:spPr>
            <a:xfrm>
              <a:off x="3242494" y="4149070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1495F71E-4417-4CE3-8BC3-E7D78B895C75}"/>
                </a:ext>
              </a:extLst>
            </p:cNvPr>
            <p:cNvSpPr/>
            <p:nvPr/>
          </p:nvSpPr>
          <p:spPr>
            <a:xfrm>
              <a:off x="4106446" y="4149070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A74BEDB0-F91B-4774-87C0-CE225BA9DFCD}"/>
                </a:ext>
              </a:extLst>
            </p:cNvPr>
            <p:cNvSpPr/>
            <p:nvPr/>
          </p:nvSpPr>
          <p:spPr>
            <a:xfrm>
              <a:off x="3689313" y="376003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DF3C28A4-29AD-4FB5-920C-07418E038C3C}"/>
                </a:ext>
              </a:extLst>
            </p:cNvPr>
            <p:cNvSpPr/>
            <p:nvPr/>
          </p:nvSpPr>
          <p:spPr>
            <a:xfrm>
              <a:off x="3912741" y="376017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45D9C857-5E32-4DE5-94AE-E823ED6A2FB9}"/>
                </a:ext>
              </a:extLst>
            </p:cNvPr>
            <p:cNvSpPr/>
            <p:nvPr/>
          </p:nvSpPr>
          <p:spPr>
            <a:xfrm>
              <a:off x="3465885" y="376003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8F140D7-9642-4AD7-B9CC-E9DCE9D262B9}"/>
                </a:ext>
              </a:extLst>
            </p:cNvPr>
            <p:cNvSpPr/>
            <p:nvPr/>
          </p:nvSpPr>
          <p:spPr>
            <a:xfrm>
              <a:off x="3242494" y="376003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2F750C06-0A61-4DEB-A46A-0737B4DB8176}"/>
                </a:ext>
              </a:extLst>
            </p:cNvPr>
            <p:cNvSpPr/>
            <p:nvPr/>
          </p:nvSpPr>
          <p:spPr>
            <a:xfrm>
              <a:off x="4106446" y="3760034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B70E7DD0-327A-4BDB-B629-A227F52C735C}"/>
                </a:ext>
              </a:extLst>
            </p:cNvPr>
            <p:cNvSpPr/>
            <p:nvPr/>
          </p:nvSpPr>
          <p:spPr>
            <a:xfrm>
              <a:off x="3696717" y="357972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52605763-AB87-4037-BEC1-84D06368064F}"/>
                </a:ext>
              </a:extLst>
            </p:cNvPr>
            <p:cNvSpPr/>
            <p:nvPr/>
          </p:nvSpPr>
          <p:spPr>
            <a:xfrm>
              <a:off x="3920145" y="3579862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1D43FEA3-2FFD-4C98-9E3F-EEDE0C669A17}"/>
                </a:ext>
              </a:extLst>
            </p:cNvPr>
            <p:cNvSpPr/>
            <p:nvPr/>
          </p:nvSpPr>
          <p:spPr>
            <a:xfrm>
              <a:off x="3473289" y="357972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80DE72CB-8457-41CC-AF79-82E983F51ED5}"/>
                </a:ext>
              </a:extLst>
            </p:cNvPr>
            <p:cNvSpPr/>
            <p:nvPr/>
          </p:nvSpPr>
          <p:spPr>
            <a:xfrm>
              <a:off x="3249898" y="357972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4FD2F499-0D1C-40D9-89CA-B9E465C2C9DD}"/>
                </a:ext>
              </a:extLst>
            </p:cNvPr>
            <p:cNvSpPr/>
            <p:nvPr/>
          </p:nvSpPr>
          <p:spPr>
            <a:xfrm>
              <a:off x="4113850" y="3579723"/>
              <a:ext cx="216024" cy="144016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639C66D-7580-457C-84F3-33C984F0E03B}"/>
              </a:ext>
            </a:extLst>
          </p:cNvPr>
          <p:cNvGrpSpPr/>
          <p:nvPr/>
        </p:nvGrpSpPr>
        <p:grpSpPr>
          <a:xfrm>
            <a:off x="7956376" y="4313003"/>
            <a:ext cx="1080120" cy="720080"/>
            <a:chOff x="957489" y="3904050"/>
            <a:chExt cx="1080120" cy="720080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FC8FE43B-951C-416F-A367-9C939E126207}"/>
                </a:ext>
              </a:extLst>
            </p:cNvPr>
            <p:cNvSpPr/>
            <p:nvPr/>
          </p:nvSpPr>
          <p:spPr>
            <a:xfrm>
              <a:off x="957489" y="3904050"/>
              <a:ext cx="1080120" cy="7200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33F373D5-1829-45CF-A8F3-83C7462F5732}"/>
                </a:ext>
              </a:extLst>
            </p:cNvPr>
            <p:cNvSpPr/>
            <p:nvPr/>
          </p:nvSpPr>
          <p:spPr>
            <a:xfrm>
              <a:off x="1458682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F2CB53FF-5D78-4958-B09A-EEF8B7CDB2C0}"/>
                </a:ext>
              </a:extLst>
            </p:cNvPr>
            <p:cNvSpPr/>
            <p:nvPr/>
          </p:nvSpPr>
          <p:spPr>
            <a:xfrm>
              <a:off x="1682110" y="434589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8C33A045-456D-4242-8D27-820673118565}"/>
                </a:ext>
              </a:extLst>
            </p:cNvPr>
            <p:cNvSpPr/>
            <p:nvPr/>
          </p:nvSpPr>
          <p:spPr>
            <a:xfrm>
              <a:off x="1235254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797A3F97-8504-45E5-BBA8-6759B39840F7}"/>
                </a:ext>
              </a:extLst>
            </p:cNvPr>
            <p:cNvSpPr/>
            <p:nvPr/>
          </p:nvSpPr>
          <p:spPr>
            <a:xfrm>
              <a:off x="1011863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E457951E-81B4-4550-B147-CB3D356DC6C8}"/>
                </a:ext>
              </a:extLst>
            </p:cNvPr>
            <p:cNvSpPr/>
            <p:nvPr/>
          </p:nvSpPr>
          <p:spPr>
            <a:xfrm>
              <a:off x="1875815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32139A8E-4B24-4821-ADA2-49B46E439293}"/>
                </a:ext>
              </a:extLst>
            </p:cNvPr>
            <p:cNvSpPr/>
            <p:nvPr/>
          </p:nvSpPr>
          <p:spPr>
            <a:xfrm>
              <a:off x="1458682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D5BB8655-92E7-4404-B213-5B68982B732F}"/>
                </a:ext>
              </a:extLst>
            </p:cNvPr>
            <p:cNvSpPr/>
            <p:nvPr/>
          </p:nvSpPr>
          <p:spPr>
            <a:xfrm>
              <a:off x="1682110" y="4535677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9068C9B4-0DA6-457E-AFAB-265C3BBFD46F}"/>
                </a:ext>
              </a:extLst>
            </p:cNvPr>
            <p:cNvSpPr/>
            <p:nvPr/>
          </p:nvSpPr>
          <p:spPr>
            <a:xfrm>
              <a:off x="1235254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AAB5E24C-24BE-491E-8870-0ECAE11CAD9F}"/>
                </a:ext>
              </a:extLst>
            </p:cNvPr>
            <p:cNvSpPr/>
            <p:nvPr/>
          </p:nvSpPr>
          <p:spPr>
            <a:xfrm>
              <a:off x="1011863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EF441709-36F3-4895-82A5-25801D7E93A6}"/>
                </a:ext>
              </a:extLst>
            </p:cNvPr>
            <p:cNvSpPr/>
            <p:nvPr/>
          </p:nvSpPr>
          <p:spPr>
            <a:xfrm>
              <a:off x="1875815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460D17EA-C61B-444C-8090-789A3D0078A8}"/>
                </a:ext>
              </a:extLst>
            </p:cNvPr>
            <p:cNvSpPr/>
            <p:nvPr/>
          </p:nvSpPr>
          <p:spPr>
            <a:xfrm>
              <a:off x="1458682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1C161EB2-6B64-4676-BE20-6EB168109DB6}"/>
                </a:ext>
              </a:extLst>
            </p:cNvPr>
            <p:cNvSpPr/>
            <p:nvPr/>
          </p:nvSpPr>
          <p:spPr>
            <a:xfrm>
              <a:off x="1682110" y="415611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647041BB-F983-4E90-A6E7-679A6A75F1EE}"/>
                </a:ext>
              </a:extLst>
            </p:cNvPr>
            <p:cNvSpPr/>
            <p:nvPr/>
          </p:nvSpPr>
          <p:spPr>
            <a:xfrm>
              <a:off x="1235254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F7208704-4EE6-44DC-8A7A-2251DBAD8E46}"/>
                </a:ext>
              </a:extLst>
            </p:cNvPr>
            <p:cNvSpPr/>
            <p:nvPr/>
          </p:nvSpPr>
          <p:spPr>
            <a:xfrm>
              <a:off x="1011863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54E9AADE-A827-408C-9FD5-95B0659C309C}"/>
                </a:ext>
              </a:extLst>
            </p:cNvPr>
            <p:cNvSpPr/>
            <p:nvPr/>
          </p:nvSpPr>
          <p:spPr>
            <a:xfrm>
              <a:off x="1875815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3E94D054-2A3B-4C61-9B63-9BCAB06FEED1}"/>
                </a:ext>
              </a:extLst>
            </p:cNvPr>
            <p:cNvSpPr/>
            <p:nvPr/>
          </p:nvSpPr>
          <p:spPr>
            <a:xfrm>
              <a:off x="1458682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37AC4557-6AEE-4094-A653-2082E4361BD6}"/>
                </a:ext>
              </a:extLst>
            </p:cNvPr>
            <p:cNvSpPr/>
            <p:nvPr/>
          </p:nvSpPr>
          <p:spPr>
            <a:xfrm>
              <a:off x="1682110" y="3966330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E5EC2524-2B19-4CDE-8BDA-898E74999FC2}"/>
                </a:ext>
              </a:extLst>
            </p:cNvPr>
            <p:cNvSpPr/>
            <p:nvPr/>
          </p:nvSpPr>
          <p:spPr>
            <a:xfrm>
              <a:off x="1235254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1D8EFC2C-55BF-423B-8F3E-222C929544D7}"/>
                </a:ext>
              </a:extLst>
            </p:cNvPr>
            <p:cNvSpPr/>
            <p:nvPr/>
          </p:nvSpPr>
          <p:spPr>
            <a:xfrm>
              <a:off x="1011863" y="3966191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84EDE0CC-6C57-463C-8C30-268DA3B65382}"/>
                </a:ext>
              </a:extLst>
            </p:cNvPr>
            <p:cNvSpPr/>
            <p:nvPr/>
          </p:nvSpPr>
          <p:spPr>
            <a:xfrm>
              <a:off x="1875815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AD28E2EC-5DD3-4893-A0F2-8BC40FA1D87D}"/>
                </a:ext>
              </a:extLst>
            </p:cNvPr>
            <p:cNvSpPr/>
            <p:nvPr/>
          </p:nvSpPr>
          <p:spPr>
            <a:xfrm>
              <a:off x="1458682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B9657A49-5E34-4B65-B3FE-22467A16AFE7}"/>
                </a:ext>
              </a:extLst>
            </p:cNvPr>
            <p:cNvSpPr/>
            <p:nvPr/>
          </p:nvSpPr>
          <p:spPr>
            <a:xfrm>
              <a:off x="1682110" y="444078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BE90E63E-EE56-480B-9A4D-BD010924DF64}"/>
                </a:ext>
              </a:extLst>
            </p:cNvPr>
            <p:cNvSpPr/>
            <p:nvPr/>
          </p:nvSpPr>
          <p:spPr>
            <a:xfrm>
              <a:off x="1235254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66E552C1-0693-492C-B6DD-D7B959D17AB8}"/>
                </a:ext>
              </a:extLst>
            </p:cNvPr>
            <p:cNvSpPr/>
            <p:nvPr/>
          </p:nvSpPr>
          <p:spPr>
            <a:xfrm>
              <a:off x="1011863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84ABC0BA-F87B-4A09-A0D0-3270922A8F01}"/>
                </a:ext>
              </a:extLst>
            </p:cNvPr>
            <p:cNvSpPr/>
            <p:nvPr/>
          </p:nvSpPr>
          <p:spPr>
            <a:xfrm>
              <a:off x="1875815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B9920D16-E9C4-4F1A-B5B9-2DF578AED124}"/>
                </a:ext>
              </a:extLst>
            </p:cNvPr>
            <p:cNvSpPr/>
            <p:nvPr/>
          </p:nvSpPr>
          <p:spPr>
            <a:xfrm>
              <a:off x="1458682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F8137A24-989F-444B-8528-0C1393C3803C}"/>
                </a:ext>
              </a:extLst>
            </p:cNvPr>
            <p:cNvSpPr/>
            <p:nvPr/>
          </p:nvSpPr>
          <p:spPr>
            <a:xfrm>
              <a:off x="1682110" y="425100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B5C5F24E-2BE7-42A4-B803-C1913D22D34B}"/>
                </a:ext>
              </a:extLst>
            </p:cNvPr>
            <p:cNvSpPr/>
            <p:nvPr/>
          </p:nvSpPr>
          <p:spPr>
            <a:xfrm>
              <a:off x="1235254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B3B26282-3F8E-4CCF-B760-E2E6F6282558}"/>
                </a:ext>
              </a:extLst>
            </p:cNvPr>
            <p:cNvSpPr/>
            <p:nvPr/>
          </p:nvSpPr>
          <p:spPr>
            <a:xfrm>
              <a:off x="1011863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F1F8280F-B7D8-4475-BAC1-5B9EA992BBB9}"/>
                </a:ext>
              </a:extLst>
            </p:cNvPr>
            <p:cNvSpPr/>
            <p:nvPr/>
          </p:nvSpPr>
          <p:spPr>
            <a:xfrm>
              <a:off x="1875815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8EC23D0F-31A8-41BB-A78B-30BD5FBEC596}"/>
                </a:ext>
              </a:extLst>
            </p:cNvPr>
            <p:cNvSpPr/>
            <p:nvPr/>
          </p:nvSpPr>
          <p:spPr>
            <a:xfrm>
              <a:off x="1458682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76D28F9C-FEFC-4F0C-9978-041D48119624}"/>
                </a:ext>
              </a:extLst>
            </p:cNvPr>
            <p:cNvSpPr/>
            <p:nvPr/>
          </p:nvSpPr>
          <p:spPr>
            <a:xfrm>
              <a:off x="1682110" y="4061221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9C64E685-DB0D-4A0B-AD30-7B6F38C50DCD}"/>
                </a:ext>
              </a:extLst>
            </p:cNvPr>
            <p:cNvSpPr/>
            <p:nvPr/>
          </p:nvSpPr>
          <p:spPr>
            <a:xfrm>
              <a:off x="1235254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439E17DA-53E7-4C05-AA0C-B00A17981295}"/>
                </a:ext>
              </a:extLst>
            </p:cNvPr>
            <p:cNvSpPr/>
            <p:nvPr/>
          </p:nvSpPr>
          <p:spPr>
            <a:xfrm>
              <a:off x="1011863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AC3BF38B-97C1-4C0D-91B8-43CD144C2A35}"/>
                </a:ext>
              </a:extLst>
            </p:cNvPr>
            <p:cNvSpPr/>
            <p:nvPr/>
          </p:nvSpPr>
          <p:spPr>
            <a:xfrm>
              <a:off x="1875815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8E58BC2E-BB3E-41A5-8BFC-1BB8BBEE53AD}"/>
              </a:ext>
            </a:extLst>
          </p:cNvPr>
          <p:cNvGrpSpPr/>
          <p:nvPr/>
        </p:nvGrpSpPr>
        <p:grpSpPr>
          <a:xfrm>
            <a:off x="7940389" y="3352921"/>
            <a:ext cx="1080120" cy="720080"/>
            <a:chOff x="957489" y="3904050"/>
            <a:chExt cx="1080120" cy="720080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732BDC11-9AAE-4506-9418-B1DBC9F0DF8E}"/>
                </a:ext>
              </a:extLst>
            </p:cNvPr>
            <p:cNvSpPr/>
            <p:nvPr/>
          </p:nvSpPr>
          <p:spPr>
            <a:xfrm>
              <a:off x="957489" y="3904050"/>
              <a:ext cx="1080120" cy="7200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EDBAC9BA-5D6D-4737-A6FC-BBD4CB62D9CD}"/>
                </a:ext>
              </a:extLst>
            </p:cNvPr>
            <p:cNvSpPr/>
            <p:nvPr/>
          </p:nvSpPr>
          <p:spPr>
            <a:xfrm>
              <a:off x="1458682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7456CC0A-6A1F-40DE-A9AC-2F34BC01AC55}"/>
                </a:ext>
              </a:extLst>
            </p:cNvPr>
            <p:cNvSpPr/>
            <p:nvPr/>
          </p:nvSpPr>
          <p:spPr>
            <a:xfrm>
              <a:off x="1682110" y="434589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2BBC60E7-8E42-4B2E-8B7A-B2A422CDCE22}"/>
                </a:ext>
              </a:extLst>
            </p:cNvPr>
            <p:cNvSpPr/>
            <p:nvPr/>
          </p:nvSpPr>
          <p:spPr>
            <a:xfrm>
              <a:off x="1235254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ED14999A-9DD8-4EAE-AF8D-318465CBEBF3}"/>
                </a:ext>
              </a:extLst>
            </p:cNvPr>
            <p:cNvSpPr/>
            <p:nvPr/>
          </p:nvSpPr>
          <p:spPr>
            <a:xfrm>
              <a:off x="1011863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873BE637-A189-415C-A358-44D6B41528A6}"/>
                </a:ext>
              </a:extLst>
            </p:cNvPr>
            <p:cNvSpPr/>
            <p:nvPr/>
          </p:nvSpPr>
          <p:spPr>
            <a:xfrm>
              <a:off x="1875815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AD17F4FC-7E3B-482C-B325-8804FF17E604}"/>
                </a:ext>
              </a:extLst>
            </p:cNvPr>
            <p:cNvSpPr/>
            <p:nvPr/>
          </p:nvSpPr>
          <p:spPr>
            <a:xfrm>
              <a:off x="1458682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08C5890D-4FC2-4D8F-B916-F36D50955E4D}"/>
                </a:ext>
              </a:extLst>
            </p:cNvPr>
            <p:cNvSpPr/>
            <p:nvPr/>
          </p:nvSpPr>
          <p:spPr>
            <a:xfrm>
              <a:off x="1682110" y="4535677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0C186920-95F2-4798-8773-06C4A39ADEC3}"/>
                </a:ext>
              </a:extLst>
            </p:cNvPr>
            <p:cNvSpPr/>
            <p:nvPr/>
          </p:nvSpPr>
          <p:spPr>
            <a:xfrm>
              <a:off x="1235254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E37D388B-9187-4D3A-9465-78052D347455}"/>
                </a:ext>
              </a:extLst>
            </p:cNvPr>
            <p:cNvSpPr/>
            <p:nvPr/>
          </p:nvSpPr>
          <p:spPr>
            <a:xfrm>
              <a:off x="1011863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D74B62EE-F78D-4574-B740-96D882EF0DAC}"/>
                </a:ext>
              </a:extLst>
            </p:cNvPr>
            <p:cNvSpPr/>
            <p:nvPr/>
          </p:nvSpPr>
          <p:spPr>
            <a:xfrm>
              <a:off x="1875815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3" name="矩形: 圆角 122">
              <a:extLst>
                <a:ext uri="{FF2B5EF4-FFF2-40B4-BE49-F238E27FC236}">
                  <a16:creationId xmlns:a16="http://schemas.microsoft.com/office/drawing/2014/main" id="{898719C9-9415-4F1B-95D8-86B661E2E44F}"/>
                </a:ext>
              </a:extLst>
            </p:cNvPr>
            <p:cNvSpPr/>
            <p:nvPr/>
          </p:nvSpPr>
          <p:spPr>
            <a:xfrm>
              <a:off x="1458682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2D5890EB-B56E-4664-A342-7465701E852F}"/>
                </a:ext>
              </a:extLst>
            </p:cNvPr>
            <p:cNvSpPr/>
            <p:nvPr/>
          </p:nvSpPr>
          <p:spPr>
            <a:xfrm>
              <a:off x="1682110" y="415611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2DBBBDDA-6AAD-4342-A715-702EBAB28390}"/>
                </a:ext>
              </a:extLst>
            </p:cNvPr>
            <p:cNvSpPr/>
            <p:nvPr/>
          </p:nvSpPr>
          <p:spPr>
            <a:xfrm>
              <a:off x="1235254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491BE8FE-1395-4465-A06D-A651E890C326}"/>
                </a:ext>
              </a:extLst>
            </p:cNvPr>
            <p:cNvSpPr/>
            <p:nvPr/>
          </p:nvSpPr>
          <p:spPr>
            <a:xfrm>
              <a:off x="1011863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AD85AF62-07C8-45C6-94DC-5E0951F46E57}"/>
                </a:ext>
              </a:extLst>
            </p:cNvPr>
            <p:cNvSpPr/>
            <p:nvPr/>
          </p:nvSpPr>
          <p:spPr>
            <a:xfrm>
              <a:off x="1875815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4E7C0F51-3387-4C41-8DC6-2B7DB3568F20}"/>
                </a:ext>
              </a:extLst>
            </p:cNvPr>
            <p:cNvSpPr/>
            <p:nvPr/>
          </p:nvSpPr>
          <p:spPr>
            <a:xfrm>
              <a:off x="1458682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133109E8-0ACA-4E5B-BE1B-E6FC9EAB87F7}"/>
                </a:ext>
              </a:extLst>
            </p:cNvPr>
            <p:cNvSpPr/>
            <p:nvPr/>
          </p:nvSpPr>
          <p:spPr>
            <a:xfrm>
              <a:off x="1682110" y="3966330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88B79905-6FA7-4998-BCD6-DD18B9DA8678}"/>
                </a:ext>
              </a:extLst>
            </p:cNvPr>
            <p:cNvSpPr/>
            <p:nvPr/>
          </p:nvSpPr>
          <p:spPr>
            <a:xfrm>
              <a:off x="1235254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A4213113-F1E5-4A18-A80D-90F7C902DF44}"/>
                </a:ext>
              </a:extLst>
            </p:cNvPr>
            <p:cNvSpPr/>
            <p:nvPr/>
          </p:nvSpPr>
          <p:spPr>
            <a:xfrm>
              <a:off x="1011863" y="3966191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B53222FC-162B-4327-B102-D7B2C140EE5C}"/>
                </a:ext>
              </a:extLst>
            </p:cNvPr>
            <p:cNvSpPr/>
            <p:nvPr/>
          </p:nvSpPr>
          <p:spPr>
            <a:xfrm>
              <a:off x="1875815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AE47AD20-02E8-46C5-AAA5-E9F58B7BF28C}"/>
                </a:ext>
              </a:extLst>
            </p:cNvPr>
            <p:cNvSpPr/>
            <p:nvPr/>
          </p:nvSpPr>
          <p:spPr>
            <a:xfrm>
              <a:off x="1458682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D9C5B9AD-E108-4036-B0DC-AC1738E02556}"/>
                </a:ext>
              </a:extLst>
            </p:cNvPr>
            <p:cNvSpPr/>
            <p:nvPr/>
          </p:nvSpPr>
          <p:spPr>
            <a:xfrm>
              <a:off x="1682110" y="444078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267C165F-EEEE-429C-8401-704E02B07DBA}"/>
                </a:ext>
              </a:extLst>
            </p:cNvPr>
            <p:cNvSpPr/>
            <p:nvPr/>
          </p:nvSpPr>
          <p:spPr>
            <a:xfrm>
              <a:off x="1235254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0A46F3E4-EAD8-40C5-8D6C-A744AEFF94DB}"/>
                </a:ext>
              </a:extLst>
            </p:cNvPr>
            <p:cNvSpPr/>
            <p:nvPr/>
          </p:nvSpPr>
          <p:spPr>
            <a:xfrm>
              <a:off x="1011863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7" name="矩形: 圆角 136">
              <a:extLst>
                <a:ext uri="{FF2B5EF4-FFF2-40B4-BE49-F238E27FC236}">
                  <a16:creationId xmlns:a16="http://schemas.microsoft.com/office/drawing/2014/main" id="{42AC1DA9-DCC4-42E2-B494-5B5E2246EEBF}"/>
                </a:ext>
              </a:extLst>
            </p:cNvPr>
            <p:cNvSpPr/>
            <p:nvPr/>
          </p:nvSpPr>
          <p:spPr>
            <a:xfrm>
              <a:off x="1875815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9B41BA9C-1A37-418B-A057-ABA31E4A9544}"/>
                </a:ext>
              </a:extLst>
            </p:cNvPr>
            <p:cNvSpPr/>
            <p:nvPr/>
          </p:nvSpPr>
          <p:spPr>
            <a:xfrm>
              <a:off x="1458682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39263DC1-9C20-40FE-BAB3-A53CCDB6F0DF}"/>
                </a:ext>
              </a:extLst>
            </p:cNvPr>
            <p:cNvSpPr/>
            <p:nvPr/>
          </p:nvSpPr>
          <p:spPr>
            <a:xfrm>
              <a:off x="1682110" y="425100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2D870CB6-3CB0-4085-B6D4-E3CCA5EA4793}"/>
                </a:ext>
              </a:extLst>
            </p:cNvPr>
            <p:cNvSpPr/>
            <p:nvPr/>
          </p:nvSpPr>
          <p:spPr>
            <a:xfrm>
              <a:off x="1235254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A9DFD9E6-CBF4-493E-89F8-EE723F8BB406}"/>
                </a:ext>
              </a:extLst>
            </p:cNvPr>
            <p:cNvSpPr/>
            <p:nvPr/>
          </p:nvSpPr>
          <p:spPr>
            <a:xfrm>
              <a:off x="1011863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9BA9A436-DB82-4E00-B023-96DA5AEEEBB6}"/>
                </a:ext>
              </a:extLst>
            </p:cNvPr>
            <p:cNvSpPr/>
            <p:nvPr/>
          </p:nvSpPr>
          <p:spPr>
            <a:xfrm>
              <a:off x="1875815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10D756D7-A4BD-4F3A-A8B4-9D432BD7CB30}"/>
                </a:ext>
              </a:extLst>
            </p:cNvPr>
            <p:cNvSpPr/>
            <p:nvPr/>
          </p:nvSpPr>
          <p:spPr>
            <a:xfrm>
              <a:off x="1458682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BB8385E5-375A-4082-8EFA-831FE16ABEBD}"/>
                </a:ext>
              </a:extLst>
            </p:cNvPr>
            <p:cNvSpPr/>
            <p:nvPr/>
          </p:nvSpPr>
          <p:spPr>
            <a:xfrm>
              <a:off x="1682110" y="4061221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EB860637-1E5C-4AF3-81AB-27B87978B40B}"/>
                </a:ext>
              </a:extLst>
            </p:cNvPr>
            <p:cNvSpPr/>
            <p:nvPr/>
          </p:nvSpPr>
          <p:spPr>
            <a:xfrm>
              <a:off x="1235254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D88FADE5-A5E8-41D5-8C77-3603D10E8697}"/>
                </a:ext>
              </a:extLst>
            </p:cNvPr>
            <p:cNvSpPr/>
            <p:nvPr/>
          </p:nvSpPr>
          <p:spPr>
            <a:xfrm>
              <a:off x="1011863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BE4631D3-CAB9-4706-A22D-493B6501D4EE}"/>
                </a:ext>
              </a:extLst>
            </p:cNvPr>
            <p:cNvSpPr/>
            <p:nvPr/>
          </p:nvSpPr>
          <p:spPr>
            <a:xfrm>
              <a:off x="1875815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8E4639B9-B965-4F76-AE8D-60F4E91FF4C1}"/>
              </a:ext>
            </a:extLst>
          </p:cNvPr>
          <p:cNvGrpSpPr/>
          <p:nvPr/>
        </p:nvGrpSpPr>
        <p:grpSpPr>
          <a:xfrm>
            <a:off x="4915982" y="4080347"/>
            <a:ext cx="1080120" cy="720080"/>
            <a:chOff x="957489" y="3904050"/>
            <a:chExt cx="1080120" cy="720080"/>
          </a:xfrm>
        </p:grpSpPr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4B716EB0-23BC-4CCD-9B58-2C549A0CD592}"/>
                </a:ext>
              </a:extLst>
            </p:cNvPr>
            <p:cNvSpPr/>
            <p:nvPr/>
          </p:nvSpPr>
          <p:spPr>
            <a:xfrm>
              <a:off x="957489" y="3904050"/>
              <a:ext cx="1080120" cy="72008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AC85185B-910F-4998-83C3-26E89FF6B2FF}"/>
                </a:ext>
              </a:extLst>
            </p:cNvPr>
            <p:cNvSpPr/>
            <p:nvPr/>
          </p:nvSpPr>
          <p:spPr>
            <a:xfrm>
              <a:off x="1458682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BF17FAED-D8A4-4448-A6AB-31991A358360}"/>
                </a:ext>
              </a:extLst>
            </p:cNvPr>
            <p:cNvSpPr/>
            <p:nvPr/>
          </p:nvSpPr>
          <p:spPr>
            <a:xfrm>
              <a:off x="1682110" y="434589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9711EDB2-EDD0-4A1B-9676-E20AADE84F6B}"/>
                </a:ext>
              </a:extLst>
            </p:cNvPr>
            <p:cNvSpPr/>
            <p:nvPr/>
          </p:nvSpPr>
          <p:spPr>
            <a:xfrm>
              <a:off x="1235254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D0213D2B-9CCA-43CF-AB05-4D3A8BFBC410}"/>
                </a:ext>
              </a:extLst>
            </p:cNvPr>
            <p:cNvSpPr/>
            <p:nvPr/>
          </p:nvSpPr>
          <p:spPr>
            <a:xfrm>
              <a:off x="1011863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47A6DDEE-3E6B-4EB6-8AD2-5063F21B4A07}"/>
                </a:ext>
              </a:extLst>
            </p:cNvPr>
            <p:cNvSpPr/>
            <p:nvPr/>
          </p:nvSpPr>
          <p:spPr>
            <a:xfrm>
              <a:off x="1875815" y="434575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9BE60554-8A20-4638-AAA5-91F8DD92CAB7}"/>
                </a:ext>
              </a:extLst>
            </p:cNvPr>
            <p:cNvSpPr/>
            <p:nvPr/>
          </p:nvSpPr>
          <p:spPr>
            <a:xfrm>
              <a:off x="1458682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1872EE18-2B95-4FA9-A787-34FA65E44C22}"/>
                </a:ext>
              </a:extLst>
            </p:cNvPr>
            <p:cNvSpPr/>
            <p:nvPr/>
          </p:nvSpPr>
          <p:spPr>
            <a:xfrm>
              <a:off x="1682110" y="4535677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50A6121A-A7FD-42DF-8085-F5349E0A0EC3}"/>
                </a:ext>
              </a:extLst>
            </p:cNvPr>
            <p:cNvSpPr/>
            <p:nvPr/>
          </p:nvSpPr>
          <p:spPr>
            <a:xfrm>
              <a:off x="1235254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B4D10B54-CE73-4B0E-86BA-97C25C180124}"/>
                </a:ext>
              </a:extLst>
            </p:cNvPr>
            <p:cNvSpPr/>
            <p:nvPr/>
          </p:nvSpPr>
          <p:spPr>
            <a:xfrm>
              <a:off x="1011863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D8E761CB-3BA0-4B50-8366-FC90F1873F33}"/>
                </a:ext>
              </a:extLst>
            </p:cNvPr>
            <p:cNvSpPr/>
            <p:nvPr/>
          </p:nvSpPr>
          <p:spPr>
            <a:xfrm>
              <a:off x="1875815" y="4535538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C5A97884-C8D6-4FDA-AB81-CBEE1D322EE9}"/>
                </a:ext>
              </a:extLst>
            </p:cNvPr>
            <p:cNvSpPr/>
            <p:nvPr/>
          </p:nvSpPr>
          <p:spPr>
            <a:xfrm>
              <a:off x="1458682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9A2B9C0A-E3D4-4CB4-A6D3-EA7F7F1C7D3B}"/>
                </a:ext>
              </a:extLst>
            </p:cNvPr>
            <p:cNvSpPr/>
            <p:nvPr/>
          </p:nvSpPr>
          <p:spPr>
            <a:xfrm>
              <a:off x="1682110" y="415611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A02E7EA0-1B3E-4FA0-8191-71A66823ED85}"/>
                </a:ext>
              </a:extLst>
            </p:cNvPr>
            <p:cNvSpPr/>
            <p:nvPr/>
          </p:nvSpPr>
          <p:spPr>
            <a:xfrm>
              <a:off x="1235254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259A1FAD-E1AE-4D89-B0F3-5A0B6FDE9164}"/>
                </a:ext>
              </a:extLst>
            </p:cNvPr>
            <p:cNvSpPr/>
            <p:nvPr/>
          </p:nvSpPr>
          <p:spPr>
            <a:xfrm>
              <a:off x="1011863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F7599102-5AD2-4C9B-B334-8B1BB177F3CF}"/>
                </a:ext>
              </a:extLst>
            </p:cNvPr>
            <p:cNvSpPr/>
            <p:nvPr/>
          </p:nvSpPr>
          <p:spPr>
            <a:xfrm>
              <a:off x="1875815" y="415597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33D34004-79E2-4054-AB89-ADFBACDA45A2}"/>
                </a:ext>
              </a:extLst>
            </p:cNvPr>
            <p:cNvSpPr/>
            <p:nvPr/>
          </p:nvSpPr>
          <p:spPr>
            <a:xfrm>
              <a:off x="1458682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FE0FAE87-B21B-4BF9-BF29-DDFB1F387D61}"/>
                </a:ext>
              </a:extLst>
            </p:cNvPr>
            <p:cNvSpPr/>
            <p:nvPr/>
          </p:nvSpPr>
          <p:spPr>
            <a:xfrm>
              <a:off x="1682110" y="3966330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3EEC92FA-AF45-4A6A-AA96-E86855A3946C}"/>
                </a:ext>
              </a:extLst>
            </p:cNvPr>
            <p:cNvSpPr/>
            <p:nvPr/>
          </p:nvSpPr>
          <p:spPr>
            <a:xfrm>
              <a:off x="1235254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CF9CC057-38D5-4B12-85E1-5E290E76685E}"/>
                </a:ext>
              </a:extLst>
            </p:cNvPr>
            <p:cNvSpPr/>
            <p:nvPr/>
          </p:nvSpPr>
          <p:spPr>
            <a:xfrm>
              <a:off x="1011863" y="3966191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73F1A0EB-3FB7-48A3-824B-564011B86CFD}"/>
                </a:ext>
              </a:extLst>
            </p:cNvPr>
            <p:cNvSpPr/>
            <p:nvPr/>
          </p:nvSpPr>
          <p:spPr>
            <a:xfrm>
              <a:off x="1875815" y="3966191"/>
              <a:ext cx="109709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EA156E4C-0DAC-417C-98B0-C4A539799544}"/>
                </a:ext>
              </a:extLst>
            </p:cNvPr>
            <p:cNvSpPr/>
            <p:nvPr/>
          </p:nvSpPr>
          <p:spPr>
            <a:xfrm>
              <a:off x="1458682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EAB78A9B-DEE5-43C6-BA8E-20CCD73CA9B7}"/>
                </a:ext>
              </a:extLst>
            </p:cNvPr>
            <p:cNvSpPr/>
            <p:nvPr/>
          </p:nvSpPr>
          <p:spPr>
            <a:xfrm>
              <a:off x="1682110" y="4440785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08BA77B3-457D-4B67-94AC-7C95499B572C}"/>
                </a:ext>
              </a:extLst>
            </p:cNvPr>
            <p:cNvSpPr/>
            <p:nvPr/>
          </p:nvSpPr>
          <p:spPr>
            <a:xfrm>
              <a:off x="1235254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D4B84DE2-E310-45A5-B3B3-FA0E05D63869}"/>
                </a:ext>
              </a:extLst>
            </p:cNvPr>
            <p:cNvSpPr/>
            <p:nvPr/>
          </p:nvSpPr>
          <p:spPr>
            <a:xfrm>
              <a:off x="1011863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6CF4C9E1-E967-42FB-8DD3-AE830B30B3E1}"/>
                </a:ext>
              </a:extLst>
            </p:cNvPr>
            <p:cNvSpPr/>
            <p:nvPr/>
          </p:nvSpPr>
          <p:spPr>
            <a:xfrm>
              <a:off x="1875815" y="4440646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650EC1E0-0875-48FE-9E2A-3CFBF08D00B7}"/>
                </a:ext>
              </a:extLst>
            </p:cNvPr>
            <p:cNvSpPr/>
            <p:nvPr/>
          </p:nvSpPr>
          <p:spPr>
            <a:xfrm>
              <a:off x="1458682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843902F6-3FE0-41FC-A04B-34525551CB00}"/>
                </a:ext>
              </a:extLst>
            </p:cNvPr>
            <p:cNvSpPr/>
            <p:nvPr/>
          </p:nvSpPr>
          <p:spPr>
            <a:xfrm>
              <a:off x="1682110" y="4251003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8C930C4A-32EA-45F3-A4BB-AC7BCADE2367}"/>
                </a:ext>
              </a:extLst>
            </p:cNvPr>
            <p:cNvSpPr/>
            <p:nvPr/>
          </p:nvSpPr>
          <p:spPr>
            <a:xfrm>
              <a:off x="1235254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2597A7A3-6D75-47F3-B7CB-7AF2BAB74C91}"/>
                </a:ext>
              </a:extLst>
            </p:cNvPr>
            <p:cNvSpPr/>
            <p:nvPr/>
          </p:nvSpPr>
          <p:spPr>
            <a:xfrm>
              <a:off x="1011863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7D97DEF7-A694-4803-AD18-CEB93E110C09}"/>
                </a:ext>
              </a:extLst>
            </p:cNvPr>
            <p:cNvSpPr/>
            <p:nvPr/>
          </p:nvSpPr>
          <p:spPr>
            <a:xfrm>
              <a:off x="1875815" y="4250864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DC38BF47-6797-4F11-95DC-CE0997F5FE13}"/>
                </a:ext>
              </a:extLst>
            </p:cNvPr>
            <p:cNvSpPr/>
            <p:nvPr/>
          </p:nvSpPr>
          <p:spPr>
            <a:xfrm>
              <a:off x="1458682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76563526-3833-4D1A-A44A-1EE00009BC47}"/>
                </a:ext>
              </a:extLst>
            </p:cNvPr>
            <p:cNvSpPr/>
            <p:nvPr/>
          </p:nvSpPr>
          <p:spPr>
            <a:xfrm>
              <a:off x="1682110" y="4061221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581B377E-6B8E-4C42-82DB-BF94B4E0227F}"/>
                </a:ext>
              </a:extLst>
            </p:cNvPr>
            <p:cNvSpPr/>
            <p:nvPr/>
          </p:nvSpPr>
          <p:spPr>
            <a:xfrm>
              <a:off x="1235254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07EC510A-D0D8-469D-9566-5235FC15D1CB}"/>
                </a:ext>
              </a:extLst>
            </p:cNvPr>
            <p:cNvSpPr/>
            <p:nvPr/>
          </p:nvSpPr>
          <p:spPr>
            <a:xfrm>
              <a:off x="1011863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BE5A82AC-7FBB-4C35-86CE-5D7E1F110B41}"/>
                </a:ext>
              </a:extLst>
            </p:cNvPr>
            <p:cNvSpPr/>
            <p:nvPr/>
          </p:nvSpPr>
          <p:spPr>
            <a:xfrm>
              <a:off x="1875815" y="4061082"/>
              <a:ext cx="117113" cy="4571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</p:grpSp>
      <p:sp>
        <p:nvSpPr>
          <p:cNvPr id="185" name="文本框 184">
            <a:extLst>
              <a:ext uri="{FF2B5EF4-FFF2-40B4-BE49-F238E27FC236}">
                <a16:creationId xmlns:a16="http://schemas.microsoft.com/office/drawing/2014/main" id="{089B9CDA-3DCD-4787-BFC0-95ACD223E204}"/>
              </a:ext>
            </a:extLst>
          </p:cNvPr>
          <p:cNvSpPr txBox="1"/>
          <p:nvPr/>
        </p:nvSpPr>
        <p:spPr>
          <a:xfrm>
            <a:off x="182915" y="4193259"/>
            <a:ext cx="34107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</a:rPr>
              <a:t>compression.type</a:t>
            </a:r>
            <a:r>
              <a:rPr lang="zh-CN" altLang="en-US" sz="1400" dirty="0">
                <a:solidFill>
                  <a:srgbClr val="FF0000"/>
                </a:solidFill>
              </a:rPr>
              <a:t>：压缩</a:t>
            </a:r>
            <a:r>
              <a:rPr lang="en-US" altLang="zh-CN" sz="1400" dirty="0">
                <a:solidFill>
                  <a:srgbClr val="FF0000"/>
                </a:solidFill>
              </a:rPr>
              <a:t>snappy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7ABC00E8-8EF1-4A6B-9D42-2ED1B7CC10A1}"/>
              </a:ext>
            </a:extLst>
          </p:cNvPr>
          <p:cNvSpPr txBox="1"/>
          <p:nvPr/>
        </p:nvSpPr>
        <p:spPr>
          <a:xfrm>
            <a:off x="467543" y="0"/>
            <a:ext cx="386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生产经验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生产者如何提高吞吐量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3422084F-67CB-4BF6-94FD-7C57CC0BAEB5}"/>
              </a:ext>
            </a:extLst>
          </p:cNvPr>
          <p:cNvSpPr txBox="1"/>
          <p:nvPr/>
        </p:nvSpPr>
        <p:spPr>
          <a:xfrm>
            <a:off x="179512" y="4659817"/>
            <a:ext cx="4092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FF0000"/>
                </a:solidFill>
              </a:rPr>
              <a:t>RecordAccumulator</a:t>
            </a:r>
            <a:r>
              <a:rPr lang="zh-CN" altLang="en-US" sz="1400" dirty="0">
                <a:solidFill>
                  <a:srgbClr val="FF0000"/>
                </a:solidFill>
              </a:rPr>
              <a:t>：缓冲区大小，修改为</a:t>
            </a:r>
            <a:r>
              <a:rPr lang="en-US" altLang="zh-CN" sz="1400" dirty="0">
                <a:solidFill>
                  <a:srgbClr val="FF0000"/>
                </a:solidFill>
              </a:rPr>
              <a:t>64m</a:t>
            </a:r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C4C4F207-1AA2-4E1E-9529-5CE00D78FDC4}"/>
              </a:ext>
            </a:extLst>
          </p:cNvPr>
          <p:cNvSpPr/>
          <p:nvPr/>
        </p:nvSpPr>
        <p:spPr>
          <a:xfrm>
            <a:off x="8094385" y="1667544"/>
            <a:ext cx="216024" cy="1440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C63A75AD-DB5F-4683-BFF9-5667AD74CC8B}"/>
              </a:ext>
            </a:extLst>
          </p:cNvPr>
          <p:cNvSpPr txBox="1"/>
          <p:nvPr/>
        </p:nvSpPr>
        <p:spPr>
          <a:xfrm>
            <a:off x="176563" y="642240"/>
            <a:ext cx="1690129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 dirty="0"/>
              <a:t>ss</a:t>
            </a:r>
            <a:r>
              <a:rPr lang="zh-CN" altLang="en-US" sz="1400" b="1" dirty="0"/>
              <a:t>家仓库</a:t>
            </a:r>
            <a:r>
              <a:rPr lang="en-US" altLang="zh-CN" sz="1400" b="1" dirty="0"/>
              <a:t>,</a:t>
            </a:r>
            <a:r>
              <a:rPr lang="zh-CN" altLang="en-US" sz="1400" b="1" dirty="0"/>
              <a:t>默认</a:t>
            </a:r>
            <a:r>
              <a:rPr lang="en-US" altLang="zh-CN" sz="1400" b="1" dirty="0"/>
              <a:t>32m</a:t>
            </a:r>
            <a:endParaRPr lang="zh-CN" altLang="en-US" sz="1400" b="1" dirty="0"/>
          </a:p>
        </p:txBody>
      </p: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ADFD5E50-3608-4E8D-9C1E-8A142030ECD0}"/>
              </a:ext>
            </a:extLst>
          </p:cNvPr>
          <p:cNvGrpSpPr/>
          <p:nvPr/>
        </p:nvGrpSpPr>
        <p:grpSpPr>
          <a:xfrm>
            <a:off x="5392" y="1443477"/>
            <a:ext cx="2396785" cy="1754050"/>
            <a:chOff x="5392" y="1443477"/>
            <a:chExt cx="2396785" cy="1754050"/>
          </a:xfrm>
        </p:grpSpPr>
        <p:pic>
          <p:nvPicPr>
            <p:cNvPr id="191" name="Picture 4">
              <a:extLst>
                <a:ext uri="{FF2B5EF4-FFF2-40B4-BE49-F238E27FC236}">
                  <a16:creationId xmlns:a16="http://schemas.microsoft.com/office/drawing/2014/main" id="{6AA2DF59-A502-41D1-93EA-6C4F9F6967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03" t="8064" r="7899" b="17345"/>
            <a:stretch/>
          </p:blipFill>
          <p:spPr bwMode="auto">
            <a:xfrm>
              <a:off x="5392" y="1443477"/>
              <a:ext cx="2368305" cy="1729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F441664F-6CD9-4D0C-A1E5-AB9A2A89BBF5}"/>
                </a:ext>
              </a:extLst>
            </p:cNvPr>
            <p:cNvSpPr txBox="1"/>
            <p:nvPr/>
          </p:nvSpPr>
          <p:spPr>
            <a:xfrm>
              <a:off x="1191589" y="2858973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solidFill>
                    <a:srgbClr val="FFFF00"/>
                  </a:solidFill>
                </a:rPr>
                <a:t>海狗人参丸</a:t>
              </a:r>
            </a:p>
          </p:txBody>
        </p:sp>
      </p:grp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A37C406E-941D-4CEA-B561-78812FD8624B}"/>
              </a:ext>
            </a:extLst>
          </p:cNvPr>
          <p:cNvSpPr/>
          <p:nvPr/>
        </p:nvSpPr>
        <p:spPr>
          <a:xfrm>
            <a:off x="8441982" y="1666181"/>
            <a:ext cx="216024" cy="1440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931441E4-6E2B-4D8A-B991-EF252141E85D}"/>
              </a:ext>
            </a:extLst>
          </p:cNvPr>
          <p:cNvSpPr/>
          <p:nvPr/>
        </p:nvSpPr>
        <p:spPr>
          <a:xfrm>
            <a:off x="8782199" y="1666181"/>
            <a:ext cx="216024" cy="1440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674FC3ED-EC47-42D3-84AA-67B6DED447A4}"/>
              </a:ext>
            </a:extLst>
          </p:cNvPr>
          <p:cNvSpPr/>
          <p:nvPr/>
        </p:nvSpPr>
        <p:spPr>
          <a:xfrm>
            <a:off x="8088200" y="1901443"/>
            <a:ext cx="216024" cy="1440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CE276250-F3B9-4FD4-9433-EE5B81411040}"/>
              </a:ext>
            </a:extLst>
          </p:cNvPr>
          <p:cNvSpPr/>
          <p:nvPr/>
        </p:nvSpPr>
        <p:spPr>
          <a:xfrm>
            <a:off x="8435797" y="1900080"/>
            <a:ext cx="216024" cy="1440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54D4BF31-55CB-43C7-B892-E2E0191B1E10}"/>
              </a:ext>
            </a:extLst>
          </p:cNvPr>
          <p:cNvSpPr/>
          <p:nvPr/>
        </p:nvSpPr>
        <p:spPr>
          <a:xfrm>
            <a:off x="8776014" y="1900080"/>
            <a:ext cx="216024" cy="1440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0B19115E-4181-45EA-82C0-FBBFA103A0F0}"/>
              </a:ext>
            </a:extLst>
          </p:cNvPr>
          <p:cNvSpPr txBox="1"/>
          <p:nvPr/>
        </p:nvSpPr>
        <p:spPr>
          <a:xfrm>
            <a:off x="8053729" y="39746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/>
              <a:t>。。。</a:t>
            </a: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672284F1-6916-4880-89A8-F78285BDA538}"/>
              </a:ext>
            </a:extLst>
          </p:cNvPr>
          <p:cNvSpPr txBox="1"/>
          <p:nvPr/>
        </p:nvSpPr>
        <p:spPr>
          <a:xfrm>
            <a:off x="8074760" y="586646"/>
            <a:ext cx="89676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b="1" dirty="0"/>
              <a:t>broker</a:t>
            </a:r>
            <a:endParaRPr lang="zh-CN" altLang="en-US" sz="1600" b="1" dirty="0"/>
          </a:p>
        </p:txBody>
      </p: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BF8A3C32-3F66-4C16-B4CA-693D69332DAB}"/>
              </a:ext>
            </a:extLst>
          </p:cNvPr>
          <p:cNvGrpSpPr/>
          <p:nvPr/>
        </p:nvGrpSpPr>
        <p:grpSpPr>
          <a:xfrm>
            <a:off x="2375741" y="1443477"/>
            <a:ext cx="2368305" cy="1747946"/>
            <a:chOff x="2375741" y="1443477"/>
            <a:chExt cx="2368305" cy="1747946"/>
          </a:xfrm>
        </p:grpSpPr>
        <p:pic>
          <p:nvPicPr>
            <p:cNvPr id="201" name="Picture 4">
              <a:extLst>
                <a:ext uri="{FF2B5EF4-FFF2-40B4-BE49-F238E27FC236}">
                  <a16:creationId xmlns:a16="http://schemas.microsoft.com/office/drawing/2014/main" id="{156408D7-F0C4-4BF1-B969-ADFEDE85CD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03" t="8064" r="7899" b="17345"/>
            <a:stretch/>
          </p:blipFill>
          <p:spPr bwMode="auto">
            <a:xfrm>
              <a:off x="2375741" y="1443477"/>
              <a:ext cx="2368305" cy="1729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66813B49-E106-446E-BCA6-36AB5BA78982}"/>
                </a:ext>
              </a:extLst>
            </p:cNvPr>
            <p:cNvSpPr txBox="1"/>
            <p:nvPr/>
          </p:nvSpPr>
          <p:spPr>
            <a:xfrm>
              <a:off x="3529524" y="2852869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solidFill>
                    <a:srgbClr val="FFFF00"/>
                  </a:solidFill>
                </a:rPr>
                <a:t>海狗人参丸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540550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8" grpId="0"/>
      <p:bldP spid="29" grpId="0"/>
      <p:bldP spid="185" grpId="0"/>
      <p:bldP spid="187" grpId="0"/>
      <p:bldP spid="188" grpId="0" animBg="1"/>
      <p:bldP spid="189" grpId="0"/>
      <p:bldP spid="193" grpId="0" animBg="1"/>
      <p:bldP spid="194" grpId="0" animBg="1"/>
      <p:bldP spid="195" grpId="0" animBg="1"/>
      <p:bldP spid="196" grpId="0" animBg="1"/>
      <p:bldP spid="197" grpId="0" animBg="1"/>
      <p:bldP spid="198" grpId="0"/>
      <p:bldP spid="1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D18D06-C595-48BF-BBE0-2D930A7E860B}"/>
              </a:ext>
            </a:extLst>
          </p:cNvPr>
          <p:cNvSpPr txBox="1"/>
          <p:nvPr/>
        </p:nvSpPr>
        <p:spPr>
          <a:xfrm>
            <a:off x="315917" y="610581"/>
            <a:ext cx="3623560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生产者发送过来的数据，不需要等数据落盘应答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F8C016-F332-4252-A1D6-3728A1896D1E}"/>
              </a:ext>
            </a:extLst>
          </p:cNvPr>
          <p:cNvSpPr txBox="1"/>
          <p:nvPr/>
        </p:nvSpPr>
        <p:spPr>
          <a:xfrm>
            <a:off x="315917" y="2328224"/>
            <a:ext cx="3983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生产者发送过来的数据，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收到数据后应答。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0EA350-C111-4242-AC4A-37B7DE279EDC}"/>
              </a:ext>
            </a:extLst>
          </p:cNvPr>
          <p:cNvSpPr txBox="1"/>
          <p:nvPr/>
        </p:nvSpPr>
        <p:spPr>
          <a:xfrm>
            <a:off x="5045871" y="734413"/>
            <a:ext cx="4098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all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生产者发送过来的数据，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队列里面的所有节点收齐数据后应答。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7B62ED-A376-4E87-A922-872A615F04EA}"/>
              </a:ext>
            </a:extLst>
          </p:cNvPr>
          <p:cNvSpPr txBox="1"/>
          <p:nvPr/>
        </p:nvSpPr>
        <p:spPr>
          <a:xfrm>
            <a:off x="0" y="424757"/>
            <a:ext cx="631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A4BBD1-7725-4AB1-8268-0E520C998821}"/>
              </a:ext>
            </a:extLst>
          </p:cNvPr>
          <p:cNvSpPr/>
          <p:nvPr/>
        </p:nvSpPr>
        <p:spPr>
          <a:xfrm>
            <a:off x="676640" y="3305213"/>
            <a:ext cx="936104" cy="40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2A9AFF-564D-47A9-8D08-5F0190134009}"/>
              </a:ext>
            </a:extLst>
          </p:cNvPr>
          <p:cNvSpPr/>
          <p:nvPr/>
        </p:nvSpPr>
        <p:spPr>
          <a:xfrm>
            <a:off x="2411760" y="3284505"/>
            <a:ext cx="936104" cy="4673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Leader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888F07-330F-4D6B-93AE-2F02FA37FE88}"/>
              </a:ext>
            </a:extLst>
          </p:cNvPr>
          <p:cNvSpPr/>
          <p:nvPr/>
        </p:nvSpPr>
        <p:spPr>
          <a:xfrm>
            <a:off x="2411760" y="3976608"/>
            <a:ext cx="936104" cy="4673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F8233D-EFE5-4442-9708-790CC30519C5}"/>
              </a:ext>
            </a:extLst>
          </p:cNvPr>
          <p:cNvSpPr/>
          <p:nvPr/>
        </p:nvSpPr>
        <p:spPr>
          <a:xfrm>
            <a:off x="2413305" y="4624680"/>
            <a:ext cx="936104" cy="4673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D968653-51F4-457F-BCCF-28E41806511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612744" y="3507152"/>
            <a:ext cx="799016" cy="11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63F71A8-2D0D-4901-BD69-DDC015BAC45E}"/>
              </a:ext>
            </a:extLst>
          </p:cNvPr>
          <p:cNvSpPr txBox="1"/>
          <p:nvPr/>
        </p:nvSpPr>
        <p:spPr>
          <a:xfrm>
            <a:off x="608140" y="3009100"/>
            <a:ext cx="675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6D40A26-300B-4302-8307-D6145A892B1D}"/>
              </a:ext>
            </a:extLst>
          </p:cNvPr>
          <p:cNvSpPr/>
          <p:nvPr/>
        </p:nvSpPr>
        <p:spPr>
          <a:xfrm>
            <a:off x="3851920" y="3338160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D0CE4D1-6819-49B6-9375-52E683AEFF1E}"/>
              </a:ext>
            </a:extLst>
          </p:cNvPr>
          <p:cNvCxnSpPr>
            <a:cxnSpLocks/>
          </p:cNvCxnSpPr>
          <p:nvPr/>
        </p:nvCxnSpPr>
        <p:spPr>
          <a:xfrm flipH="1" flipV="1">
            <a:off x="1612745" y="3698200"/>
            <a:ext cx="795363" cy="10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268E384-2A45-4F6C-9E54-04281124D0AC}"/>
              </a:ext>
            </a:extLst>
          </p:cNvPr>
          <p:cNvSpPr txBox="1"/>
          <p:nvPr/>
        </p:nvSpPr>
        <p:spPr>
          <a:xfrm>
            <a:off x="1842847" y="3680830"/>
            <a:ext cx="651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ack</a:t>
            </a:r>
            <a:endParaRPr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653B01-F8AE-40E8-BCAA-E0D39B032495}"/>
              </a:ext>
            </a:extLst>
          </p:cNvPr>
          <p:cNvSpPr/>
          <p:nvPr/>
        </p:nvSpPr>
        <p:spPr>
          <a:xfrm>
            <a:off x="2408108" y="3974502"/>
            <a:ext cx="936104" cy="4673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Leader</a:t>
            </a:r>
            <a:endParaRPr lang="zh-CN" altLang="en-US" sz="14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F73673C-05B9-4601-8E9A-6C52778A6092}"/>
              </a:ext>
            </a:extLst>
          </p:cNvPr>
          <p:cNvCxnSpPr>
            <a:cxnSpLocks/>
            <a:stCxn id="6" idx="2"/>
            <a:endCxn id="15" idx="1"/>
          </p:cNvCxnSpPr>
          <p:nvPr/>
        </p:nvCxnSpPr>
        <p:spPr>
          <a:xfrm>
            <a:off x="1144692" y="3709090"/>
            <a:ext cx="1263416" cy="499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57B6DED-6728-4B48-9977-DEF57E56AE01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3347864" y="3518180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56AEC60F-012E-4C47-8AFF-02E74950ED5E}"/>
              </a:ext>
            </a:extLst>
          </p:cNvPr>
          <p:cNvSpPr/>
          <p:nvPr/>
        </p:nvSpPr>
        <p:spPr>
          <a:xfrm>
            <a:off x="680526" y="1256001"/>
            <a:ext cx="936104" cy="40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7AFE30-5AB5-44EB-90C4-1AD617C84FCB}"/>
              </a:ext>
            </a:extLst>
          </p:cNvPr>
          <p:cNvSpPr/>
          <p:nvPr/>
        </p:nvSpPr>
        <p:spPr>
          <a:xfrm>
            <a:off x="2412475" y="1222590"/>
            <a:ext cx="936104" cy="4673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Leader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E05E70C-880D-4422-9E08-8CAF36CC5822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1616630" y="1456265"/>
            <a:ext cx="795845" cy="1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440453D-1D30-4F5F-9431-87C0775AE6AD}"/>
              </a:ext>
            </a:extLst>
          </p:cNvPr>
          <p:cNvSpPr txBox="1"/>
          <p:nvPr/>
        </p:nvSpPr>
        <p:spPr>
          <a:xfrm>
            <a:off x="1270915" y="974319"/>
            <a:ext cx="714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6A4252-9E37-4B65-AD39-2EF07564820A}"/>
              </a:ext>
            </a:extLst>
          </p:cNvPr>
          <p:cNvSpPr txBox="1"/>
          <p:nvPr/>
        </p:nvSpPr>
        <p:spPr>
          <a:xfrm>
            <a:off x="610094" y="953864"/>
            <a:ext cx="76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atguigu</a:t>
            </a:r>
            <a:endParaRPr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761198-C830-4AB9-94FB-4F08D06F7685}"/>
              </a:ext>
            </a:extLst>
          </p:cNvPr>
          <p:cNvSpPr txBox="1"/>
          <p:nvPr/>
        </p:nvSpPr>
        <p:spPr>
          <a:xfrm>
            <a:off x="315916" y="2606233"/>
            <a:ext cx="2142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数据可靠性分析：丢数</a:t>
            </a:r>
            <a:endParaRPr lang="zh-CN" altLang="en-US" sz="1400" b="1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C7D9135-83DD-4145-983E-87B0A697D809}"/>
              </a:ext>
            </a:extLst>
          </p:cNvPr>
          <p:cNvSpPr/>
          <p:nvPr/>
        </p:nvSpPr>
        <p:spPr>
          <a:xfrm>
            <a:off x="3870854" y="1044079"/>
            <a:ext cx="845162" cy="3600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AD97C16-5143-4CE5-BF67-B0E2356C119F}"/>
              </a:ext>
            </a:extLst>
          </p:cNvPr>
          <p:cNvSpPr/>
          <p:nvPr/>
        </p:nvSpPr>
        <p:spPr>
          <a:xfrm>
            <a:off x="3870213" y="1547189"/>
            <a:ext cx="845162" cy="3600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atguigu</a:t>
            </a:r>
            <a:endParaRPr lang="zh-CN" altLang="en-US" sz="1400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AE72F6F-D309-40B4-97E4-48094617BC03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 flipV="1">
            <a:off x="3348579" y="1224099"/>
            <a:ext cx="522275" cy="232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0C306E0-9A5B-4B02-9F3B-9CE0805C1FE9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>
            <a:off x="3348579" y="1456265"/>
            <a:ext cx="521634" cy="270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4E0497D1-6B01-4F52-A7EB-E105D6E92762}"/>
              </a:ext>
            </a:extLst>
          </p:cNvPr>
          <p:cNvSpPr txBox="1"/>
          <p:nvPr/>
        </p:nvSpPr>
        <p:spPr>
          <a:xfrm>
            <a:off x="3419870" y="3931875"/>
            <a:ext cx="13334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新的</a:t>
            </a:r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r>
              <a:rPr lang="zh-CN" altLang="en-US" sz="1200" dirty="0">
                <a:solidFill>
                  <a:srgbClr val="FF0000"/>
                </a:solidFill>
              </a:rPr>
              <a:t>不会收到</a:t>
            </a:r>
            <a:r>
              <a:rPr lang="en-US" altLang="zh-CN" sz="1200" dirty="0">
                <a:solidFill>
                  <a:srgbClr val="FF0000"/>
                </a:solidFill>
              </a:rPr>
              <a:t>Hello</a:t>
            </a:r>
            <a:r>
              <a:rPr lang="zh-CN" altLang="en-US" sz="1200" dirty="0">
                <a:solidFill>
                  <a:srgbClr val="FF0000"/>
                </a:solidFill>
              </a:rPr>
              <a:t>的信息，因为生产者已经认为发送成功了。</a:t>
            </a:r>
            <a:endParaRPr lang="zh-CN" altLang="en-US" sz="1200" dirty="0"/>
          </a:p>
        </p:txBody>
      </p:sp>
      <p:sp>
        <p:nvSpPr>
          <p:cNvPr id="29" name="乘号 28">
            <a:extLst>
              <a:ext uri="{FF2B5EF4-FFF2-40B4-BE49-F238E27FC236}">
                <a16:creationId xmlns:a16="http://schemas.microsoft.com/office/drawing/2014/main" id="{865D9B2B-3404-4D2B-951C-EBDCAA056E4C}"/>
              </a:ext>
            </a:extLst>
          </p:cNvPr>
          <p:cNvSpPr/>
          <p:nvPr/>
        </p:nvSpPr>
        <p:spPr>
          <a:xfrm>
            <a:off x="4086611" y="3338160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0" name="乘号 29">
            <a:extLst>
              <a:ext uri="{FF2B5EF4-FFF2-40B4-BE49-F238E27FC236}">
                <a16:creationId xmlns:a16="http://schemas.microsoft.com/office/drawing/2014/main" id="{ECC79D5B-37FB-488D-A98D-22F7A9737C4F}"/>
              </a:ext>
            </a:extLst>
          </p:cNvPr>
          <p:cNvSpPr/>
          <p:nvPr/>
        </p:nvSpPr>
        <p:spPr>
          <a:xfrm>
            <a:off x="2711636" y="3358961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9F898E5-F1D9-47DB-A61A-AA3DDE5D450F}"/>
              </a:ext>
            </a:extLst>
          </p:cNvPr>
          <p:cNvSpPr txBox="1"/>
          <p:nvPr/>
        </p:nvSpPr>
        <p:spPr>
          <a:xfrm>
            <a:off x="2408108" y="2795170"/>
            <a:ext cx="19719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应答完成后，还没开始同步副本，</a:t>
            </a:r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r>
              <a:rPr lang="zh-CN" altLang="en-US" sz="1200" dirty="0">
                <a:solidFill>
                  <a:srgbClr val="FF0000"/>
                </a:solidFill>
              </a:rPr>
              <a:t>挂了</a:t>
            </a:r>
            <a:endParaRPr lang="zh-CN" altLang="en-US" sz="1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BC4B1B4-FC83-40C9-8E26-102C516FB8AC}"/>
              </a:ext>
            </a:extLst>
          </p:cNvPr>
          <p:cNvSpPr txBox="1"/>
          <p:nvPr/>
        </p:nvSpPr>
        <p:spPr>
          <a:xfrm>
            <a:off x="5045871" y="3509595"/>
            <a:ext cx="4091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思考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收到数据，所有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都开始同步数据，但有一个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，因为某种故障，迟迟不能与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进行同步，那这个问题怎么解决呢？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D9D6D01-AE9B-4B95-B8E3-4D7E2D8F6048}"/>
              </a:ext>
            </a:extLst>
          </p:cNvPr>
          <p:cNvSpPr/>
          <p:nvPr/>
        </p:nvSpPr>
        <p:spPr>
          <a:xfrm>
            <a:off x="5338305" y="2227298"/>
            <a:ext cx="936104" cy="3847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957C0FC-2376-4D65-84A0-1C20185FBA8C}"/>
              </a:ext>
            </a:extLst>
          </p:cNvPr>
          <p:cNvSpPr/>
          <p:nvPr/>
        </p:nvSpPr>
        <p:spPr>
          <a:xfrm>
            <a:off x="6827430" y="1369884"/>
            <a:ext cx="936104" cy="40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9D16569-8A80-4159-846A-B09B9CE449AC}"/>
              </a:ext>
            </a:extLst>
          </p:cNvPr>
          <p:cNvSpPr/>
          <p:nvPr/>
        </p:nvSpPr>
        <p:spPr>
          <a:xfrm>
            <a:off x="6827430" y="2913549"/>
            <a:ext cx="936104" cy="40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EDB3C6-2043-478C-BBDA-C832177A1628}"/>
              </a:ext>
            </a:extLst>
          </p:cNvPr>
          <p:cNvSpPr/>
          <p:nvPr/>
        </p:nvSpPr>
        <p:spPr>
          <a:xfrm>
            <a:off x="6827430" y="2218195"/>
            <a:ext cx="936104" cy="4038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Leader</a:t>
            </a:r>
            <a:endParaRPr lang="zh-CN" altLang="en-US" sz="1400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6E7EC6D-25D9-4E0E-B338-EBD06E342107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6274409" y="2419671"/>
            <a:ext cx="553021" cy="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08068F0-CD4B-4692-9E41-0C787742833F}"/>
              </a:ext>
            </a:extLst>
          </p:cNvPr>
          <p:cNvCxnSpPr>
            <a:cxnSpLocks/>
            <a:stCxn id="36" idx="0"/>
            <a:endCxn id="34" idx="2"/>
          </p:cNvCxnSpPr>
          <p:nvPr/>
        </p:nvCxnSpPr>
        <p:spPr>
          <a:xfrm flipV="1">
            <a:off x="7295482" y="1773761"/>
            <a:ext cx="0" cy="444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8694CED-4C7A-410C-8AAD-12E37B492446}"/>
              </a:ext>
            </a:extLst>
          </p:cNvPr>
          <p:cNvCxnSpPr>
            <a:stCxn id="36" idx="2"/>
            <a:endCxn id="35" idx="0"/>
          </p:cNvCxnSpPr>
          <p:nvPr/>
        </p:nvCxnSpPr>
        <p:spPr>
          <a:xfrm>
            <a:off x="7295482" y="2622072"/>
            <a:ext cx="0" cy="291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5D1A2CE-D400-468C-951A-30661D92C24A}"/>
              </a:ext>
            </a:extLst>
          </p:cNvPr>
          <p:cNvSpPr/>
          <p:nvPr/>
        </p:nvSpPr>
        <p:spPr>
          <a:xfrm>
            <a:off x="8093827" y="1391802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7A92471-03FE-4936-A0A8-F1714474DE14}"/>
              </a:ext>
            </a:extLst>
          </p:cNvPr>
          <p:cNvSpPr txBox="1"/>
          <p:nvPr/>
        </p:nvSpPr>
        <p:spPr>
          <a:xfrm>
            <a:off x="5089743" y="1864634"/>
            <a:ext cx="1367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Atguigu</a:t>
            </a:r>
            <a:r>
              <a:rPr lang="en-US" altLang="zh-CN" sz="1400" dirty="0"/>
              <a:t> Hello</a:t>
            </a:r>
            <a:endParaRPr lang="zh-CN" altLang="en-US" sz="1400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FEAFF23-76D0-4653-AA10-4F69EE438F12}"/>
              </a:ext>
            </a:extLst>
          </p:cNvPr>
          <p:cNvSpPr/>
          <p:nvPr/>
        </p:nvSpPr>
        <p:spPr>
          <a:xfrm>
            <a:off x="8093827" y="2240113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6A53E1E2-DB0F-4A01-8105-B2B745406D91}"/>
              </a:ext>
            </a:extLst>
          </p:cNvPr>
          <p:cNvSpPr/>
          <p:nvPr/>
        </p:nvSpPr>
        <p:spPr>
          <a:xfrm>
            <a:off x="8093827" y="2943229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EF60270-E6E8-4D92-9C97-EB1BD92B2E48}"/>
              </a:ext>
            </a:extLst>
          </p:cNvPr>
          <p:cNvCxnSpPr>
            <a:cxnSpLocks/>
            <a:stCxn id="34" idx="3"/>
            <a:endCxn id="40" idx="1"/>
          </p:cNvCxnSpPr>
          <p:nvPr/>
        </p:nvCxnSpPr>
        <p:spPr>
          <a:xfrm flipV="1">
            <a:off x="7763534" y="1571822"/>
            <a:ext cx="3302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61A3D58D-A11C-4EED-B2F7-65A6E3FAD568}"/>
              </a:ext>
            </a:extLst>
          </p:cNvPr>
          <p:cNvCxnSpPr>
            <a:cxnSpLocks/>
            <a:stCxn id="36" idx="3"/>
            <a:endCxn id="42" idx="1"/>
          </p:cNvCxnSpPr>
          <p:nvPr/>
        </p:nvCxnSpPr>
        <p:spPr>
          <a:xfrm flipV="1">
            <a:off x="7763534" y="2420133"/>
            <a:ext cx="3302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36CC3B8-9E87-4BB8-8C08-5DA0A572F26B}"/>
              </a:ext>
            </a:extLst>
          </p:cNvPr>
          <p:cNvCxnSpPr>
            <a:cxnSpLocks/>
            <a:stCxn id="35" idx="3"/>
            <a:endCxn id="43" idx="1"/>
          </p:cNvCxnSpPr>
          <p:nvPr/>
        </p:nvCxnSpPr>
        <p:spPr>
          <a:xfrm>
            <a:off x="7763534" y="3115488"/>
            <a:ext cx="330293" cy="7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5F88AA75-46EE-46FA-AF5E-B076AA15426B}"/>
              </a:ext>
            </a:extLst>
          </p:cNvPr>
          <p:cNvSpPr txBox="1"/>
          <p:nvPr/>
        </p:nvSpPr>
        <p:spPr>
          <a:xfrm>
            <a:off x="6274409" y="2645210"/>
            <a:ext cx="483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ack</a:t>
            </a:r>
            <a:endParaRPr lang="zh-CN" altLang="en-US" sz="1400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C787A78-B5CB-498C-B262-4CA38E47CFB2}"/>
              </a:ext>
            </a:extLst>
          </p:cNvPr>
          <p:cNvCxnSpPr>
            <a:cxnSpLocks/>
          </p:cNvCxnSpPr>
          <p:nvPr/>
        </p:nvCxnSpPr>
        <p:spPr>
          <a:xfrm flipH="1">
            <a:off x="6274409" y="2619966"/>
            <a:ext cx="5530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4222C4B5-59EE-4826-A5B8-F867C93B59E9}"/>
              </a:ext>
            </a:extLst>
          </p:cNvPr>
          <p:cNvSpPr txBox="1"/>
          <p:nvPr/>
        </p:nvSpPr>
        <p:spPr>
          <a:xfrm>
            <a:off x="467544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ACK</a:t>
            </a:r>
            <a:r>
              <a:rPr lang="zh-CN" altLang="en-US" dirty="0">
                <a:solidFill>
                  <a:srgbClr val="FF0000"/>
                </a:solidFill>
              </a:rPr>
              <a:t>应答级别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EAE775E-C261-4DF6-9AA8-AE30CBCD567F}"/>
              </a:ext>
            </a:extLst>
          </p:cNvPr>
          <p:cNvSpPr txBox="1"/>
          <p:nvPr/>
        </p:nvSpPr>
        <p:spPr>
          <a:xfrm>
            <a:off x="322308" y="1707928"/>
            <a:ext cx="22262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数据可靠性分析：丢数</a:t>
            </a:r>
            <a:endParaRPr lang="zh-CN" altLang="en-US" sz="1400" b="1" dirty="0"/>
          </a:p>
        </p:txBody>
      </p:sp>
      <p:sp>
        <p:nvSpPr>
          <p:cNvPr id="51" name="乘号 50">
            <a:extLst>
              <a:ext uri="{FF2B5EF4-FFF2-40B4-BE49-F238E27FC236}">
                <a16:creationId xmlns:a16="http://schemas.microsoft.com/office/drawing/2014/main" id="{E6C49368-6F5F-4478-BA4B-196C462C055D}"/>
              </a:ext>
            </a:extLst>
          </p:cNvPr>
          <p:cNvSpPr/>
          <p:nvPr/>
        </p:nvSpPr>
        <p:spPr>
          <a:xfrm>
            <a:off x="2693383" y="1299838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2" name="乘号 51">
            <a:extLst>
              <a:ext uri="{FF2B5EF4-FFF2-40B4-BE49-F238E27FC236}">
                <a16:creationId xmlns:a16="http://schemas.microsoft.com/office/drawing/2014/main" id="{CC14A16A-E40C-433C-8172-3735D6A41148}"/>
              </a:ext>
            </a:extLst>
          </p:cNvPr>
          <p:cNvSpPr/>
          <p:nvPr/>
        </p:nvSpPr>
        <p:spPr>
          <a:xfrm>
            <a:off x="4094480" y="1050232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3" name="乘号 52">
            <a:extLst>
              <a:ext uri="{FF2B5EF4-FFF2-40B4-BE49-F238E27FC236}">
                <a16:creationId xmlns:a16="http://schemas.microsoft.com/office/drawing/2014/main" id="{188A8C13-4B6F-4A25-A263-748FFD0C4C8B}"/>
              </a:ext>
            </a:extLst>
          </p:cNvPr>
          <p:cNvSpPr/>
          <p:nvPr/>
        </p:nvSpPr>
        <p:spPr>
          <a:xfrm>
            <a:off x="4100479" y="1559494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4" name="乘号 53">
            <a:extLst>
              <a:ext uri="{FF2B5EF4-FFF2-40B4-BE49-F238E27FC236}">
                <a16:creationId xmlns:a16="http://schemas.microsoft.com/office/drawing/2014/main" id="{F3C94A71-6E0F-4831-B753-F0C4FE85BCE8}"/>
              </a:ext>
            </a:extLst>
          </p:cNvPr>
          <p:cNvSpPr/>
          <p:nvPr/>
        </p:nvSpPr>
        <p:spPr>
          <a:xfrm>
            <a:off x="7156517" y="2943229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89514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1" grpId="0"/>
      <p:bldP spid="12" grpId="0" animBg="1"/>
      <p:bldP spid="14" grpId="0"/>
      <p:bldP spid="15" grpId="0" animBg="1"/>
      <p:bldP spid="18" grpId="0" animBg="1"/>
      <p:bldP spid="19" grpId="0" animBg="1"/>
      <p:bldP spid="21" grpId="0"/>
      <p:bldP spid="22" grpId="0"/>
      <p:bldP spid="23" grpId="0"/>
      <p:bldP spid="24" grpId="0" animBg="1"/>
      <p:bldP spid="25" grpId="0" animBg="1"/>
      <p:bldP spid="28" grpId="0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40" grpId="0" animBg="1"/>
      <p:bldP spid="41" grpId="0"/>
      <p:bldP spid="42" grpId="0" animBg="1"/>
      <p:bldP spid="43" grpId="0" animBg="1"/>
      <p:bldP spid="47" grpId="0"/>
      <p:bldP spid="50" grpId="0"/>
      <p:bldP spid="51" grpId="0" animBg="1"/>
      <p:bldP spid="52" grpId="0" animBg="1"/>
      <p:bldP spid="53" grpId="0" animBg="1"/>
      <p:bldP spid="5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56E6B3-40A4-4A6C-BA26-1FC7023436DC}"/>
              </a:ext>
            </a:extLst>
          </p:cNvPr>
          <p:cNvSpPr txBox="1"/>
          <p:nvPr/>
        </p:nvSpPr>
        <p:spPr>
          <a:xfrm>
            <a:off x="251520" y="692208"/>
            <a:ext cx="4098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all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生产者发送过来的数据，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队列里面的所有节点收齐数据后应答。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5B2F52-DD02-4EE9-87E7-55AA99FBD45F}"/>
              </a:ext>
            </a:extLst>
          </p:cNvPr>
          <p:cNvSpPr txBox="1"/>
          <p:nvPr/>
        </p:nvSpPr>
        <p:spPr>
          <a:xfrm>
            <a:off x="0" y="424757"/>
            <a:ext cx="631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427869-4312-4509-8C3C-47A87FDBE3A5}"/>
              </a:ext>
            </a:extLst>
          </p:cNvPr>
          <p:cNvSpPr txBox="1"/>
          <p:nvPr/>
        </p:nvSpPr>
        <p:spPr>
          <a:xfrm>
            <a:off x="4449829" y="692208"/>
            <a:ext cx="4694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思考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收到数据，所有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都开始同步数据，但有一个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，因为某种故障，迟迟不能与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进行同步，那这个问题怎么解决呢？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53F603-66CA-48BF-8AC7-9264D00C217C}"/>
              </a:ext>
            </a:extLst>
          </p:cNvPr>
          <p:cNvSpPr txBox="1"/>
          <p:nvPr/>
        </p:nvSpPr>
        <p:spPr>
          <a:xfrm>
            <a:off x="4571999" y="1370212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Leader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维护了一个动态的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in-sync replica set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，意为和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保持同步的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Follower+Leader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集合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(leader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isr:0,1,2)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endParaRPr lang="en-US" altLang="zh-CN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/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长时间未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向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发送通信请求或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同步数据，则该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将被踢出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该时间阈值由</a:t>
            </a:r>
            <a:r>
              <a:rPr lang="en-US" altLang="zh-CN" sz="1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replica.lag.time.max.ms</a:t>
            </a:r>
            <a:r>
              <a:rPr lang="zh-CN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参数设定，默认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30s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例如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超时，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(leader:0, isr:0,1)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。</a:t>
            </a:r>
            <a:endParaRPr lang="en-US" altLang="zh-CN" sz="1200" kern="100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indent="266700"/>
            <a:endParaRPr lang="en-US" altLang="zh-CN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这样就不用等长期联系不上或者已经故障的节点。</a:t>
            </a:r>
            <a:endParaRPr lang="en-US" altLang="zh-CN" sz="1200" kern="1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7758BF-0DBD-4962-BDDA-6E451018BDAE}"/>
              </a:ext>
            </a:extLst>
          </p:cNvPr>
          <p:cNvSpPr/>
          <p:nvPr/>
        </p:nvSpPr>
        <p:spPr>
          <a:xfrm>
            <a:off x="662981" y="2132348"/>
            <a:ext cx="936104" cy="3847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3633B9-E4D0-497C-BF14-D4068DC91255}"/>
              </a:ext>
            </a:extLst>
          </p:cNvPr>
          <p:cNvSpPr/>
          <p:nvPr/>
        </p:nvSpPr>
        <p:spPr>
          <a:xfrm>
            <a:off x="2152106" y="1274934"/>
            <a:ext cx="936104" cy="40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DD6D5F-27B5-4650-B4E9-124F059A47AF}"/>
              </a:ext>
            </a:extLst>
          </p:cNvPr>
          <p:cNvSpPr/>
          <p:nvPr/>
        </p:nvSpPr>
        <p:spPr>
          <a:xfrm>
            <a:off x="2152106" y="2818599"/>
            <a:ext cx="936104" cy="40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9C7DA0-219F-4F53-8DBC-9A893AE77A88}"/>
              </a:ext>
            </a:extLst>
          </p:cNvPr>
          <p:cNvSpPr/>
          <p:nvPr/>
        </p:nvSpPr>
        <p:spPr>
          <a:xfrm>
            <a:off x="2152106" y="2123245"/>
            <a:ext cx="936104" cy="4038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Leader</a:t>
            </a:r>
            <a:endParaRPr lang="zh-CN" altLang="en-US" sz="1400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19EF684-249D-4D4F-9A26-CEE623C1071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599085" y="2324721"/>
            <a:ext cx="553021" cy="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B1C9DB2-AF04-4D7F-A6D0-1D7F1FC6744D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V="1">
            <a:off x="2620158" y="1678811"/>
            <a:ext cx="0" cy="444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73FC43D-656F-4C5C-91FB-AFCBC0F6A5BC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2620158" y="2527122"/>
            <a:ext cx="0" cy="291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22DE43F-463F-4D9F-A32D-7367D801707D}"/>
              </a:ext>
            </a:extLst>
          </p:cNvPr>
          <p:cNvSpPr/>
          <p:nvPr/>
        </p:nvSpPr>
        <p:spPr>
          <a:xfrm>
            <a:off x="3418503" y="1296852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D74EC5-0A59-438E-92B7-FF7651EE48D8}"/>
              </a:ext>
            </a:extLst>
          </p:cNvPr>
          <p:cNvSpPr txBox="1"/>
          <p:nvPr/>
        </p:nvSpPr>
        <p:spPr>
          <a:xfrm>
            <a:off x="414419" y="1769684"/>
            <a:ext cx="1367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Atguigu</a:t>
            </a:r>
            <a:r>
              <a:rPr lang="en-US" altLang="zh-CN" sz="1400" dirty="0"/>
              <a:t> Hello</a:t>
            </a:r>
            <a:endParaRPr lang="zh-CN" altLang="en-US" sz="14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D170395-A6EE-44C1-B251-5064CA6DC4EB}"/>
              </a:ext>
            </a:extLst>
          </p:cNvPr>
          <p:cNvSpPr/>
          <p:nvPr/>
        </p:nvSpPr>
        <p:spPr>
          <a:xfrm>
            <a:off x="3418503" y="2145163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403A293-6481-4787-B840-81B5826F3236}"/>
              </a:ext>
            </a:extLst>
          </p:cNvPr>
          <p:cNvSpPr/>
          <p:nvPr/>
        </p:nvSpPr>
        <p:spPr>
          <a:xfrm>
            <a:off x="3418503" y="2848279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08D9395-07A0-4110-AD8E-551B65C93A3A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3088210" y="1476872"/>
            <a:ext cx="3302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FF2D534-AD6A-4736-8A08-00014EFED96A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 flipV="1">
            <a:off x="3088210" y="2325183"/>
            <a:ext cx="3302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9414020-5F39-4A86-9D67-C4D4EA0B02CD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3088210" y="3020538"/>
            <a:ext cx="330293" cy="7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7F374D5-4844-4525-AC3B-928A596AFB91}"/>
              </a:ext>
            </a:extLst>
          </p:cNvPr>
          <p:cNvSpPr txBox="1"/>
          <p:nvPr/>
        </p:nvSpPr>
        <p:spPr>
          <a:xfrm>
            <a:off x="1600510" y="2532940"/>
            <a:ext cx="483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ack</a:t>
            </a:r>
            <a:endParaRPr lang="zh-CN" altLang="en-US" sz="1400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8301271-F2F5-4C83-B042-2C6601643068}"/>
              </a:ext>
            </a:extLst>
          </p:cNvPr>
          <p:cNvCxnSpPr>
            <a:cxnSpLocks/>
          </p:cNvCxnSpPr>
          <p:nvPr/>
        </p:nvCxnSpPr>
        <p:spPr>
          <a:xfrm flipH="1">
            <a:off x="1599085" y="2525016"/>
            <a:ext cx="5530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6B9BAF06-E7FB-4B8A-8460-E889CBB4E94F}"/>
              </a:ext>
            </a:extLst>
          </p:cNvPr>
          <p:cNvSpPr txBox="1"/>
          <p:nvPr/>
        </p:nvSpPr>
        <p:spPr>
          <a:xfrm>
            <a:off x="467544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ACK</a:t>
            </a:r>
            <a:r>
              <a:rPr lang="zh-CN" altLang="en-US" dirty="0">
                <a:solidFill>
                  <a:srgbClr val="FF0000"/>
                </a:solidFill>
              </a:rPr>
              <a:t>应答级别</a:t>
            </a:r>
          </a:p>
        </p:txBody>
      </p:sp>
      <p:sp>
        <p:nvSpPr>
          <p:cNvPr id="23" name="乘号 22">
            <a:extLst>
              <a:ext uri="{FF2B5EF4-FFF2-40B4-BE49-F238E27FC236}">
                <a16:creationId xmlns:a16="http://schemas.microsoft.com/office/drawing/2014/main" id="{580E4D4B-A7CE-49A1-8987-69D49D3E5839}"/>
              </a:ext>
            </a:extLst>
          </p:cNvPr>
          <p:cNvSpPr/>
          <p:nvPr/>
        </p:nvSpPr>
        <p:spPr>
          <a:xfrm>
            <a:off x="2440137" y="2887162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ECFA07-196E-4C4F-9961-CADC5CC9E45D}"/>
              </a:ext>
            </a:extLst>
          </p:cNvPr>
          <p:cNvSpPr txBox="1"/>
          <p:nvPr/>
        </p:nvSpPr>
        <p:spPr>
          <a:xfrm>
            <a:off x="4765624" y="3339678"/>
            <a:ext cx="4328348" cy="88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如果分区副本设置为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个，或者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里应答的最小副本数量（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min.insync.replicas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默认为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）设置为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ack=1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的效果是一样的，仍然有丢数的风险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isr:0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AC1BB74-000F-4704-85B0-6276A5BC4476}"/>
              </a:ext>
            </a:extLst>
          </p:cNvPr>
          <p:cNvSpPr txBox="1"/>
          <p:nvPr/>
        </p:nvSpPr>
        <p:spPr>
          <a:xfrm>
            <a:off x="144447" y="4284879"/>
            <a:ext cx="8410404" cy="3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</a:rPr>
              <a:t>数据完全可靠条件 </a:t>
            </a: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</a:t>
            </a:r>
            <a:r>
              <a:rPr lang="zh-CN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级别设置为</a:t>
            </a:r>
            <a:r>
              <a:rPr lang="en-US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zh-CN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分区副本大于等于</a:t>
            </a:r>
            <a:r>
              <a:rPr lang="en-US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里应答的最小</a:t>
            </a:r>
            <a:r>
              <a:rPr lang="zh-CN" altLang="en-US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副本</a:t>
            </a:r>
            <a:r>
              <a:rPr lang="zh-CN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数量大于等于</a:t>
            </a:r>
            <a:r>
              <a:rPr lang="en-US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6695C6-D46D-41A7-8667-CFD3D07BF6A7}"/>
              </a:ext>
            </a:extLst>
          </p:cNvPr>
          <p:cNvSpPr txBox="1"/>
          <p:nvPr/>
        </p:nvSpPr>
        <p:spPr>
          <a:xfrm>
            <a:off x="4765624" y="3077669"/>
            <a:ext cx="1578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数据可靠性分析：</a:t>
            </a:r>
            <a:endParaRPr lang="zh-CN" altLang="en-US" sz="14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66087D-65F7-472E-A71D-3BC7BED4FA0D}"/>
              </a:ext>
            </a:extLst>
          </p:cNvPr>
          <p:cNvSpPr txBox="1"/>
          <p:nvPr/>
        </p:nvSpPr>
        <p:spPr>
          <a:xfrm>
            <a:off x="2844324" y="2179327"/>
            <a:ext cx="312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86F2CAC-D300-4FDE-B7F3-4E2CC382ADBA}"/>
              </a:ext>
            </a:extLst>
          </p:cNvPr>
          <p:cNvSpPr txBox="1"/>
          <p:nvPr/>
        </p:nvSpPr>
        <p:spPr>
          <a:xfrm>
            <a:off x="2908448" y="1333893"/>
            <a:ext cx="312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88D40A-819B-489E-AA05-BF126EE122EB}"/>
              </a:ext>
            </a:extLst>
          </p:cNvPr>
          <p:cNvSpPr txBox="1"/>
          <p:nvPr/>
        </p:nvSpPr>
        <p:spPr>
          <a:xfrm>
            <a:off x="2895142" y="2870529"/>
            <a:ext cx="312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400" dirty="0"/>
          </a:p>
        </p:txBody>
      </p:sp>
      <p:sp>
        <p:nvSpPr>
          <p:cNvPr id="30" name="乘号 29">
            <a:extLst>
              <a:ext uri="{FF2B5EF4-FFF2-40B4-BE49-F238E27FC236}">
                <a16:creationId xmlns:a16="http://schemas.microsoft.com/office/drawing/2014/main" id="{8EECDB5D-D08B-4E7D-87EA-97D02832B3D1}"/>
              </a:ext>
            </a:extLst>
          </p:cNvPr>
          <p:cNvSpPr/>
          <p:nvPr/>
        </p:nvSpPr>
        <p:spPr>
          <a:xfrm>
            <a:off x="2458525" y="1333818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38416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3" grpId="0" animBg="1"/>
      <p:bldP spid="14" grpId="0"/>
      <p:bldP spid="15" grpId="0" animBg="1"/>
      <p:bldP spid="16" grpId="0" animBg="1"/>
      <p:bldP spid="20" grpId="0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09B865-8256-41B4-9611-ED8044AE1BBE}"/>
              </a:ext>
            </a:extLst>
          </p:cNvPr>
          <p:cNvSpPr txBox="1"/>
          <p:nvPr/>
        </p:nvSpPr>
        <p:spPr>
          <a:xfrm>
            <a:off x="608275" y="2579782"/>
            <a:ext cx="619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all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生产者发送过来的数据，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队列里面的所有节点收齐数据后应答。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8D9098-79F7-4254-8345-F696DF9B37B9}"/>
              </a:ext>
            </a:extLst>
          </p:cNvPr>
          <p:cNvSpPr txBox="1"/>
          <p:nvPr/>
        </p:nvSpPr>
        <p:spPr>
          <a:xfrm>
            <a:off x="21451" y="2564913"/>
            <a:ext cx="631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9B7798-8C59-4609-A7D0-0ECCDBB2A212}"/>
              </a:ext>
            </a:extLst>
          </p:cNvPr>
          <p:cNvSpPr/>
          <p:nvPr/>
        </p:nvSpPr>
        <p:spPr>
          <a:xfrm>
            <a:off x="734989" y="3873390"/>
            <a:ext cx="936104" cy="3847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E43DF7-C420-44E9-B56E-5412A9DA898D}"/>
              </a:ext>
            </a:extLst>
          </p:cNvPr>
          <p:cNvSpPr/>
          <p:nvPr/>
        </p:nvSpPr>
        <p:spPr>
          <a:xfrm>
            <a:off x="2224114" y="3015976"/>
            <a:ext cx="936104" cy="40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2CF260-7EBB-46F9-A09D-5D963A70D481}"/>
              </a:ext>
            </a:extLst>
          </p:cNvPr>
          <p:cNvSpPr/>
          <p:nvPr/>
        </p:nvSpPr>
        <p:spPr>
          <a:xfrm>
            <a:off x="2224114" y="4701003"/>
            <a:ext cx="936104" cy="4038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Follower</a:t>
            </a:r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9BECAF-6484-407A-9D36-6DC40CF9F818}"/>
              </a:ext>
            </a:extLst>
          </p:cNvPr>
          <p:cNvSpPr/>
          <p:nvPr/>
        </p:nvSpPr>
        <p:spPr>
          <a:xfrm>
            <a:off x="2224114" y="3864287"/>
            <a:ext cx="936104" cy="4038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Leader</a:t>
            </a:r>
            <a:endParaRPr lang="zh-CN" altLang="en-US" sz="140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6396232-20AC-4D15-A39C-0785A5F0FB4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671093" y="4065763"/>
            <a:ext cx="553021" cy="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322289CB-C372-431F-B208-181434AD1D7E}"/>
              </a:ext>
            </a:extLst>
          </p:cNvPr>
          <p:cNvSpPr/>
          <p:nvPr/>
        </p:nvSpPr>
        <p:spPr>
          <a:xfrm>
            <a:off x="2224114" y="3017028"/>
            <a:ext cx="936104" cy="4038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Leader</a:t>
            </a:r>
            <a:endParaRPr lang="zh-CN" altLang="en-US" sz="1400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F00408C-D8C4-498C-810F-0DD4FBBE307A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2692166" y="3419853"/>
            <a:ext cx="0" cy="444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C2D4F81-1FCA-4FD8-9449-31539FAB1794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2692166" y="4268164"/>
            <a:ext cx="0" cy="432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0F590D3-3BF2-4AD5-A0C7-D990263ECB71}"/>
              </a:ext>
            </a:extLst>
          </p:cNvPr>
          <p:cNvSpPr/>
          <p:nvPr/>
        </p:nvSpPr>
        <p:spPr>
          <a:xfrm>
            <a:off x="3490511" y="3037894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96FF5E-3371-4C46-B318-EA21657AF272}"/>
              </a:ext>
            </a:extLst>
          </p:cNvPr>
          <p:cNvSpPr txBox="1"/>
          <p:nvPr/>
        </p:nvSpPr>
        <p:spPr>
          <a:xfrm>
            <a:off x="486427" y="3510726"/>
            <a:ext cx="1367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Atguigu</a:t>
            </a:r>
            <a:r>
              <a:rPr lang="en-US" altLang="zh-CN" sz="1400" dirty="0"/>
              <a:t> Hello</a:t>
            </a:r>
            <a:endParaRPr lang="zh-CN" altLang="en-US" sz="1400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20E0FBC-B4AF-4F2D-AA54-051E8C021285}"/>
              </a:ext>
            </a:extLst>
          </p:cNvPr>
          <p:cNvSpPr/>
          <p:nvPr/>
        </p:nvSpPr>
        <p:spPr>
          <a:xfrm>
            <a:off x="3490511" y="3886205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00294E8-BB73-4DA6-ADF7-A57350D1E165}"/>
              </a:ext>
            </a:extLst>
          </p:cNvPr>
          <p:cNvSpPr/>
          <p:nvPr/>
        </p:nvSpPr>
        <p:spPr>
          <a:xfrm>
            <a:off x="3490511" y="4730683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5685039-EEA9-4DA7-9297-415A0F2B85BC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3160218" y="3217914"/>
            <a:ext cx="3302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B143C2C-5944-4F6B-9871-8E2C310E752F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3160218" y="4066225"/>
            <a:ext cx="3302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9D5FA1F-85C4-43D8-9966-C0E2F27B5CFF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3160218" y="4902942"/>
            <a:ext cx="330293" cy="7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E2030A2-8CBD-48DD-A0E2-FCE74053147B}"/>
              </a:ext>
            </a:extLst>
          </p:cNvPr>
          <p:cNvSpPr/>
          <p:nvPr/>
        </p:nvSpPr>
        <p:spPr>
          <a:xfrm>
            <a:off x="3490511" y="3467505"/>
            <a:ext cx="845162" cy="3600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20" name="乘号 19">
            <a:extLst>
              <a:ext uri="{FF2B5EF4-FFF2-40B4-BE49-F238E27FC236}">
                <a16:creationId xmlns:a16="http://schemas.microsoft.com/office/drawing/2014/main" id="{774EEB0A-398F-4FE6-B08C-FBD1621B9736}"/>
              </a:ext>
            </a:extLst>
          </p:cNvPr>
          <p:cNvSpPr/>
          <p:nvPr/>
        </p:nvSpPr>
        <p:spPr>
          <a:xfrm>
            <a:off x="2548480" y="3932542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1" name="乘号 20">
            <a:extLst>
              <a:ext uri="{FF2B5EF4-FFF2-40B4-BE49-F238E27FC236}">
                <a16:creationId xmlns:a16="http://schemas.microsoft.com/office/drawing/2014/main" id="{5784DDD1-E7CE-4F86-AE58-AE991767F6E9}"/>
              </a:ext>
            </a:extLst>
          </p:cNvPr>
          <p:cNvSpPr/>
          <p:nvPr/>
        </p:nvSpPr>
        <p:spPr>
          <a:xfrm>
            <a:off x="1713800" y="4292582"/>
            <a:ext cx="360042" cy="36004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39FFE3-F2CD-4073-9A0D-92D7FA001588}"/>
              </a:ext>
            </a:extLst>
          </p:cNvPr>
          <p:cNvSpPr txBox="1"/>
          <p:nvPr/>
        </p:nvSpPr>
        <p:spPr>
          <a:xfrm>
            <a:off x="1668822" y="4292582"/>
            <a:ext cx="483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ack</a:t>
            </a:r>
            <a:endParaRPr lang="zh-CN" altLang="en-US" sz="1400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487C4F4-59A2-4F4F-8352-9B03A2CE46F6}"/>
              </a:ext>
            </a:extLst>
          </p:cNvPr>
          <p:cNvCxnSpPr>
            <a:cxnSpLocks/>
          </p:cNvCxnSpPr>
          <p:nvPr/>
        </p:nvCxnSpPr>
        <p:spPr>
          <a:xfrm flipH="1">
            <a:off x="1671093" y="4266058"/>
            <a:ext cx="5530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04F1FB9-B437-491A-8616-2B5B87FAD64B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1671093" y="3218967"/>
            <a:ext cx="553021" cy="846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C3826E4-5FD7-4A28-BF40-3202242CB386}"/>
              </a:ext>
            </a:extLst>
          </p:cNvPr>
          <p:cNvSpPr txBox="1"/>
          <p:nvPr/>
        </p:nvSpPr>
        <p:spPr>
          <a:xfrm>
            <a:off x="13221" y="2317653"/>
            <a:ext cx="133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数据重复分析：</a:t>
            </a:r>
            <a:endParaRPr lang="zh-CN" altLang="en-US" sz="14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AF9481D-451B-4C73-898D-9F4C7757B656}"/>
              </a:ext>
            </a:extLst>
          </p:cNvPr>
          <p:cNvSpPr txBox="1"/>
          <p:nvPr/>
        </p:nvSpPr>
        <p:spPr>
          <a:xfrm>
            <a:off x="467544" y="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ACK</a:t>
            </a:r>
            <a:r>
              <a:rPr lang="zh-CN" altLang="en-US" dirty="0">
                <a:solidFill>
                  <a:srgbClr val="FF0000"/>
                </a:solidFill>
              </a:rPr>
              <a:t>应答级别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16EFB8-4B41-4F81-904A-E74526ADC471}"/>
              </a:ext>
            </a:extLst>
          </p:cNvPr>
          <p:cNvSpPr txBox="1"/>
          <p:nvPr/>
        </p:nvSpPr>
        <p:spPr>
          <a:xfrm>
            <a:off x="4416308" y="3424540"/>
            <a:ext cx="28199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接收了两份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Hello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数据，导致数据重复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9B16310-0E24-4F65-B88E-BF9FCDF813A2}"/>
              </a:ext>
            </a:extLst>
          </p:cNvPr>
          <p:cNvSpPr txBox="1"/>
          <p:nvPr/>
        </p:nvSpPr>
        <p:spPr>
          <a:xfrm>
            <a:off x="0" y="449574"/>
            <a:ext cx="1409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可靠性总结：</a:t>
            </a:r>
            <a:endParaRPr lang="zh-CN" altLang="zh-CN" sz="1400" b="1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BE9425-92A6-43F6-9969-9A7412AC9E51}"/>
              </a:ext>
            </a:extLst>
          </p:cNvPr>
          <p:cNvSpPr txBox="1"/>
          <p:nvPr/>
        </p:nvSpPr>
        <p:spPr>
          <a:xfrm>
            <a:off x="492903" y="716797"/>
            <a:ext cx="4312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acks=0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，生产者发送过来数据就不管了，可靠性差，效率高；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465D5D8-BF58-40A3-8345-2A26F83FC967}"/>
              </a:ext>
            </a:extLst>
          </p:cNvPr>
          <p:cNvSpPr txBox="1"/>
          <p:nvPr/>
        </p:nvSpPr>
        <p:spPr>
          <a:xfrm>
            <a:off x="485097" y="1006039"/>
            <a:ext cx="5184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acks=1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，生产者发送过来数据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应答，可靠性中等，效率中等；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DD3CF36-30D9-48D3-8DA8-8C548A88214F}"/>
              </a:ext>
            </a:extLst>
          </p:cNvPr>
          <p:cNvSpPr txBox="1"/>
          <p:nvPr/>
        </p:nvSpPr>
        <p:spPr>
          <a:xfrm>
            <a:off x="492903" y="1298433"/>
            <a:ext cx="6400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acks=-1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，生产者发送过来数据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队列里面所有</a:t>
            </a:r>
            <a:r>
              <a:rPr lang="en-US" altLang="zh-CN" sz="1200" b="1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Follwer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应答，可靠性高，效率低；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8A8DA8F-79AA-450C-A646-230176411F8D}"/>
              </a:ext>
            </a:extLst>
          </p:cNvPr>
          <p:cNvSpPr txBox="1"/>
          <p:nvPr/>
        </p:nvSpPr>
        <p:spPr>
          <a:xfrm>
            <a:off x="467544" y="1588765"/>
            <a:ext cx="8676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在生产环境中，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acks=0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很少使用；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acks=1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，一般用于传输普通日志，允许丢个别数据；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acks=-1</a:t>
            </a:r>
            <a:r>
              <a:rPr lang="zh-CN" altLang="en-US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，一般用于传输和钱相关的数据，对可靠性要求比较高的场景。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67FE3F4-4603-4925-8478-2329865A5571}"/>
              </a:ext>
            </a:extLst>
          </p:cNvPr>
          <p:cNvSpPr txBox="1"/>
          <p:nvPr/>
        </p:nvSpPr>
        <p:spPr>
          <a:xfrm>
            <a:off x="4439635" y="3823775"/>
            <a:ext cx="28199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具体如何解决数据重复？下回分解。</a:t>
            </a:r>
            <a:endParaRPr lang="zh-CN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24168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 animBg="1"/>
      <p:bldP spid="9" grpId="0" animBg="1"/>
      <p:bldP spid="12" grpId="0" animBg="1"/>
      <p:bldP spid="13" grpId="0"/>
      <p:bldP spid="14" grpId="0" animBg="1"/>
      <p:bldP spid="15" grpId="0" animBg="1"/>
      <p:bldP spid="19" grpId="0" animBg="1"/>
      <p:bldP spid="20" grpId="0" animBg="1"/>
      <p:bldP spid="21" grpId="0" animBg="1"/>
      <p:bldP spid="22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0C73D7-BE0E-4767-9AE1-0535F5461158}"/>
              </a:ext>
            </a:extLst>
          </p:cNvPr>
          <p:cNvSpPr txBox="1"/>
          <p:nvPr/>
        </p:nvSpPr>
        <p:spPr>
          <a:xfrm>
            <a:off x="539552" y="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幂等性原理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F35EAE-D6F7-4CB2-A9B2-CFABEDF6DA40}"/>
              </a:ext>
            </a:extLst>
          </p:cNvPr>
          <p:cNvSpPr/>
          <p:nvPr/>
        </p:nvSpPr>
        <p:spPr>
          <a:xfrm>
            <a:off x="1835696" y="2441410"/>
            <a:ext cx="6986657" cy="26766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F22A06-3E1C-4C4A-8A5A-A430FF00C5F7}"/>
              </a:ext>
            </a:extLst>
          </p:cNvPr>
          <p:cNvSpPr/>
          <p:nvPr/>
        </p:nvSpPr>
        <p:spPr>
          <a:xfrm>
            <a:off x="2023022" y="2806296"/>
            <a:ext cx="6653434" cy="10702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EEF9F5-5300-45D3-A25D-B3C6C44FC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4124" y="2441411"/>
            <a:ext cx="155575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80469B-AD02-42E7-B005-CB47048A71A2}"/>
              </a:ext>
            </a:extLst>
          </p:cNvPr>
          <p:cNvSpPr/>
          <p:nvPr/>
        </p:nvSpPr>
        <p:spPr>
          <a:xfrm>
            <a:off x="2165896" y="3149311"/>
            <a:ext cx="1606550" cy="3857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/>
              <a:t>TopicA-Partition0</a:t>
            </a:r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C78797-90B6-4BF5-96CB-BFB6998419A8}"/>
              </a:ext>
            </a:extLst>
          </p:cNvPr>
          <p:cNvSpPr/>
          <p:nvPr/>
        </p:nvSpPr>
        <p:spPr>
          <a:xfrm>
            <a:off x="2021434" y="3995445"/>
            <a:ext cx="6653434" cy="10336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0DE9A2-0BD3-4C29-A7F6-0A60F0225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571" y="4012908"/>
            <a:ext cx="12954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/>
              <a:t>broker1</a:t>
            </a:r>
            <a:endParaRPr lang="zh-CN" altLang="en-US" sz="12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3130D4-FFB3-480B-8065-FFF4A450D5FC}"/>
              </a:ext>
            </a:extLst>
          </p:cNvPr>
          <p:cNvSpPr/>
          <p:nvPr/>
        </p:nvSpPr>
        <p:spPr>
          <a:xfrm>
            <a:off x="2188121" y="4308183"/>
            <a:ext cx="1606550" cy="3857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/>
              <a:t>TopicA-Partition1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4A8CF3-6C86-4BFA-9E5F-6EBEFB871013}"/>
              </a:ext>
            </a:extLst>
          </p:cNvPr>
          <p:cNvSpPr/>
          <p:nvPr/>
        </p:nvSpPr>
        <p:spPr>
          <a:xfrm>
            <a:off x="179512" y="3501684"/>
            <a:ext cx="1176189" cy="5857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/>
              <a:t>Producer1</a:t>
            </a:r>
          </a:p>
          <a:p>
            <a:pPr algn="ctr">
              <a:defRPr/>
            </a:pPr>
            <a:r>
              <a:rPr lang="en-US" altLang="zh-CN" sz="1400" dirty="0" err="1"/>
              <a:t>Pid</a:t>
            </a:r>
            <a:r>
              <a:rPr lang="en-US" altLang="zh-CN" sz="1400" dirty="0"/>
              <a:t>=1000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18D4C3-8166-453B-84D8-C2674DD6A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671" y="2877849"/>
            <a:ext cx="12969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/>
              <a:t>broker0</a:t>
            </a:r>
            <a:endParaRPr lang="zh-CN" altLang="en-US" sz="120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3B0569B-4C06-46F6-90C8-BF7A53C40E59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 flipV="1">
            <a:off x="1355701" y="3342193"/>
            <a:ext cx="810195" cy="452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6E27CA4-E3A6-4FED-9D13-8C6C91AC4776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3772446" y="3342193"/>
            <a:ext cx="871564" cy="80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9C7754F-F1D0-4D73-9B35-212E1606C083}"/>
              </a:ext>
            </a:extLst>
          </p:cNvPr>
          <p:cNvSpPr/>
          <p:nvPr/>
        </p:nvSpPr>
        <p:spPr>
          <a:xfrm>
            <a:off x="4644010" y="2870457"/>
            <a:ext cx="3960440" cy="95954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B2FD2E-71B8-460A-879D-D06EE52CF0C9}"/>
              </a:ext>
            </a:extLst>
          </p:cNvPr>
          <p:cNvSpPr/>
          <p:nvPr/>
        </p:nvSpPr>
        <p:spPr>
          <a:xfrm>
            <a:off x="4734124" y="3001426"/>
            <a:ext cx="1176189" cy="7239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/>
              <a:t>Sequence=0</a:t>
            </a:r>
          </a:p>
          <a:p>
            <a:pPr algn="ctr">
              <a:defRPr/>
            </a:pPr>
            <a:r>
              <a:rPr lang="en-US" altLang="zh-CN" sz="1200" dirty="0"/>
              <a:t>PID=1000</a:t>
            </a:r>
          </a:p>
          <a:p>
            <a:pPr algn="ctr">
              <a:defRPr/>
            </a:pPr>
            <a:r>
              <a:rPr lang="en-US" altLang="zh-CN" sz="1200" dirty="0"/>
              <a:t>Value=Hello</a:t>
            </a:r>
            <a:endParaRPr lang="zh-CN" altLang="en-US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4727B1-EFCE-4484-A10C-7716C071A98B}"/>
              </a:ext>
            </a:extLst>
          </p:cNvPr>
          <p:cNvSpPr/>
          <p:nvPr/>
        </p:nvSpPr>
        <p:spPr>
          <a:xfrm>
            <a:off x="6012160" y="3001426"/>
            <a:ext cx="1176189" cy="7239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rgbClr val="FF0000"/>
                </a:solidFill>
              </a:rPr>
              <a:t>Sequence=1</a:t>
            </a:r>
          </a:p>
          <a:p>
            <a:pPr algn="ctr">
              <a:defRPr/>
            </a:pPr>
            <a:r>
              <a:rPr lang="en-US" altLang="zh-CN" sz="1200" dirty="0"/>
              <a:t>PID=1000</a:t>
            </a:r>
          </a:p>
          <a:p>
            <a:pPr algn="ctr">
              <a:defRPr/>
            </a:pPr>
            <a:r>
              <a:rPr lang="en-US" altLang="zh-CN" sz="1200" dirty="0"/>
              <a:t>Value=world</a:t>
            </a:r>
            <a:endParaRPr lang="zh-CN" altLang="en-US" sz="1200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DB0ECA4-9FB7-4612-A412-F713378B9D48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794671" y="4501065"/>
            <a:ext cx="850141" cy="71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89BEE17-61B1-4062-9BF7-9668F1FAADB8}"/>
              </a:ext>
            </a:extLst>
          </p:cNvPr>
          <p:cNvSpPr/>
          <p:nvPr/>
        </p:nvSpPr>
        <p:spPr>
          <a:xfrm>
            <a:off x="4644812" y="4028404"/>
            <a:ext cx="3960440" cy="95954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12304A-0943-49C9-BF89-E7EE45A36D2F}"/>
              </a:ext>
            </a:extLst>
          </p:cNvPr>
          <p:cNvSpPr/>
          <p:nvPr/>
        </p:nvSpPr>
        <p:spPr>
          <a:xfrm>
            <a:off x="4734927" y="4146744"/>
            <a:ext cx="1176189" cy="7228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/>
              <a:t>Sequence=0</a:t>
            </a:r>
          </a:p>
          <a:p>
            <a:pPr algn="ctr">
              <a:defRPr/>
            </a:pPr>
            <a:r>
              <a:rPr lang="en-US" altLang="zh-CN" sz="1200" dirty="0"/>
              <a:t>PID=1000</a:t>
            </a:r>
          </a:p>
          <a:p>
            <a:pPr algn="ctr">
              <a:defRPr/>
            </a:pPr>
            <a:r>
              <a:rPr lang="en-US" altLang="zh-CN" sz="1200" dirty="0"/>
              <a:t>Value=</a:t>
            </a:r>
            <a:r>
              <a:rPr lang="en-US" altLang="zh-CN" sz="1200" dirty="0" err="1"/>
              <a:t>atguigu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C30747-20AD-4E96-BF1A-77DEC404CB59}"/>
              </a:ext>
            </a:extLst>
          </p:cNvPr>
          <p:cNvSpPr/>
          <p:nvPr/>
        </p:nvSpPr>
        <p:spPr>
          <a:xfrm>
            <a:off x="6012963" y="4146744"/>
            <a:ext cx="1176189" cy="7228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/>
              <a:t>Sequence=1</a:t>
            </a:r>
          </a:p>
          <a:p>
            <a:pPr algn="ctr">
              <a:defRPr/>
            </a:pPr>
            <a:r>
              <a:rPr lang="en-US" altLang="zh-CN" sz="1200" dirty="0"/>
              <a:t>PID=1000</a:t>
            </a:r>
          </a:p>
          <a:p>
            <a:pPr algn="ctr">
              <a:defRPr/>
            </a:pPr>
            <a:r>
              <a:rPr lang="en-US" altLang="zh-CN" sz="1200" dirty="0"/>
              <a:t>Value=</a:t>
            </a:r>
            <a:r>
              <a:rPr lang="en-US" altLang="zh-CN" sz="1200" dirty="0" err="1"/>
              <a:t>kafka</a:t>
            </a:r>
            <a:endParaRPr lang="zh-CN" altLang="en-US" sz="1200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7B50FC8-F4B7-46EA-91AD-5A1FF743EC69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1355701" y="3794578"/>
            <a:ext cx="832420" cy="706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B3A8259-FD69-4A26-9D48-BB86F7E9CE66}"/>
              </a:ext>
            </a:extLst>
          </p:cNvPr>
          <p:cNvSpPr/>
          <p:nvPr/>
        </p:nvSpPr>
        <p:spPr>
          <a:xfrm>
            <a:off x="7284242" y="2994525"/>
            <a:ext cx="1176190" cy="7228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rgbClr val="FF0000"/>
                </a:solidFill>
              </a:rPr>
              <a:t>Sequence=1</a:t>
            </a:r>
          </a:p>
          <a:p>
            <a:pPr algn="ctr">
              <a:defRPr/>
            </a:pPr>
            <a:r>
              <a:rPr lang="en-US" altLang="zh-CN" sz="1200" dirty="0"/>
              <a:t>PID=1000</a:t>
            </a:r>
          </a:p>
          <a:p>
            <a:pPr algn="ctr">
              <a:defRPr/>
            </a:pPr>
            <a:r>
              <a:rPr lang="en-US" altLang="zh-CN" sz="1200" dirty="0"/>
              <a:t>Value=world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B1C2AC-1A26-4752-B72A-1FFF61578812}"/>
              </a:ext>
            </a:extLst>
          </p:cNvPr>
          <p:cNvSpPr txBox="1"/>
          <p:nvPr/>
        </p:nvSpPr>
        <p:spPr>
          <a:xfrm>
            <a:off x="31324" y="377997"/>
            <a:ext cx="8928992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幂等性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就是指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Producer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不论向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发送多少次重复数据，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端都只会持久化一条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，保证了不重复。</a:t>
            </a:r>
            <a:endParaRPr lang="en-US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精确一次（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Exactly Once</a:t>
            </a:r>
            <a:r>
              <a:rPr lang="zh-CN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zh-CN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幂等性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zh-CN" altLang="en-US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至少一次（ </a:t>
            </a: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ack=-1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+  </a:t>
            </a:r>
            <a:r>
              <a:rPr lang="zh-CN" altLang="en-US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分区副本数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&gt;=2</a:t>
            </a:r>
            <a:r>
              <a:rPr lang="zh-CN" altLang="en-US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zh-CN" altLang="en-US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最小副本数量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&gt;=2</a:t>
            </a:r>
            <a:r>
              <a:rPr lang="zh-CN" altLang="en-US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4" name="乘号 23">
            <a:extLst>
              <a:ext uri="{FF2B5EF4-FFF2-40B4-BE49-F238E27FC236}">
                <a16:creationId xmlns:a16="http://schemas.microsoft.com/office/drawing/2014/main" id="{E6D7AF2B-3AA9-45C6-90F2-C5DE008C1448}"/>
              </a:ext>
            </a:extLst>
          </p:cNvPr>
          <p:cNvSpPr/>
          <p:nvPr/>
        </p:nvSpPr>
        <p:spPr>
          <a:xfrm>
            <a:off x="7685320" y="3149311"/>
            <a:ext cx="360040" cy="393948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ED39FB-4AC0-4134-AE42-2CBB8E1FBBF6}"/>
              </a:ext>
            </a:extLst>
          </p:cNvPr>
          <p:cNvSpPr txBox="1"/>
          <p:nvPr/>
        </p:nvSpPr>
        <p:spPr>
          <a:xfrm>
            <a:off x="825702" y="3186365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/>
              <a:t>Hello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D7166FA-6D26-4284-879C-CAF2992D9367}"/>
              </a:ext>
            </a:extLst>
          </p:cNvPr>
          <p:cNvSpPr txBox="1"/>
          <p:nvPr/>
        </p:nvSpPr>
        <p:spPr>
          <a:xfrm>
            <a:off x="179512" y="317132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/>
              <a:t>world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E44F1E-4F58-4B6A-BEF8-11D6E1D57283}"/>
              </a:ext>
            </a:extLst>
          </p:cNvPr>
          <p:cNvSpPr txBox="1"/>
          <p:nvPr/>
        </p:nvSpPr>
        <p:spPr>
          <a:xfrm>
            <a:off x="685299" y="4132639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/>
              <a:t>atguigu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4710E1-A088-407E-83A8-6807C9BB9C0C}"/>
              </a:ext>
            </a:extLst>
          </p:cNvPr>
          <p:cNvSpPr txBox="1"/>
          <p:nvPr/>
        </p:nvSpPr>
        <p:spPr>
          <a:xfrm>
            <a:off x="165166" y="4132639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/>
              <a:t>kafka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210D572-9C3F-423E-B02F-DD6505A8AD18}"/>
              </a:ext>
            </a:extLst>
          </p:cNvPr>
          <p:cNvSpPr txBox="1"/>
          <p:nvPr/>
        </p:nvSpPr>
        <p:spPr>
          <a:xfrm>
            <a:off x="0" y="1203804"/>
            <a:ext cx="8928992" cy="102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重复数据的判断标准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具有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&lt;PID, Partition, </a:t>
            </a:r>
            <a:r>
              <a:rPr lang="en-US" altLang="zh-CN" sz="1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SeqNumber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相同主键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的消息提交时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只会持久化一条。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其中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PID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每次重启都会分配一个新的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Partition 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表示分区号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Sequence Number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是单调自增的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幂等性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只能保证的是在单分区单会话内不重复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1766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/>
      <p:bldP spid="24" grpId="0" animBg="1"/>
      <p:bldP spid="25" grpId="0"/>
      <p:bldP spid="26" grpId="0"/>
      <p:bldP spid="27" grpId="0"/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76D12E-3810-49C0-AAD6-7370E7D1C041}"/>
              </a:ext>
            </a:extLst>
          </p:cNvPr>
          <p:cNvSpPr/>
          <p:nvPr/>
        </p:nvSpPr>
        <p:spPr>
          <a:xfrm>
            <a:off x="3370338" y="1059582"/>
            <a:ext cx="5719910" cy="3672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94F98-DD2B-46C6-A2D6-FB88D305BC34}"/>
              </a:ext>
            </a:extLst>
          </p:cNvPr>
          <p:cNvSpPr/>
          <p:nvPr/>
        </p:nvSpPr>
        <p:spPr>
          <a:xfrm>
            <a:off x="3524228" y="1390926"/>
            <a:ext cx="5440260" cy="240495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A0D201-34FB-457F-962D-539B545EAE88}"/>
              </a:ext>
            </a:extLst>
          </p:cNvPr>
          <p:cNvSpPr txBox="1"/>
          <p:nvPr/>
        </p:nvSpPr>
        <p:spPr>
          <a:xfrm>
            <a:off x="3563694" y="1382364"/>
            <a:ext cx="738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4050F0-9E3E-4CB7-8A71-741F98E481DD}"/>
              </a:ext>
            </a:extLst>
          </p:cNvPr>
          <p:cNvSpPr txBox="1"/>
          <p:nvPr/>
        </p:nvSpPr>
        <p:spPr>
          <a:xfrm>
            <a:off x="5245498" y="1081160"/>
            <a:ext cx="1555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9647CE-38EF-4AA5-8288-7D80BAC53229}"/>
              </a:ext>
            </a:extLst>
          </p:cNvPr>
          <p:cNvSpPr/>
          <p:nvPr/>
        </p:nvSpPr>
        <p:spPr>
          <a:xfrm>
            <a:off x="4008567" y="3236435"/>
            <a:ext cx="1499537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pPr algn="ctr"/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13FCB7-2A38-4541-A9AE-BFD88564C912}"/>
              </a:ext>
            </a:extLst>
          </p:cNvPr>
          <p:cNvSpPr/>
          <p:nvPr/>
        </p:nvSpPr>
        <p:spPr>
          <a:xfrm>
            <a:off x="6378756" y="1661160"/>
            <a:ext cx="2507418" cy="4874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__</a:t>
            </a:r>
            <a:r>
              <a:rPr lang="en-US" altLang="zh-CN" sz="1200" dirty="0" err="1">
                <a:solidFill>
                  <a:schemeClr val="tx1"/>
                </a:solidFill>
              </a:rPr>
              <a:t>transaction_state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分区</a:t>
            </a:r>
            <a:r>
              <a:rPr lang="en-US" altLang="zh-CN" sz="1200" dirty="0">
                <a:solidFill>
                  <a:schemeClr val="tx1"/>
                </a:solidFill>
              </a:rPr>
              <a:t>-Leader</a:t>
            </a:r>
          </a:p>
          <a:p>
            <a:pPr algn="ctr"/>
            <a:r>
              <a:rPr lang="zh-CN" altLang="en-US" sz="1200" dirty="0"/>
              <a:t>存储事务信息的特殊主题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594510-D554-4DB5-B6E4-9D0BC7A77DF9}"/>
              </a:ext>
            </a:extLst>
          </p:cNvPr>
          <p:cNvSpPr/>
          <p:nvPr/>
        </p:nvSpPr>
        <p:spPr>
          <a:xfrm>
            <a:off x="137118" y="1388937"/>
            <a:ext cx="852609" cy="24069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Kafka</a:t>
            </a:r>
          </a:p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7D091D-BD22-410B-B6C5-71EF301426C9}"/>
              </a:ext>
            </a:extLst>
          </p:cNvPr>
          <p:cNvSpPr txBox="1"/>
          <p:nvPr/>
        </p:nvSpPr>
        <p:spPr>
          <a:xfrm>
            <a:off x="467544" y="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Kafka </a:t>
            </a:r>
            <a:r>
              <a:rPr lang="zh-CN" altLang="en-US" dirty="0">
                <a:solidFill>
                  <a:srgbClr val="FF0000"/>
                </a:solidFill>
              </a:rPr>
              <a:t>事务原理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3C2A0B-7226-4EB5-988F-AC554CC3003A}"/>
              </a:ext>
            </a:extLst>
          </p:cNvPr>
          <p:cNvSpPr/>
          <p:nvPr/>
        </p:nvSpPr>
        <p:spPr>
          <a:xfrm>
            <a:off x="4025297" y="1661161"/>
            <a:ext cx="1481199" cy="73064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Transaction Coordinator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事务协调器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C2C2D8C-6424-4555-B6FE-6D1CD97FF68F}"/>
              </a:ext>
            </a:extLst>
          </p:cNvPr>
          <p:cNvCxnSpPr>
            <a:cxnSpLocks/>
          </p:cNvCxnSpPr>
          <p:nvPr/>
        </p:nvCxnSpPr>
        <p:spPr>
          <a:xfrm>
            <a:off x="986723" y="1678495"/>
            <a:ext cx="30385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A260FC2-50B9-4E1F-AB32-AF26A6F17EF4}"/>
              </a:ext>
            </a:extLst>
          </p:cNvPr>
          <p:cNvSpPr txBox="1"/>
          <p:nvPr/>
        </p:nvSpPr>
        <p:spPr>
          <a:xfrm>
            <a:off x="1050112" y="3193212"/>
            <a:ext cx="1542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/>
              <a:t>3.</a:t>
            </a:r>
            <a:r>
              <a:rPr lang="zh-CN" altLang="en-US" sz="1200" dirty="0"/>
              <a:t>发送消息到</a:t>
            </a:r>
            <a:r>
              <a:rPr lang="en-US" altLang="zh-CN" sz="1200" dirty="0" err="1"/>
              <a:t>TopicA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7FEF53-28C9-4157-A980-2F757C231891}"/>
              </a:ext>
            </a:extLst>
          </p:cNvPr>
          <p:cNvSpPr txBox="1"/>
          <p:nvPr/>
        </p:nvSpPr>
        <p:spPr>
          <a:xfrm>
            <a:off x="1050112" y="1401496"/>
            <a:ext cx="2507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/>
              <a:t>1.</a:t>
            </a:r>
            <a:r>
              <a:rPr lang="zh-CN" altLang="en-US" sz="1200" dirty="0"/>
              <a:t>请求 </a:t>
            </a:r>
            <a:r>
              <a:rPr lang="en-US" altLang="zh-CN" sz="1200" dirty="0"/>
              <a:t>producer id</a:t>
            </a:r>
            <a:r>
              <a:rPr lang="zh-CN" altLang="en-US" sz="1200" dirty="0"/>
              <a:t>（幂等性需要）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498BF44-DB98-48DA-9696-4F4757F1F65B}"/>
              </a:ext>
            </a:extLst>
          </p:cNvPr>
          <p:cNvCxnSpPr>
            <a:cxnSpLocks/>
          </p:cNvCxnSpPr>
          <p:nvPr/>
        </p:nvCxnSpPr>
        <p:spPr>
          <a:xfrm flipH="1">
            <a:off x="986723" y="1908017"/>
            <a:ext cx="30385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32BF033-8CF3-4F88-8E78-4928381A4A50}"/>
              </a:ext>
            </a:extLst>
          </p:cNvPr>
          <p:cNvSpPr txBox="1"/>
          <p:nvPr/>
        </p:nvSpPr>
        <p:spPr>
          <a:xfrm>
            <a:off x="2043029" y="1678224"/>
            <a:ext cx="13869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/>
              <a:t>2.</a:t>
            </a:r>
            <a:r>
              <a:rPr lang="zh-CN" altLang="en-US" sz="1200" dirty="0"/>
              <a:t>返回</a:t>
            </a:r>
            <a:r>
              <a:rPr lang="en-US" altLang="zh-CN" sz="1200" dirty="0"/>
              <a:t>producer id</a:t>
            </a:r>
            <a:endParaRPr lang="zh-CN" altLang="en-US" sz="12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8AE84A6-4C2F-436D-BB7C-FB9EAB1E7928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986723" y="3480157"/>
            <a:ext cx="3021844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9BA0894-5FDA-4FD7-B6C7-06EA71832DFF}"/>
              </a:ext>
            </a:extLst>
          </p:cNvPr>
          <p:cNvCxnSpPr>
            <a:cxnSpLocks/>
          </p:cNvCxnSpPr>
          <p:nvPr/>
        </p:nvCxnSpPr>
        <p:spPr>
          <a:xfrm>
            <a:off x="986723" y="2148401"/>
            <a:ext cx="30385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5E3AE30-68E7-4EBA-8DCC-E7C70518B755}"/>
              </a:ext>
            </a:extLst>
          </p:cNvPr>
          <p:cNvSpPr txBox="1"/>
          <p:nvPr/>
        </p:nvSpPr>
        <p:spPr>
          <a:xfrm>
            <a:off x="1050112" y="1908017"/>
            <a:ext cx="1423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/>
              <a:t>4.</a:t>
            </a:r>
            <a:r>
              <a:rPr lang="zh-CN" altLang="en-US" sz="1200" dirty="0"/>
              <a:t>发送</a:t>
            </a:r>
            <a:r>
              <a:rPr lang="en-US" altLang="zh-CN" sz="1200" dirty="0"/>
              <a:t>commit</a:t>
            </a:r>
            <a:r>
              <a:rPr lang="zh-CN" altLang="en-US" sz="1200" dirty="0"/>
              <a:t>请求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7EA25A8-1F0A-4FC8-BC7D-097E58AC15B3}"/>
              </a:ext>
            </a:extLst>
          </p:cNvPr>
          <p:cNvCxnSpPr>
            <a:cxnSpLocks/>
          </p:cNvCxnSpPr>
          <p:nvPr/>
        </p:nvCxnSpPr>
        <p:spPr>
          <a:xfrm>
            <a:off x="5506496" y="1678496"/>
            <a:ext cx="8722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0AF21C9-3B92-4A96-8777-B01E2B616D32}"/>
              </a:ext>
            </a:extLst>
          </p:cNvPr>
          <p:cNvSpPr txBox="1"/>
          <p:nvPr/>
        </p:nvSpPr>
        <p:spPr>
          <a:xfrm>
            <a:off x="5317611" y="1382364"/>
            <a:ext cx="15776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/>
              <a:t>5.</a:t>
            </a:r>
            <a:r>
              <a:rPr lang="zh-CN" altLang="en-US" sz="1200" dirty="0"/>
              <a:t>持久化</a:t>
            </a:r>
            <a:r>
              <a:rPr lang="en-US" altLang="zh-CN" sz="1200" dirty="0"/>
              <a:t>commit</a:t>
            </a:r>
            <a:r>
              <a:rPr lang="zh-CN" altLang="en-US" sz="1200" dirty="0"/>
              <a:t>请求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80E7D2-6114-45AC-B0A8-6DCA78423151}"/>
              </a:ext>
            </a:extLst>
          </p:cNvPr>
          <p:cNvSpPr txBox="1"/>
          <p:nvPr/>
        </p:nvSpPr>
        <p:spPr>
          <a:xfrm>
            <a:off x="2052586" y="2151860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/>
              <a:t>6.</a:t>
            </a:r>
            <a:r>
              <a:rPr lang="zh-CN" altLang="en-US" sz="1200" dirty="0"/>
              <a:t>返回成功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C2536FC-F769-45B0-AC0D-DEF3D080C26D}"/>
              </a:ext>
            </a:extLst>
          </p:cNvPr>
          <p:cNvCxnSpPr>
            <a:cxnSpLocks/>
          </p:cNvCxnSpPr>
          <p:nvPr/>
        </p:nvCxnSpPr>
        <p:spPr>
          <a:xfrm flipH="1">
            <a:off x="986724" y="2391804"/>
            <a:ext cx="30532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DC227C9-9B48-4D6B-905C-77595059F463}"/>
              </a:ext>
            </a:extLst>
          </p:cNvPr>
          <p:cNvCxnSpPr>
            <a:cxnSpLocks/>
          </p:cNvCxnSpPr>
          <p:nvPr/>
        </p:nvCxnSpPr>
        <p:spPr>
          <a:xfrm flipH="1">
            <a:off x="4585528" y="2391804"/>
            <a:ext cx="7561" cy="844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09AB3AA-3E46-4F0B-B19E-8E22BBFC5D13}"/>
              </a:ext>
            </a:extLst>
          </p:cNvPr>
          <p:cNvSpPr txBox="1"/>
          <p:nvPr/>
        </p:nvSpPr>
        <p:spPr>
          <a:xfrm>
            <a:off x="3554044" y="2741764"/>
            <a:ext cx="1025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/>
              <a:t>7.</a:t>
            </a:r>
            <a:r>
              <a:rPr lang="zh-CN" altLang="en-US" sz="1200" dirty="0"/>
              <a:t>后台发送</a:t>
            </a:r>
            <a:r>
              <a:rPr lang="en-US" altLang="zh-CN" sz="1200" dirty="0"/>
              <a:t>commit</a:t>
            </a:r>
            <a:r>
              <a:rPr lang="zh-CN" altLang="en-US" sz="1200" dirty="0"/>
              <a:t>请求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1920A56-C000-468A-BD71-8689B97D26A5}"/>
              </a:ext>
            </a:extLst>
          </p:cNvPr>
          <p:cNvSpPr txBox="1"/>
          <p:nvPr/>
        </p:nvSpPr>
        <p:spPr>
          <a:xfrm>
            <a:off x="4927228" y="2728523"/>
            <a:ext cx="1025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/>
              <a:t>8.</a:t>
            </a:r>
            <a:r>
              <a:rPr lang="zh-CN" altLang="en-US" sz="1200" dirty="0"/>
              <a:t>返回成功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9A63E06-F2C4-40D1-9B10-95FD512A7900}"/>
              </a:ext>
            </a:extLst>
          </p:cNvPr>
          <p:cNvCxnSpPr>
            <a:cxnSpLocks/>
          </p:cNvCxnSpPr>
          <p:nvPr/>
        </p:nvCxnSpPr>
        <p:spPr>
          <a:xfrm flipV="1">
            <a:off x="4932040" y="2391804"/>
            <a:ext cx="0" cy="84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D9353EE-7AF6-4209-9A3D-5CAC9B9C94C2}"/>
              </a:ext>
            </a:extLst>
          </p:cNvPr>
          <p:cNvCxnSpPr>
            <a:cxnSpLocks/>
          </p:cNvCxnSpPr>
          <p:nvPr/>
        </p:nvCxnSpPr>
        <p:spPr>
          <a:xfrm>
            <a:off x="5506496" y="2146209"/>
            <a:ext cx="8722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BDFE084-1FD9-4936-A6F6-89A1ABF99FD8}"/>
              </a:ext>
            </a:extLst>
          </p:cNvPr>
          <p:cNvSpPr txBox="1"/>
          <p:nvPr/>
        </p:nvSpPr>
        <p:spPr>
          <a:xfrm>
            <a:off x="5451801" y="2136318"/>
            <a:ext cx="1025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/>
              <a:t>9.</a:t>
            </a:r>
            <a:r>
              <a:rPr lang="zh-CN" altLang="en-US" sz="1200" dirty="0"/>
              <a:t>持久化事务成功信息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21701D-14BC-4925-82FC-3C3ED46A8292}"/>
              </a:ext>
            </a:extLst>
          </p:cNvPr>
          <p:cNvSpPr/>
          <p:nvPr/>
        </p:nvSpPr>
        <p:spPr>
          <a:xfrm>
            <a:off x="3524228" y="4048546"/>
            <a:ext cx="5440260" cy="4874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74518C4-984B-4DC5-B643-3E711BD710CA}"/>
              </a:ext>
            </a:extLst>
          </p:cNvPr>
          <p:cNvSpPr txBox="1"/>
          <p:nvPr/>
        </p:nvSpPr>
        <p:spPr>
          <a:xfrm>
            <a:off x="3563694" y="4045369"/>
            <a:ext cx="738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FCB2D46-354C-4CA9-890C-9DA86A21A011}"/>
              </a:ext>
            </a:extLst>
          </p:cNvPr>
          <p:cNvSpPr txBox="1"/>
          <p:nvPr/>
        </p:nvSpPr>
        <p:spPr>
          <a:xfrm>
            <a:off x="153211" y="440845"/>
            <a:ext cx="3626701" cy="414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说明：开启事务，必须开启幂等性。</a:t>
            </a:r>
            <a:endParaRPr lang="zh-CN" altLang="zh-CN" sz="16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D929ADC-CAF1-46E8-A9D1-D000A85CB50B}"/>
              </a:ext>
            </a:extLst>
          </p:cNvPr>
          <p:cNvSpPr txBox="1"/>
          <p:nvPr/>
        </p:nvSpPr>
        <p:spPr>
          <a:xfrm>
            <a:off x="6567796" y="2147821"/>
            <a:ext cx="23966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，每个分区负责一部分事务。事务划分是根据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transactional.id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hashcode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值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%50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200" kern="1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计算出该事务属于哪个分区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2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副本所在的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broker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节点即为这个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transactional.id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对应的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Transaction Coordinator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节点。</a:t>
            </a:r>
            <a:endParaRPr lang="zh-CN" altLang="en-US" sz="12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9F6AC0-7466-4FE0-B332-13628DA9ADCF}"/>
              </a:ext>
            </a:extLst>
          </p:cNvPr>
          <p:cNvSpPr txBox="1"/>
          <p:nvPr/>
        </p:nvSpPr>
        <p:spPr>
          <a:xfrm>
            <a:off x="44624" y="3906869"/>
            <a:ext cx="27180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Producer 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在使用事务功能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，必须先自定义一个唯一的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transactional.id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有了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transactional.id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，即使客户端挂掉了，它重启后也能继续处理未完成的事务</a:t>
            </a:r>
            <a:endParaRPr lang="zh-CN" alt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6544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 animBg="1"/>
      <p:bldP spid="8" grpId="0" animBg="1"/>
      <p:bldP spid="10" grpId="0" animBg="1"/>
      <p:bldP spid="12" grpId="0"/>
      <p:bldP spid="13" grpId="0"/>
      <p:bldP spid="15" grpId="0"/>
      <p:bldP spid="18" grpId="0"/>
      <p:bldP spid="20" grpId="0"/>
      <p:bldP spid="21" grpId="0"/>
      <p:bldP spid="24" grpId="0"/>
      <p:bldP spid="25" grpId="0"/>
      <p:bldP spid="28" grpId="0"/>
      <p:bldP spid="29" grpId="0" animBg="1"/>
      <p:bldP spid="30" grpId="0"/>
      <p:bldP spid="32" grpId="0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636588-93FC-42C1-8015-A43FAB256008}"/>
              </a:ext>
            </a:extLst>
          </p:cNvPr>
          <p:cNvSpPr txBox="1"/>
          <p:nvPr/>
        </p:nvSpPr>
        <p:spPr>
          <a:xfrm>
            <a:off x="467543" y="0"/>
            <a:ext cx="278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生产经验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数据有序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78A87-4133-4EFF-AB48-930EA30304A3}"/>
              </a:ext>
            </a:extLst>
          </p:cNvPr>
          <p:cNvSpPr/>
          <p:nvPr/>
        </p:nvSpPr>
        <p:spPr>
          <a:xfrm>
            <a:off x="76070" y="2984725"/>
            <a:ext cx="823522" cy="2880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Producer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E510A1-3D44-4663-A00C-EB137EF9645B}"/>
              </a:ext>
            </a:extLst>
          </p:cNvPr>
          <p:cNvSpPr/>
          <p:nvPr/>
        </p:nvSpPr>
        <p:spPr>
          <a:xfrm>
            <a:off x="2051721" y="700430"/>
            <a:ext cx="2520279" cy="4319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59C884-81AF-4501-9E49-2169BE955C72}"/>
              </a:ext>
            </a:extLst>
          </p:cNvPr>
          <p:cNvSpPr/>
          <p:nvPr/>
        </p:nvSpPr>
        <p:spPr>
          <a:xfrm>
            <a:off x="2258244" y="1131590"/>
            <a:ext cx="2169740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D531C1-B9FB-4AB7-9FB7-2223C6BF79F5}"/>
              </a:ext>
            </a:extLst>
          </p:cNvPr>
          <p:cNvSpPr/>
          <p:nvPr/>
        </p:nvSpPr>
        <p:spPr>
          <a:xfrm>
            <a:off x="2258244" y="2427734"/>
            <a:ext cx="2169740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DD2B51-1E9E-4D69-9FDB-366D048C6D2C}"/>
              </a:ext>
            </a:extLst>
          </p:cNvPr>
          <p:cNvSpPr/>
          <p:nvPr/>
        </p:nvSpPr>
        <p:spPr>
          <a:xfrm>
            <a:off x="2258244" y="3723878"/>
            <a:ext cx="2169740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A333DB-0C48-40CE-9E09-469FB7483518}"/>
              </a:ext>
            </a:extLst>
          </p:cNvPr>
          <p:cNvSpPr txBox="1"/>
          <p:nvPr/>
        </p:nvSpPr>
        <p:spPr>
          <a:xfrm>
            <a:off x="2183860" y="725178"/>
            <a:ext cx="12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C5D8FF-F334-49C5-A43A-24040C52997B}"/>
              </a:ext>
            </a:extLst>
          </p:cNvPr>
          <p:cNvSpPr txBox="1"/>
          <p:nvPr/>
        </p:nvSpPr>
        <p:spPr>
          <a:xfrm>
            <a:off x="2258245" y="1126052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A203FD-CA2C-4ED8-A5F3-665722D2B3DF}"/>
              </a:ext>
            </a:extLst>
          </p:cNvPr>
          <p:cNvSpPr txBox="1"/>
          <p:nvPr/>
        </p:nvSpPr>
        <p:spPr>
          <a:xfrm>
            <a:off x="2258244" y="242600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8AEFC6-E88C-4FA7-836C-F6218565B660}"/>
              </a:ext>
            </a:extLst>
          </p:cNvPr>
          <p:cNvSpPr txBox="1"/>
          <p:nvPr/>
        </p:nvSpPr>
        <p:spPr>
          <a:xfrm>
            <a:off x="2258244" y="374045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9C8339-042B-4F5A-84AE-A5F2D08B7FD4}"/>
              </a:ext>
            </a:extLst>
          </p:cNvPr>
          <p:cNvSpPr/>
          <p:nvPr/>
        </p:nvSpPr>
        <p:spPr>
          <a:xfrm>
            <a:off x="2330252" y="1426673"/>
            <a:ext cx="1956816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150D9D-75C0-4FC1-A8B7-6CE8C505428E}"/>
              </a:ext>
            </a:extLst>
          </p:cNvPr>
          <p:cNvSpPr txBox="1"/>
          <p:nvPr/>
        </p:nvSpPr>
        <p:spPr>
          <a:xfrm>
            <a:off x="2342848" y="1487830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TopicA-partition0-leader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BCB080-BCFC-4851-9F64-D691932D9CC4}"/>
              </a:ext>
            </a:extLst>
          </p:cNvPr>
          <p:cNvSpPr/>
          <p:nvPr/>
        </p:nvSpPr>
        <p:spPr>
          <a:xfrm>
            <a:off x="2330252" y="2760416"/>
            <a:ext cx="1956816" cy="736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E58BBD-18A4-4328-A0F3-68128846C255}"/>
              </a:ext>
            </a:extLst>
          </p:cNvPr>
          <p:cNvSpPr/>
          <p:nvPr/>
        </p:nvSpPr>
        <p:spPr>
          <a:xfrm>
            <a:off x="2330250" y="4074745"/>
            <a:ext cx="1956816" cy="736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E3FDD0-6A4C-44E1-88EE-F8F3809091F4}"/>
              </a:ext>
            </a:extLst>
          </p:cNvPr>
          <p:cNvSpPr txBox="1"/>
          <p:nvPr/>
        </p:nvSpPr>
        <p:spPr>
          <a:xfrm>
            <a:off x="2342848" y="2787774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TopicA-partition1-leader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FFD84B-5CED-4C73-8C04-529A5D616E6E}"/>
              </a:ext>
            </a:extLst>
          </p:cNvPr>
          <p:cNvSpPr txBox="1"/>
          <p:nvPr/>
        </p:nvSpPr>
        <p:spPr>
          <a:xfrm>
            <a:off x="2342848" y="4087839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TopicA-partition2-leader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6F85086-28D4-47EC-9683-E46DCE2F4F09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899592" y="1794998"/>
            <a:ext cx="1430660" cy="13337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6446A6D-EA85-4898-B0A6-F09CCCA28965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899592" y="3128741"/>
            <a:ext cx="143066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F0F50DB-BF1D-47A3-9203-9D29AB5B95EC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>
            <a:off x="899592" y="3128741"/>
            <a:ext cx="1430658" cy="13143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47396C4-FFD7-43E8-BE3E-CE148FBF9DB4}"/>
              </a:ext>
            </a:extLst>
          </p:cNvPr>
          <p:cNvSpPr/>
          <p:nvPr/>
        </p:nvSpPr>
        <p:spPr>
          <a:xfrm>
            <a:off x="2479018" y="179499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1D877A-F29A-41A2-A33F-61F71F459B78}"/>
              </a:ext>
            </a:extLst>
          </p:cNvPr>
          <p:cNvSpPr/>
          <p:nvPr/>
        </p:nvSpPr>
        <p:spPr>
          <a:xfrm>
            <a:off x="2776550" y="179909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293CD5-F56B-4423-8CE5-8878766F5670}"/>
              </a:ext>
            </a:extLst>
          </p:cNvPr>
          <p:cNvSpPr/>
          <p:nvPr/>
        </p:nvSpPr>
        <p:spPr>
          <a:xfrm>
            <a:off x="3074082" y="18010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AEEE36-07A7-4A9D-BF86-F0C50ED2F37A}"/>
              </a:ext>
            </a:extLst>
          </p:cNvPr>
          <p:cNvSpPr/>
          <p:nvPr/>
        </p:nvSpPr>
        <p:spPr>
          <a:xfrm>
            <a:off x="3367243" y="179926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4F5AC2-5965-485C-B590-18FFC36A9792}"/>
              </a:ext>
            </a:extLst>
          </p:cNvPr>
          <p:cNvSpPr/>
          <p:nvPr/>
        </p:nvSpPr>
        <p:spPr>
          <a:xfrm>
            <a:off x="3664775" y="1803245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AB6CDB5-DCF0-41D0-98FB-2D315D9E5267}"/>
              </a:ext>
            </a:extLst>
          </p:cNvPr>
          <p:cNvSpPr/>
          <p:nvPr/>
        </p:nvSpPr>
        <p:spPr>
          <a:xfrm>
            <a:off x="3961352" y="180802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69C69D-ABB0-4615-A37F-5FB9CAEBF24E}"/>
              </a:ext>
            </a:extLst>
          </p:cNvPr>
          <p:cNvSpPr/>
          <p:nvPr/>
        </p:nvSpPr>
        <p:spPr>
          <a:xfrm>
            <a:off x="2481977" y="31128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B494AA-EF24-4B44-8195-F602D8244C6B}"/>
              </a:ext>
            </a:extLst>
          </p:cNvPr>
          <p:cNvSpPr/>
          <p:nvPr/>
        </p:nvSpPr>
        <p:spPr>
          <a:xfrm>
            <a:off x="2779509" y="31169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74F7CEA-2977-46FE-AFF4-20EBC3238D81}"/>
              </a:ext>
            </a:extLst>
          </p:cNvPr>
          <p:cNvSpPr/>
          <p:nvPr/>
        </p:nvSpPr>
        <p:spPr>
          <a:xfrm>
            <a:off x="3077041" y="311883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88B77B-D253-4F77-9DAF-F60C18E502A6}"/>
              </a:ext>
            </a:extLst>
          </p:cNvPr>
          <p:cNvSpPr/>
          <p:nvPr/>
        </p:nvSpPr>
        <p:spPr>
          <a:xfrm>
            <a:off x="3370202" y="311707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39B068-D9D8-4E60-ACBF-EE90A908148E}"/>
              </a:ext>
            </a:extLst>
          </p:cNvPr>
          <p:cNvSpPr/>
          <p:nvPr/>
        </p:nvSpPr>
        <p:spPr>
          <a:xfrm>
            <a:off x="2512121" y="442317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D0ACE0-778B-4BB3-903B-FBB221D66D73}"/>
              </a:ext>
            </a:extLst>
          </p:cNvPr>
          <p:cNvSpPr/>
          <p:nvPr/>
        </p:nvSpPr>
        <p:spPr>
          <a:xfrm>
            <a:off x="2809653" y="442727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C44EB1-6993-4229-B82C-4E1F95AEA042}"/>
              </a:ext>
            </a:extLst>
          </p:cNvPr>
          <p:cNvSpPr/>
          <p:nvPr/>
        </p:nvSpPr>
        <p:spPr>
          <a:xfrm>
            <a:off x="3107185" y="442920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4EF2B5A-FB80-43B6-A132-FB96D439C52A}"/>
              </a:ext>
            </a:extLst>
          </p:cNvPr>
          <p:cNvSpPr/>
          <p:nvPr/>
        </p:nvSpPr>
        <p:spPr>
          <a:xfrm>
            <a:off x="3400346" y="442744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1F04D60-9F32-43DB-9B2E-9B3D0EE86B7A}"/>
              </a:ext>
            </a:extLst>
          </p:cNvPr>
          <p:cNvSpPr/>
          <p:nvPr/>
        </p:nvSpPr>
        <p:spPr>
          <a:xfrm>
            <a:off x="3697878" y="44314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93183BD-0F57-42D1-9C38-788152CB15A8}"/>
              </a:ext>
            </a:extLst>
          </p:cNvPr>
          <p:cNvCxnSpPr>
            <a:cxnSpLocks/>
            <a:stCxn id="14" idx="3"/>
            <a:endCxn id="39" idx="1"/>
          </p:cNvCxnSpPr>
          <p:nvPr/>
        </p:nvCxnSpPr>
        <p:spPr>
          <a:xfrm>
            <a:off x="4287068" y="3128741"/>
            <a:ext cx="1797100" cy="274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4A62380-66E0-4D0D-B895-D2198BDC5FBD}"/>
              </a:ext>
            </a:extLst>
          </p:cNvPr>
          <p:cNvCxnSpPr>
            <a:cxnSpLocks/>
            <a:stCxn id="12" idx="3"/>
            <a:endCxn id="39" idx="1"/>
          </p:cNvCxnSpPr>
          <p:nvPr/>
        </p:nvCxnSpPr>
        <p:spPr>
          <a:xfrm>
            <a:off x="4287068" y="1794998"/>
            <a:ext cx="1797100" cy="13612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95C7302-92FE-4C5E-8F72-9DF9906478D6}"/>
              </a:ext>
            </a:extLst>
          </p:cNvPr>
          <p:cNvCxnSpPr>
            <a:cxnSpLocks/>
            <a:stCxn id="15" idx="3"/>
            <a:endCxn id="39" idx="1"/>
          </p:cNvCxnSpPr>
          <p:nvPr/>
        </p:nvCxnSpPr>
        <p:spPr>
          <a:xfrm flipV="1">
            <a:off x="4287066" y="3156206"/>
            <a:ext cx="1797102" cy="12868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2AC2730C-D4E2-49E7-AA39-541D4483BE4C}"/>
              </a:ext>
            </a:extLst>
          </p:cNvPr>
          <p:cNvSpPr/>
          <p:nvPr/>
        </p:nvSpPr>
        <p:spPr>
          <a:xfrm>
            <a:off x="6084168" y="3012190"/>
            <a:ext cx="1102437" cy="2880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A96F8B2-4FDA-4D29-B09A-8DEFF11DCDC0}"/>
              </a:ext>
            </a:extLst>
          </p:cNvPr>
          <p:cNvSpPr txBox="1"/>
          <p:nvPr/>
        </p:nvSpPr>
        <p:spPr>
          <a:xfrm>
            <a:off x="4788026" y="993491"/>
            <a:ext cx="4316770" cy="784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单分区内</a:t>
            </a:r>
            <a:r>
              <a:rPr lang="zh-CN" altLang="en-US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有序</a:t>
            </a:r>
            <a:r>
              <a:rPr lang="zh-CN" altLang="en-US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（有条件的，</a:t>
            </a:r>
            <a:r>
              <a:rPr lang="zh-CN" altLang="en-US" sz="1600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详见</a:t>
            </a:r>
            <a:r>
              <a:rPr lang="zh-CN" altLang="en-US" sz="1600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</a:t>
            </a:r>
            <a:r>
              <a:rPr lang="zh-CN" altLang="en-US" sz="1600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节</a:t>
            </a:r>
            <a:r>
              <a:rPr lang="zh-CN" altLang="en-US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16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多分区，分区与分区间无序；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9181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 animBg="1"/>
      <p:bldP spid="16" grpId="0"/>
      <p:bldP spid="17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9310AA7-983A-4686-A4AC-CBD832407916}"/>
              </a:ext>
            </a:extLst>
          </p:cNvPr>
          <p:cNvSpPr txBox="1"/>
          <p:nvPr/>
        </p:nvSpPr>
        <p:spPr>
          <a:xfrm>
            <a:off x="493761" y="0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生产经验</a:t>
            </a:r>
            <a:r>
              <a:rPr lang="en-US" altLang="zh-CN" sz="2000" dirty="0">
                <a:solidFill>
                  <a:srgbClr val="FF0000"/>
                </a:solidFill>
              </a:rPr>
              <a:t>——</a:t>
            </a:r>
            <a:r>
              <a:rPr lang="zh-CN" altLang="en-US" sz="2000" dirty="0">
                <a:solidFill>
                  <a:srgbClr val="FF0000"/>
                </a:solidFill>
              </a:rPr>
              <a:t>数据乱序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0D98CD0-B1F8-497C-85FA-99C4774FF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2422"/>
            <a:ext cx="9144000" cy="47410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586731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8EBDA8-9599-42D5-9A45-7BBE32E7B0CC}"/>
              </a:ext>
            </a:extLst>
          </p:cNvPr>
          <p:cNvSpPr/>
          <p:nvPr/>
        </p:nvSpPr>
        <p:spPr>
          <a:xfrm>
            <a:off x="4748388" y="623846"/>
            <a:ext cx="792088" cy="3336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/</a:t>
            </a:r>
            <a:r>
              <a:rPr lang="en-US" altLang="zh-CN" sz="1200" dirty="0" err="1"/>
              <a:t>kafka</a:t>
            </a:r>
            <a:endParaRPr lang="zh-CN" altLang="en-US" sz="1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4EF08E-47CF-459B-90F7-D8C0D53FDAD8}"/>
              </a:ext>
            </a:extLst>
          </p:cNvPr>
          <p:cNvSpPr/>
          <p:nvPr/>
        </p:nvSpPr>
        <p:spPr>
          <a:xfrm>
            <a:off x="76527" y="1996432"/>
            <a:ext cx="792088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admin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B6A2B4-A8A9-47FA-9742-A9332B0807A0}"/>
              </a:ext>
            </a:extLst>
          </p:cNvPr>
          <p:cNvSpPr/>
          <p:nvPr/>
        </p:nvSpPr>
        <p:spPr>
          <a:xfrm>
            <a:off x="0" y="2608171"/>
            <a:ext cx="938774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/>
              <a:t>delete_topics</a:t>
            </a:r>
            <a:endParaRPr lang="zh-CN" altLang="en-US" sz="1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901861-660E-4ABA-AF98-43AC0F74D832}"/>
              </a:ext>
            </a:extLst>
          </p:cNvPr>
          <p:cNvSpPr/>
          <p:nvPr/>
        </p:nvSpPr>
        <p:spPr>
          <a:xfrm>
            <a:off x="1176776" y="2001340"/>
            <a:ext cx="792088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brokers</a:t>
            </a:r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0E670A-2396-443D-B25D-8615C9882EB5}"/>
              </a:ext>
            </a:extLst>
          </p:cNvPr>
          <p:cNvSpPr/>
          <p:nvPr/>
        </p:nvSpPr>
        <p:spPr>
          <a:xfrm>
            <a:off x="2354006" y="1996432"/>
            <a:ext cx="792088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cluster</a:t>
            </a:r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311A3C-7895-4283-9E2D-46D73F9AAA31}"/>
              </a:ext>
            </a:extLst>
          </p:cNvPr>
          <p:cNvSpPr/>
          <p:nvPr/>
        </p:nvSpPr>
        <p:spPr>
          <a:xfrm>
            <a:off x="5844483" y="1995686"/>
            <a:ext cx="792088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config</a:t>
            </a:r>
            <a:endParaRPr lang="zh-CN" altLang="en-US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4368DE-9FB4-41A6-BF92-D123344ED715}"/>
              </a:ext>
            </a:extLst>
          </p:cNvPr>
          <p:cNvSpPr/>
          <p:nvPr/>
        </p:nvSpPr>
        <p:spPr>
          <a:xfrm>
            <a:off x="3547914" y="1995686"/>
            <a:ext cx="944892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consumers</a:t>
            </a:r>
            <a:endParaRPr lang="zh-CN" altLang="en-US" sz="1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4E302C-C63D-4FC0-BAE5-FA5B875B718D}"/>
              </a:ext>
            </a:extLst>
          </p:cNvPr>
          <p:cNvSpPr/>
          <p:nvPr/>
        </p:nvSpPr>
        <p:spPr>
          <a:xfrm>
            <a:off x="4738332" y="1996432"/>
            <a:ext cx="812201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controller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193372-5CE8-4541-BFF6-827F755ADD8C}"/>
              </a:ext>
            </a:extLst>
          </p:cNvPr>
          <p:cNvSpPr/>
          <p:nvPr/>
        </p:nvSpPr>
        <p:spPr>
          <a:xfrm>
            <a:off x="7236296" y="1996432"/>
            <a:ext cx="1907704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/>
              <a:t>Controller_epoch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03541C-3C78-495A-A7B8-312912E57E15}"/>
              </a:ext>
            </a:extLst>
          </p:cNvPr>
          <p:cNvSpPr/>
          <p:nvPr/>
        </p:nvSpPr>
        <p:spPr>
          <a:xfrm>
            <a:off x="7236296" y="1443304"/>
            <a:ext cx="1907704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/>
              <a:t>Isr_change_notification</a:t>
            </a:r>
            <a:endParaRPr lang="zh-CN" altLang="en-US" sz="1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849CD2-6875-4CFB-A06E-6316137EBBB7}"/>
              </a:ext>
            </a:extLst>
          </p:cNvPr>
          <p:cNvSpPr/>
          <p:nvPr/>
        </p:nvSpPr>
        <p:spPr>
          <a:xfrm>
            <a:off x="7236296" y="987574"/>
            <a:ext cx="1907704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/>
              <a:t>latest_producer_id_block</a:t>
            </a:r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7A8991-7644-4180-B3B5-4C65BE6EC92A}"/>
              </a:ext>
            </a:extLst>
          </p:cNvPr>
          <p:cNvSpPr/>
          <p:nvPr/>
        </p:nvSpPr>
        <p:spPr>
          <a:xfrm>
            <a:off x="7236296" y="555526"/>
            <a:ext cx="1907704" cy="3336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/>
              <a:t>log_dir_event_notification</a:t>
            </a:r>
            <a:endParaRPr lang="zh-CN" altLang="en-US" sz="12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A92522-BD70-4885-9017-96B076C77181}"/>
              </a:ext>
            </a:extLst>
          </p:cNvPr>
          <p:cNvSpPr/>
          <p:nvPr/>
        </p:nvSpPr>
        <p:spPr>
          <a:xfrm>
            <a:off x="323528" y="3380227"/>
            <a:ext cx="648072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ids</a:t>
            </a:r>
            <a:endParaRPr lang="zh-CN" altLang="en-US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25509A-B22F-458B-9EEE-A7FEB3570E7A}"/>
              </a:ext>
            </a:extLst>
          </p:cNvPr>
          <p:cNvSpPr/>
          <p:nvPr/>
        </p:nvSpPr>
        <p:spPr>
          <a:xfrm>
            <a:off x="1166620" y="3380227"/>
            <a:ext cx="812400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topics</a:t>
            </a:r>
            <a:endParaRPr lang="zh-CN" altLang="en-US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CF9898-2EBA-4E60-A9BB-53A91E7552EA}"/>
              </a:ext>
            </a:extLst>
          </p:cNvPr>
          <p:cNvSpPr/>
          <p:nvPr/>
        </p:nvSpPr>
        <p:spPr>
          <a:xfrm>
            <a:off x="2174040" y="3380227"/>
            <a:ext cx="648072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/>
              <a:t>seqid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7DD238-CAED-49E6-9334-A63647A9E400}"/>
              </a:ext>
            </a:extLst>
          </p:cNvPr>
          <p:cNvSpPr txBox="1"/>
          <p:nvPr/>
        </p:nvSpPr>
        <p:spPr>
          <a:xfrm>
            <a:off x="326107" y="3713851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>
                <a:solidFill>
                  <a:srgbClr val="FF0000"/>
                </a:solidFill>
              </a:rPr>
              <a:t>[0,1,2]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BCD078-4798-4F20-9327-4DBD174039D0}"/>
              </a:ext>
            </a:extLst>
          </p:cNvPr>
          <p:cNvSpPr/>
          <p:nvPr/>
        </p:nvSpPr>
        <p:spPr>
          <a:xfrm>
            <a:off x="2354006" y="2594689"/>
            <a:ext cx="792088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id</a:t>
            </a:r>
            <a:endParaRPr lang="zh-CN" altLang="en-US" sz="12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603F13-3A03-4B1C-ACE3-1624BDF792EC}"/>
              </a:ext>
            </a:extLst>
          </p:cNvPr>
          <p:cNvSpPr/>
          <p:nvPr/>
        </p:nvSpPr>
        <p:spPr>
          <a:xfrm>
            <a:off x="4771417" y="3441202"/>
            <a:ext cx="792088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brokers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D73973-2E32-4353-B526-207EFA22C4A3}"/>
              </a:ext>
            </a:extLst>
          </p:cNvPr>
          <p:cNvSpPr/>
          <p:nvPr/>
        </p:nvSpPr>
        <p:spPr>
          <a:xfrm>
            <a:off x="5666541" y="3427168"/>
            <a:ext cx="792088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changes</a:t>
            </a:r>
            <a:endParaRPr lang="zh-CN" alt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E3765D-A5B2-48EC-908A-A5AB9C4E3ABA}"/>
              </a:ext>
            </a:extLst>
          </p:cNvPr>
          <p:cNvSpPr/>
          <p:nvPr/>
        </p:nvSpPr>
        <p:spPr>
          <a:xfrm>
            <a:off x="7456789" y="3431733"/>
            <a:ext cx="792088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clients</a:t>
            </a:r>
            <a:endParaRPr lang="zh-CN" altLang="en-US" sz="12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C1176A-C524-4C33-960B-DC01BB50C298}"/>
              </a:ext>
            </a:extLst>
          </p:cNvPr>
          <p:cNvSpPr/>
          <p:nvPr/>
        </p:nvSpPr>
        <p:spPr>
          <a:xfrm>
            <a:off x="6561665" y="3436298"/>
            <a:ext cx="792088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topics</a:t>
            </a:r>
            <a:endParaRPr lang="zh-CN" altLang="en-US" sz="1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761499-8B32-4EE2-B7AB-DE675241C88E}"/>
              </a:ext>
            </a:extLst>
          </p:cNvPr>
          <p:cNvSpPr/>
          <p:nvPr/>
        </p:nvSpPr>
        <p:spPr>
          <a:xfrm>
            <a:off x="8351912" y="3440863"/>
            <a:ext cx="792088" cy="3336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users</a:t>
            </a:r>
            <a:endParaRPr lang="zh-CN" altLang="en-US" sz="12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42CAF31-B23E-488F-8CD7-2E16647CB5DD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472571" y="957470"/>
            <a:ext cx="4671861" cy="1038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64B067E-5EFA-4886-823F-03E520AF6867}"/>
              </a:ext>
            </a:extLst>
          </p:cNvPr>
          <p:cNvCxnSpPr>
            <a:stCxn id="2" idx="2"/>
            <a:endCxn id="5" idx="0"/>
          </p:cNvCxnSpPr>
          <p:nvPr/>
        </p:nvCxnSpPr>
        <p:spPr>
          <a:xfrm flipH="1">
            <a:off x="1572820" y="957470"/>
            <a:ext cx="3571612" cy="1043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D693F03-C8B1-4158-ACFB-8FA43CD8141E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2750050" y="957470"/>
            <a:ext cx="2394382" cy="1038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B28378ED-2111-4636-9CD4-8929B7ABC88D}"/>
              </a:ext>
            </a:extLst>
          </p:cNvPr>
          <p:cNvCxnSpPr>
            <a:stCxn id="2" idx="2"/>
            <a:endCxn id="7" idx="0"/>
          </p:cNvCxnSpPr>
          <p:nvPr/>
        </p:nvCxnSpPr>
        <p:spPr>
          <a:xfrm>
            <a:off x="5144432" y="957470"/>
            <a:ext cx="1096095" cy="1038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5E053FE-AA0B-4818-ACF0-7923B9AB5239}"/>
              </a:ext>
            </a:extLst>
          </p:cNvPr>
          <p:cNvCxnSpPr>
            <a:stCxn id="2" idx="2"/>
            <a:endCxn id="8" idx="0"/>
          </p:cNvCxnSpPr>
          <p:nvPr/>
        </p:nvCxnSpPr>
        <p:spPr>
          <a:xfrm flipH="1">
            <a:off x="4020360" y="957470"/>
            <a:ext cx="1124072" cy="1038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878D14-222D-4ACF-B267-AB97004CA06F}"/>
              </a:ext>
            </a:extLst>
          </p:cNvPr>
          <p:cNvCxnSpPr>
            <a:stCxn id="2" idx="2"/>
            <a:endCxn id="9" idx="0"/>
          </p:cNvCxnSpPr>
          <p:nvPr/>
        </p:nvCxnSpPr>
        <p:spPr>
          <a:xfrm>
            <a:off x="5144432" y="957470"/>
            <a:ext cx="1" cy="1038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5619A45-EDF1-4F8A-877C-9D8966455AFD}"/>
              </a:ext>
            </a:extLst>
          </p:cNvPr>
          <p:cNvCxnSpPr>
            <a:cxnSpLocks/>
            <a:stCxn id="2" idx="2"/>
            <a:endCxn id="13" idx="1"/>
          </p:cNvCxnSpPr>
          <p:nvPr/>
        </p:nvCxnSpPr>
        <p:spPr>
          <a:xfrm flipV="1">
            <a:off x="5144432" y="722338"/>
            <a:ext cx="2091864" cy="23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7B015AF-C26A-4EA5-8026-E5E4A3B433DA}"/>
              </a:ext>
            </a:extLst>
          </p:cNvPr>
          <p:cNvCxnSpPr>
            <a:cxnSpLocks/>
            <a:stCxn id="2" idx="2"/>
            <a:endCxn id="12" idx="1"/>
          </p:cNvCxnSpPr>
          <p:nvPr/>
        </p:nvCxnSpPr>
        <p:spPr>
          <a:xfrm>
            <a:off x="5144432" y="957470"/>
            <a:ext cx="2091864" cy="196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6A6CA66-B97B-4FF5-B214-0523E48B8296}"/>
              </a:ext>
            </a:extLst>
          </p:cNvPr>
          <p:cNvCxnSpPr>
            <a:cxnSpLocks/>
            <a:stCxn id="2" idx="2"/>
            <a:endCxn id="11" idx="1"/>
          </p:cNvCxnSpPr>
          <p:nvPr/>
        </p:nvCxnSpPr>
        <p:spPr>
          <a:xfrm>
            <a:off x="5144432" y="957470"/>
            <a:ext cx="2091864" cy="652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BA2CAD2-DF1B-4CD0-A940-D454D78DCCFD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>
            <a:off x="5144432" y="957470"/>
            <a:ext cx="2091864" cy="1205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CBC8BCD-F591-494A-B066-49DAF3BC2FE0}"/>
              </a:ext>
            </a:extLst>
          </p:cNvPr>
          <p:cNvCxnSpPr>
            <a:stCxn id="6" idx="2"/>
            <a:endCxn id="18" idx="0"/>
          </p:cNvCxnSpPr>
          <p:nvPr/>
        </p:nvCxnSpPr>
        <p:spPr>
          <a:xfrm>
            <a:off x="2750050" y="2330056"/>
            <a:ext cx="0" cy="26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D80E85E-B644-4238-97E5-A547F6226158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469387" y="2330056"/>
            <a:ext cx="3184" cy="278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B12D245-3A7A-4F21-ADF6-6BD9448757F3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1572820" y="2334964"/>
            <a:ext cx="0" cy="1045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45D7636-3FD8-4BEC-986C-FBB6A4D4B9C4}"/>
              </a:ext>
            </a:extLst>
          </p:cNvPr>
          <p:cNvCxnSpPr>
            <a:stCxn id="5" idx="2"/>
            <a:endCxn id="14" idx="0"/>
          </p:cNvCxnSpPr>
          <p:nvPr/>
        </p:nvCxnSpPr>
        <p:spPr>
          <a:xfrm flipH="1">
            <a:off x="647564" y="2334964"/>
            <a:ext cx="925256" cy="1045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6D95566-06F2-4106-8A21-BE33601FBD0D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1572820" y="2334964"/>
            <a:ext cx="925256" cy="1045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6E36E2C-0229-4E84-BD68-1C97084E7BBC}"/>
              </a:ext>
            </a:extLst>
          </p:cNvPr>
          <p:cNvSpPr txBox="1"/>
          <p:nvPr/>
        </p:nvSpPr>
        <p:spPr>
          <a:xfrm>
            <a:off x="4307261" y="3891177"/>
            <a:ext cx="3252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{"controller_epoch":21,"leader":</a:t>
            </a:r>
            <a:r>
              <a:rPr lang="en-US" altLang="zh-CN" sz="1200" dirty="0">
                <a:solidFill>
                  <a:srgbClr val="FF0000"/>
                </a:solidFill>
              </a:rPr>
              <a:t>1</a:t>
            </a:r>
            <a:r>
              <a:rPr lang="en-US" altLang="zh-CN" sz="1200" dirty="0"/>
              <a:t>,"version":1,"leader_epoch":17,"</a:t>
            </a:r>
            <a:r>
              <a:rPr lang="en-US" altLang="zh-CN" sz="1200" dirty="0">
                <a:solidFill>
                  <a:srgbClr val="FF0000"/>
                </a:solidFill>
              </a:rPr>
              <a:t>isr</a:t>
            </a:r>
            <a:r>
              <a:rPr lang="en-US" altLang="zh-CN" sz="1200" dirty="0"/>
              <a:t>":[1,0,2]}</a:t>
            </a:r>
            <a:endParaRPr lang="zh-CN" altLang="en-US" sz="1200" dirty="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0167996-1B87-4969-87A6-7FEE2D3E6953}"/>
              </a:ext>
            </a:extLst>
          </p:cNvPr>
          <p:cNvCxnSpPr>
            <a:stCxn id="7" idx="2"/>
            <a:endCxn id="19" idx="0"/>
          </p:cNvCxnSpPr>
          <p:nvPr/>
        </p:nvCxnSpPr>
        <p:spPr>
          <a:xfrm flipH="1">
            <a:off x="5167461" y="2329310"/>
            <a:ext cx="1073066" cy="1111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AB9734E-5F1E-4C34-A9FC-AA49BA6A40C1}"/>
              </a:ext>
            </a:extLst>
          </p:cNvPr>
          <p:cNvCxnSpPr>
            <a:stCxn id="7" idx="2"/>
            <a:endCxn id="20" idx="0"/>
          </p:cNvCxnSpPr>
          <p:nvPr/>
        </p:nvCxnSpPr>
        <p:spPr>
          <a:xfrm flipH="1">
            <a:off x="6062585" y="2329310"/>
            <a:ext cx="177942" cy="109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26328DC-AF1F-4A30-9C3E-010143F3B678}"/>
              </a:ext>
            </a:extLst>
          </p:cNvPr>
          <p:cNvCxnSpPr>
            <a:stCxn id="7" idx="2"/>
            <a:endCxn id="22" idx="0"/>
          </p:cNvCxnSpPr>
          <p:nvPr/>
        </p:nvCxnSpPr>
        <p:spPr>
          <a:xfrm>
            <a:off x="6240527" y="2329310"/>
            <a:ext cx="717182" cy="1106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3A3F2273-0028-4778-9AD3-D8897C6EA20C}"/>
              </a:ext>
            </a:extLst>
          </p:cNvPr>
          <p:cNvCxnSpPr>
            <a:stCxn id="7" idx="2"/>
            <a:endCxn id="21" idx="0"/>
          </p:cNvCxnSpPr>
          <p:nvPr/>
        </p:nvCxnSpPr>
        <p:spPr>
          <a:xfrm>
            <a:off x="6240527" y="2329310"/>
            <a:ext cx="1612306" cy="1102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ABC3EEB-931D-44D8-822D-EC68A2BEC5DC}"/>
              </a:ext>
            </a:extLst>
          </p:cNvPr>
          <p:cNvCxnSpPr>
            <a:stCxn id="7" idx="2"/>
            <a:endCxn id="23" idx="0"/>
          </p:cNvCxnSpPr>
          <p:nvPr/>
        </p:nvCxnSpPr>
        <p:spPr>
          <a:xfrm>
            <a:off x="6240527" y="2329310"/>
            <a:ext cx="2507429" cy="1111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40B8585C-0FBD-4149-9DED-7E0ED0F9A2A7}"/>
              </a:ext>
            </a:extLst>
          </p:cNvPr>
          <p:cNvSpPr/>
          <p:nvPr/>
        </p:nvSpPr>
        <p:spPr>
          <a:xfrm>
            <a:off x="1166620" y="3861275"/>
            <a:ext cx="812400" cy="3336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first</a:t>
            </a:r>
            <a:endParaRPr lang="zh-CN" altLang="en-US" sz="12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82137D4-EFDD-49FF-BF9D-6FB6AB9D0274}"/>
              </a:ext>
            </a:extLst>
          </p:cNvPr>
          <p:cNvSpPr/>
          <p:nvPr/>
        </p:nvSpPr>
        <p:spPr>
          <a:xfrm>
            <a:off x="1162285" y="4342322"/>
            <a:ext cx="816735" cy="33362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partitions</a:t>
            </a:r>
            <a:endParaRPr lang="zh-CN" altLang="en-US" sz="12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182D4AF-81B0-42A3-9F9A-3FC197C2A584}"/>
              </a:ext>
            </a:extLst>
          </p:cNvPr>
          <p:cNvSpPr/>
          <p:nvPr/>
        </p:nvSpPr>
        <p:spPr>
          <a:xfrm>
            <a:off x="2822112" y="3945258"/>
            <a:ext cx="525806" cy="3336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A71884D-545C-4C54-8BFD-94F47AB1EB63}"/>
              </a:ext>
            </a:extLst>
          </p:cNvPr>
          <p:cNvSpPr/>
          <p:nvPr/>
        </p:nvSpPr>
        <p:spPr>
          <a:xfrm>
            <a:off x="2822112" y="4338507"/>
            <a:ext cx="525806" cy="3336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8D18A59-A286-44DA-925F-8AABD8C5A66C}"/>
              </a:ext>
            </a:extLst>
          </p:cNvPr>
          <p:cNvSpPr/>
          <p:nvPr/>
        </p:nvSpPr>
        <p:spPr>
          <a:xfrm>
            <a:off x="2822112" y="4731756"/>
            <a:ext cx="525806" cy="3336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</a:t>
            </a:r>
            <a:endParaRPr lang="zh-CN" altLang="en-US" sz="12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6F6D8A8-333F-4264-B982-05BCB1658FB2}"/>
              </a:ext>
            </a:extLst>
          </p:cNvPr>
          <p:cNvCxnSpPr>
            <a:stCxn id="15" idx="2"/>
            <a:endCxn id="45" idx="0"/>
          </p:cNvCxnSpPr>
          <p:nvPr/>
        </p:nvCxnSpPr>
        <p:spPr>
          <a:xfrm>
            <a:off x="1572820" y="3713851"/>
            <a:ext cx="0" cy="147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6B3ACDB-5AE7-4889-9A17-F329C4E56A15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 flipH="1">
            <a:off x="1570653" y="4194899"/>
            <a:ext cx="2167" cy="147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664157EE-B5BF-4F45-8D7A-C3DD4793B160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1979020" y="4112070"/>
            <a:ext cx="843092" cy="39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F88F002-5595-4F21-AD30-DC5D74517504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 flipV="1">
            <a:off x="1979020" y="4505319"/>
            <a:ext cx="843092" cy="3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F535119-2FC1-4F02-865A-0DCE934048CD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1979020" y="4509134"/>
            <a:ext cx="843092" cy="389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17BC5371-041C-491A-B0EE-EC3820FA969D}"/>
              </a:ext>
            </a:extLst>
          </p:cNvPr>
          <p:cNvSpPr/>
          <p:nvPr/>
        </p:nvSpPr>
        <p:spPr>
          <a:xfrm>
            <a:off x="3581160" y="3945258"/>
            <a:ext cx="540060" cy="3336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state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FB6A15D-44DE-4153-ABC2-BB951705E59F}"/>
              </a:ext>
            </a:extLst>
          </p:cNvPr>
          <p:cNvSpPr/>
          <p:nvPr/>
        </p:nvSpPr>
        <p:spPr>
          <a:xfrm>
            <a:off x="3581160" y="4338437"/>
            <a:ext cx="540060" cy="3336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state</a:t>
            </a:r>
            <a:endParaRPr lang="zh-CN" altLang="en-US" sz="1200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61181E1-7447-43A0-98F9-BC247B462891}"/>
              </a:ext>
            </a:extLst>
          </p:cNvPr>
          <p:cNvSpPr/>
          <p:nvPr/>
        </p:nvSpPr>
        <p:spPr>
          <a:xfrm>
            <a:off x="3581160" y="4731617"/>
            <a:ext cx="540060" cy="3336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state</a:t>
            </a:r>
            <a:endParaRPr lang="zh-CN" altLang="en-US" sz="12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B6C7647-F045-4CF1-9CCE-104FE3EAB2DC}"/>
              </a:ext>
            </a:extLst>
          </p:cNvPr>
          <p:cNvCxnSpPr>
            <a:stCxn id="47" idx="3"/>
            <a:endCxn id="55" idx="1"/>
          </p:cNvCxnSpPr>
          <p:nvPr/>
        </p:nvCxnSpPr>
        <p:spPr>
          <a:xfrm>
            <a:off x="3347918" y="4112070"/>
            <a:ext cx="23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4E7ED28-3471-4635-A1F7-97BB6CEF8654}"/>
              </a:ext>
            </a:extLst>
          </p:cNvPr>
          <p:cNvCxnSpPr>
            <a:stCxn id="48" idx="3"/>
            <a:endCxn id="56" idx="1"/>
          </p:cNvCxnSpPr>
          <p:nvPr/>
        </p:nvCxnSpPr>
        <p:spPr>
          <a:xfrm flipV="1">
            <a:off x="3347918" y="4505249"/>
            <a:ext cx="233242" cy="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343376CF-A20A-496E-B123-C532F34C9FE5}"/>
              </a:ext>
            </a:extLst>
          </p:cNvPr>
          <p:cNvCxnSpPr>
            <a:stCxn id="49" idx="3"/>
            <a:endCxn id="57" idx="1"/>
          </p:cNvCxnSpPr>
          <p:nvPr/>
        </p:nvCxnSpPr>
        <p:spPr>
          <a:xfrm flipV="1">
            <a:off x="3347918" y="4898429"/>
            <a:ext cx="233242" cy="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D4CD6BA6-F9D9-4A85-BFC5-8837736EEA87}"/>
              </a:ext>
            </a:extLst>
          </p:cNvPr>
          <p:cNvSpPr txBox="1"/>
          <p:nvPr/>
        </p:nvSpPr>
        <p:spPr>
          <a:xfrm>
            <a:off x="4315585" y="4307919"/>
            <a:ext cx="3252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{"controller_epoch":21,"leader":</a:t>
            </a:r>
            <a:r>
              <a:rPr lang="en-US" altLang="zh-CN" sz="1200" dirty="0">
                <a:solidFill>
                  <a:srgbClr val="FF0000"/>
                </a:solidFill>
              </a:rPr>
              <a:t>2</a:t>
            </a:r>
            <a:r>
              <a:rPr lang="en-US" altLang="zh-CN" sz="1200" dirty="0"/>
              <a:t>,"version":1,"leader_epoch":15,"</a:t>
            </a:r>
            <a:r>
              <a:rPr lang="en-US" altLang="zh-CN" sz="1200" dirty="0">
                <a:solidFill>
                  <a:srgbClr val="FF0000"/>
                </a:solidFill>
              </a:rPr>
              <a:t>isr</a:t>
            </a:r>
            <a:r>
              <a:rPr lang="en-US" altLang="zh-CN" sz="1200" dirty="0"/>
              <a:t>":[2,1,0]}</a:t>
            </a:r>
            <a:endParaRPr lang="zh-CN" altLang="en-US" sz="12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F2AB663-718E-48F3-AAC5-730A9CF33A78}"/>
              </a:ext>
            </a:extLst>
          </p:cNvPr>
          <p:cNvSpPr txBox="1"/>
          <p:nvPr/>
        </p:nvSpPr>
        <p:spPr>
          <a:xfrm>
            <a:off x="4307261" y="4698584"/>
            <a:ext cx="3252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{"controller_epoch":21,"leader":</a:t>
            </a:r>
            <a:r>
              <a:rPr lang="zh-CN" altLang="en-US" sz="1200" dirty="0">
                <a:solidFill>
                  <a:srgbClr val="FF0000"/>
                </a:solidFill>
              </a:rPr>
              <a:t>0</a:t>
            </a:r>
            <a:r>
              <a:rPr lang="zh-CN" altLang="en-US" sz="1200" dirty="0"/>
              <a:t>,"version":1,"leader_epoch":19,"</a:t>
            </a:r>
            <a:r>
              <a:rPr lang="zh-CN" altLang="en-US" sz="1200" dirty="0">
                <a:solidFill>
                  <a:srgbClr val="FF0000"/>
                </a:solidFill>
              </a:rPr>
              <a:t>isr</a:t>
            </a:r>
            <a:r>
              <a:rPr lang="zh-CN" altLang="en-US" sz="1200" dirty="0"/>
              <a:t>":[</a:t>
            </a:r>
            <a:r>
              <a:rPr lang="en-US" altLang="zh-CN" sz="1200" dirty="0"/>
              <a:t>0,1,2</a:t>
            </a:r>
            <a:r>
              <a:rPr lang="zh-CN" altLang="en-US" sz="1200" dirty="0"/>
              <a:t>]}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04B4EBF-69B6-4680-A084-BFBF70F6B38D}"/>
              </a:ext>
            </a:extLst>
          </p:cNvPr>
          <p:cNvSpPr txBox="1"/>
          <p:nvPr/>
        </p:nvSpPr>
        <p:spPr>
          <a:xfrm>
            <a:off x="3277182" y="2558067"/>
            <a:ext cx="14879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0.9</a:t>
            </a:r>
            <a:r>
              <a:rPr lang="zh-CN" altLang="en-US" sz="1000" dirty="0"/>
              <a:t>版本之前用于保存</a:t>
            </a:r>
            <a:r>
              <a:rPr lang="en-US" altLang="zh-CN" sz="1000" dirty="0"/>
              <a:t>offset</a:t>
            </a:r>
            <a:r>
              <a:rPr lang="zh-CN" altLang="en-US" sz="1000" dirty="0"/>
              <a:t>信息</a:t>
            </a:r>
            <a:endParaRPr lang="en-US" altLang="zh-CN" sz="1000" dirty="0"/>
          </a:p>
          <a:p>
            <a:r>
              <a:rPr lang="en-US" altLang="zh-CN" sz="1000" dirty="0"/>
              <a:t>0.9</a:t>
            </a:r>
            <a:r>
              <a:rPr lang="zh-CN" altLang="en-US" sz="1000" dirty="0"/>
              <a:t>版本之后</a:t>
            </a:r>
            <a:r>
              <a:rPr lang="en-US" altLang="zh-CN" sz="1000" dirty="0"/>
              <a:t>offset</a:t>
            </a:r>
            <a:r>
              <a:rPr lang="zh-CN" altLang="en-US" sz="1000" dirty="0"/>
              <a:t>存储在</a:t>
            </a:r>
            <a:r>
              <a:rPr lang="en-US" altLang="zh-CN" sz="1000" dirty="0" err="1"/>
              <a:t>kafka</a:t>
            </a:r>
            <a:r>
              <a:rPr lang="zh-CN" altLang="en-US" sz="1000" dirty="0"/>
              <a:t>主题中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3D34A19-6E15-447E-9360-6F48A67602D6}"/>
              </a:ext>
            </a:extLst>
          </p:cNvPr>
          <p:cNvSpPr txBox="1"/>
          <p:nvPr/>
        </p:nvSpPr>
        <p:spPr>
          <a:xfrm>
            <a:off x="23674" y="442134"/>
            <a:ext cx="3292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/>
              <a:t>在</a:t>
            </a:r>
            <a:r>
              <a:rPr lang="en-US" altLang="zh-CN" sz="1200" dirty="0"/>
              <a:t>zookeeper</a:t>
            </a:r>
            <a:r>
              <a:rPr lang="zh-CN" altLang="en-US" sz="1200" dirty="0"/>
              <a:t>的服务端存储的</a:t>
            </a:r>
            <a:r>
              <a:rPr lang="en-US" altLang="zh-CN" sz="1200" dirty="0"/>
              <a:t>Kafka</a:t>
            </a:r>
            <a:r>
              <a:rPr lang="zh-CN" altLang="en-US" sz="1200" dirty="0"/>
              <a:t>相关信息：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A76BF99-E3F1-40AA-A9A4-A283BEFABBC5}"/>
              </a:ext>
            </a:extLst>
          </p:cNvPr>
          <p:cNvSpPr txBox="1"/>
          <p:nvPr/>
        </p:nvSpPr>
        <p:spPr>
          <a:xfrm>
            <a:off x="28956" y="660858"/>
            <a:ext cx="3757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</a:t>
            </a:r>
            <a:r>
              <a:rPr lang="zh-CN" altLang="en-US" sz="1100" dirty="0"/>
              <a:t>）</a:t>
            </a:r>
            <a:r>
              <a:rPr lang="en-US" altLang="zh-CN" sz="1100" dirty="0"/>
              <a:t>/</a:t>
            </a:r>
            <a:r>
              <a:rPr lang="en-US" altLang="zh-CN" sz="1100" dirty="0" err="1"/>
              <a:t>kafka</a:t>
            </a:r>
            <a:r>
              <a:rPr lang="en-US" altLang="zh-CN" sz="1100" dirty="0"/>
              <a:t>/brokers/ids   </a:t>
            </a:r>
            <a:r>
              <a:rPr lang="en-US" altLang="zh-CN" sz="1100" dirty="0">
                <a:solidFill>
                  <a:srgbClr val="FF0000"/>
                </a:solidFill>
              </a:rPr>
              <a:t>[0,1,2]       </a:t>
            </a:r>
            <a:r>
              <a:rPr lang="zh-CN" altLang="en-US" sz="1100" dirty="0">
                <a:solidFill>
                  <a:srgbClr val="FF0000"/>
                </a:solidFill>
              </a:rPr>
              <a:t>记录有哪些服务器</a:t>
            </a:r>
            <a:r>
              <a:rPr lang="en-US" altLang="zh-CN" sz="1100" dirty="0"/>
              <a:t>    </a:t>
            </a:r>
            <a:endParaRPr lang="zh-CN" altLang="en-US" sz="11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598CC18-B1F9-4063-9144-E735DB146A67}"/>
              </a:ext>
            </a:extLst>
          </p:cNvPr>
          <p:cNvSpPr txBox="1"/>
          <p:nvPr/>
        </p:nvSpPr>
        <p:spPr>
          <a:xfrm>
            <a:off x="30454" y="882224"/>
            <a:ext cx="39656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</a:t>
            </a:r>
            <a:r>
              <a:rPr lang="zh-CN" altLang="en-US" sz="1100" dirty="0"/>
              <a:t>）</a:t>
            </a:r>
            <a:r>
              <a:rPr lang="en-US" altLang="zh-CN" sz="1100" dirty="0"/>
              <a:t>/</a:t>
            </a:r>
            <a:r>
              <a:rPr lang="en-US" altLang="zh-CN" sz="1100" dirty="0" err="1"/>
              <a:t>kafka</a:t>
            </a:r>
            <a:r>
              <a:rPr lang="en-US" altLang="zh-CN" sz="1100" dirty="0"/>
              <a:t>/brokers/topics/first/partitions/0/state</a:t>
            </a:r>
          </a:p>
          <a:p>
            <a:r>
              <a:rPr lang="en-US" altLang="zh-CN" sz="1100" dirty="0"/>
              <a:t>{"leader":</a:t>
            </a:r>
            <a:r>
              <a:rPr lang="en-US" altLang="zh-CN" sz="1100" dirty="0">
                <a:solidFill>
                  <a:srgbClr val="FF0000"/>
                </a:solidFill>
              </a:rPr>
              <a:t>1</a:t>
            </a:r>
            <a:r>
              <a:rPr lang="en-US" altLang="zh-CN" sz="1100" dirty="0"/>
              <a:t> ,"</a:t>
            </a:r>
            <a:r>
              <a:rPr lang="en-US" altLang="zh-CN" sz="1100" dirty="0" err="1">
                <a:solidFill>
                  <a:srgbClr val="FF0000"/>
                </a:solidFill>
              </a:rPr>
              <a:t>isr</a:t>
            </a:r>
            <a:r>
              <a:rPr lang="en-US" altLang="zh-CN" sz="1100" dirty="0"/>
              <a:t>":[1,0,2] } </a:t>
            </a:r>
            <a:r>
              <a:rPr lang="zh-CN" altLang="en-US" sz="1100" dirty="0">
                <a:solidFill>
                  <a:srgbClr val="FF0000"/>
                </a:solidFill>
              </a:rPr>
              <a:t>记录谁是</a:t>
            </a:r>
            <a:r>
              <a:rPr lang="en-US" altLang="zh-CN" sz="1100" dirty="0">
                <a:solidFill>
                  <a:srgbClr val="FF0000"/>
                </a:solidFill>
              </a:rPr>
              <a:t>Leader</a:t>
            </a:r>
            <a:r>
              <a:rPr lang="zh-CN" altLang="en-US" sz="1100" dirty="0">
                <a:solidFill>
                  <a:srgbClr val="FF0000"/>
                </a:solidFill>
              </a:rPr>
              <a:t>，有哪些服务器可用</a:t>
            </a:r>
            <a:r>
              <a:rPr lang="en-US" altLang="zh-CN" sz="1100" dirty="0">
                <a:solidFill>
                  <a:srgbClr val="FF0000"/>
                </a:solidFill>
              </a:rPr>
              <a:t> 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6ACDB02-606E-4FFD-8E47-D3B3C502FCC2}"/>
              </a:ext>
            </a:extLst>
          </p:cNvPr>
          <p:cNvCxnSpPr>
            <a:stCxn id="8" idx="2"/>
            <a:endCxn id="63" idx="0"/>
          </p:cNvCxnSpPr>
          <p:nvPr/>
        </p:nvCxnSpPr>
        <p:spPr>
          <a:xfrm>
            <a:off x="4020360" y="2329310"/>
            <a:ext cx="798" cy="228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1F499412-067E-4BDB-80D9-DDF3D67F964A}"/>
              </a:ext>
            </a:extLst>
          </p:cNvPr>
          <p:cNvSpPr txBox="1"/>
          <p:nvPr/>
        </p:nvSpPr>
        <p:spPr>
          <a:xfrm>
            <a:off x="466814" y="3382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Zookeeper</a:t>
            </a:r>
            <a:r>
              <a:rPr lang="zh-CN" altLang="en-US" dirty="0">
                <a:solidFill>
                  <a:srgbClr val="FF0000"/>
                </a:solidFill>
              </a:rPr>
              <a:t>中存储的</a:t>
            </a:r>
            <a:r>
              <a:rPr lang="en-US" altLang="zh-CN" dirty="0">
                <a:solidFill>
                  <a:srgbClr val="FF0000"/>
                </a:solidFill>
              </a:rPr>
              <a:t>Kafka </a:t>
            </a:r>
            <a:r>
              <a:rPr lang="zh-CN" altLang="en-US" dirty="0">
                <a:solidFill>
                  <a:srgbClr val="FF0000"/>
                </a:solidFill>
              </a:rPr>
              <a:t>信息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3DE5076-B9F6-4A33-9A97-AF1D5340914F}"/>
              </a:ext>
            </a:extLst>
          </p:cNvPr>
          <p:cNvSpPr txBox="1"/>
          <p:nvPr/>
        </p:nvSpPr>
        <p:spPr>
          <a:xfrm>
            <a:off x="4716016" y="2570420"/>
            <a:ext cx="8568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{"version":1,"</a:t>
            </a:r>
            <a:r>
              <a:rPr lang="zh-CN" altLang="en-US" sz="1000" dirty="0">
                <a:solidFill>
                  <a:srgbClr val="FF0000"/>
                </a:solidFill>
              </a:rPr>
              <a:t>brokerid":0</a:t>
            </a:r>
            <a:r>
              <a:rPr lang="zh-CN" altLang="en-US" sz="1000" dirty="0"/>
              <a:t>,"timestamp":"1635907476"}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0F95ED16-ACCC-4FD2-B720-C7E4370BBFD1}"/>
              </a:ext>
            </a:extLst>
          </p:cNvPr>
          <p:cNvCxnSpPr>
            <a:stCxn id="9" idx="2"/>
            <a:endCxn id="69" idx="0"/>
          </p:cNvCxnSpPr>
          <p:nvPr/>
        </p:nvCxnSpPr>
        <p:spPr>
          <a:xfrm flipH="1">
            <a:off x="5144432" y="2330056"/>
            <a:ext cx="1" cy="240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B90D3778-2EE8-4DA2-9BA4-D24139893994}"/>
              </a:ext>
            </a:extLst>
          </p:cNvPr>
          <p:cNvSpPr txBox="1"/>
          <p:nvPr/>
        </p:nvSpPr>
        <p:spPr>
          <a:xfrm>
            <a:off x="30454" y="1305610"/>
            <a:ext cx="15179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3</a:t>
            </a:r>
            <a:r>
              <a:rPr lang="zh-CN" altLang="en-US" sz="1100" dirty="0"/>
              <a:t>）</a:t>
            </a:r>
            <a:r>
              <a:rPr lang="en-US" altLang="zh-CN" sz="1100" dirty="0"/>
              <a:t>/</a:t>
            </a:r>
            <a:r>
              <a:rPr lang="en-US" altLang="zh-CN" sz="1100" dirty="0" err="1"/>
              <a:t>kafka</a:t>
            </a:r>
            <a:r>
              <a:rPr lang="en-US" altLang="zh-CN" sz="1100" dirty="0"/>
              <a:t>/controller   </a:t>
            </a:r>
          </a:p>
          <a:p>
            <a:r>
              <a:rPr lang="zh-CN" altLang="en-US" sz="1100" dirty="0"/>
              <a:t>{“</a:t>
            </a:r>
            <a:r>
              <a:rPr lang="zh-CN" altLang="en-US" sz="1100" dirty="0">
                <a:solidFill>
                  <a:srgbClr val="FF0000"/>
                </a:solidFill>
              </a:rPr>
              <a:t>brokerid”:0</a:t>
            </a:r>
            <a:r>
              <a:rPr lang="zh-CN" altLang="en-US" sz="1100" dirty="0"/>
              <a:t>} </a:t>
            </a:r>
            <a:endParaRPr lang="en-US" altLang="zh-CN" sz="1100" dirty="0"/>
          </a:p>
          <a:p>
            <a:r>
              <a:rPr lang="zh-CN" altLang="en-US" sz="1100" dirty="0">
                <a:solidFill>
                  <a:srgbClr val="FF0000"/>
                </a:solidFill>
              </a:rPr>
              <a:t>辅助选举</a:t>
            </a:r>
            <a:r>
              <a:rPr lang="en-US" altLang="zh-CN" sz="1100" dirty="0">
                <a:solidFill>
                  <a:srgbClr val="FF0000"/>
                </a:solidFill>
              </a:rPr>
              <a:t>Leader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94479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9" grpId="0"/>
      <p:bldP spid="45" grpId="0" animBg="1"/>
      <p:bldP spid="46" grpId="0" animBg="1"/>
      <p:bldP spid="47" grpId="0" animBg="1"/>
      <p:bldP spid="48" grpId="0" animBg="1"/>
      <p:bldP spid="49" grpId="0" animBg="1"/>
      <p:bldP spid="55" grpId="0" animBg="1"/>
      <p:bldP spid="56" grpId="0" animBg="1"/>
      <p:bldP spid="57" grpId="0" animBg="1"/>
      <p:bldP spid="61" grpId="0"/>
      <p:bldP spid="62" grpId="0"/>
      <p:bldP spid="63" grpId="0"/>
      <p:bldP spid="64" grpId="0"/>
      <p:bldP spid="65" grpId="0"/>
      <p:bldP spid="66" grpId="0"/>
      <p:bldP spid="69" grpId="0"/>
      <p:bldP spid="7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920152-74FD-4370-9DF1-5D7A430C9021}"/>
              </a:ext>
            </a:extLst>
          </p:cNvPr>
          <p:cNvSpPr/>
          <p:nvPr/>
        </p:nvSpPr>
        <p:spPr>
          <a:xfrm>
            <a:off x="1763690" y="1961823"/>
            <a:ext cx="5400346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3E6853-25F5-4AFE-A9C0-4AA432A96C68}"/>
              </a:ext>
            </a:extLst>
          </p:cNvPr>
          <p:cNvSpPr/>
          <p:nvPr/>
        </p:nvSpPr>
        <p:spPr>
          <a:xfrm>
            <a:off x="1951663" y="2293169"/>
            <a:ext cx="5150195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D581E3-A754-40FE-BFD9-6001AF48FE20}"/>
              </a:ext>
            </a:extLst>
          </p:cNvPr>
          <p:cNvSpPr txBox="1"/>
          <p:nvPr/>
        </p:nvSpPr>
        <p:spPr>
          <a:xfrm>
            <a:off x="2033294" y="227865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3DA53D-B82B-4DDA-BA4D-48818E94BA0E}"/>
              </a:ext>
            </a:extLst>
          </p:cNvPr>
          <p:cNvSpPr txBox="1"/>
          <p:nvPr/>
        </p:nvSpPr>
        <p:spPr>
          <a:xfrm>
            <a:off x="1890926" y="1984292"/>
            <a:ext cx="1555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759700-4E47-458D-8D74-0921B6215146}"/>
              </a:ext>
            </a:extLst>
          </p:cNvPr>
          <p:cNvSpPr/>
          <p:nvPr/>
        </p:nvSpPr>
        <p:spPr>
          <a:xfrm>
            <a:off x="1950453" y="3286968"/>
            <a:ext cx="5150195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FBC9DC-5933-46BD-84EC-5817A5512E36}"/>
              </a:ext>
            </a:extLst>
          </p:cNvPr>
          <p:cNvSpPr/>
          <p:nvPr/>
        </p:nvSpPr>
        <p:spPr>
          <a:xfrm>
            <a:off x="2136361" y="2529335"/>
            <a:ext cx="1368151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Follower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1FC2C9-5AEB-4BB2-91B1-82BD2DEEF444}"/>
              </a:ext>
            </a:extLst>
          </p:cNvPr>
          <p:cNvSpPr txBox="1"/>
          <p:nvPr/>
        </p:nvSpPr>
        <p:spPr>
          <a:xfrm>
            <a:off x="2059943" y="3245016"/>
            <a:ext cx="699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52D284-4F19-413A-B5F5-8205795F1614}"/>
              </a:ext>
            </a:extLst>
          </p:cNvPr>
          <p:cNvSpPr/>
          <p:nvPr/>
        </p:nvSpPr>
        <p:spPr>
          <a:xfrm>
            <a:off x="1950453" y="4144607"/>
            <a:ext cx="5150195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5EE13F-E899-43DA-AC83-51CDAA51FFF9}"/>
              </a:ext>
            </a:extLst>
          </p:cNvPr>
          <p:cNvSpPr txBox="1"/>
          <p:nvPr/>
        </p:nvSpPr>
        <p:spPr>
          <a:xfrm>
            <a:off x="2059943" y="4129753"/>
            <a:ext cx="723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0227FB-08F1-4ACE-80C2-ED0EC32543D5}"/>
              </a:ext>
            </a:extLst>
          </p:cNvPr>
          <p:cNvSpPr/>
          <p:nvPr/>
        </p:nvSpPr>
        <p:spPr>
          <a:xfrm>
            <a:off x="2135650" y="4377175"/>
            <a:ext cx="1368151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Follower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A58AA1B-3C13-45C7-A906-0E4B10E07DC8}"/>
              </a:ext>
            </a:extLst>
          </p:cNvPr>
          <p:cNvCxnSpPr>
            <a:cxnSpLocks/>
            <a:stCxn id="13" idx="0"/>
            <a:endCxn id="7" idx="2"/>
          </p:cNvCxnSpPr>
          <p:nvPr/>
        </p:nvCxnSpPr>
        <p:spPr>
          <a:xfrm flipH="1" flipV="1">
            <a:off x="2820437" y="3016778"/>
            <a:ext cx="2439" cy="507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41FBFC7-3A5A-4A77-B057-8C4238392336}"/>
              </a:ext>
            </a:extLst>
          </p:cNvPr>
          <p:cNvSpPr/>
          <p:nvPr/>
        </p:nvSpPr>
        <p:spPr>
          <a:xfrm>
            <a:off x="2138800" y="3524215"/>
            <a:ext cx="1368151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1F4CC8-F122-4EF3-B080-B6AC4B6C19A7}"/>
              </a:ext>
            </a:extLst>
          </p:cNvPr>
          <p:cNvSpPr/>
          <p:nvPr/>
        </p:nvSpPr>
        <p:spPr>
          <a:xfrm>
            <a:off x="1763688" y="444030"/>
            <a:ext cx="6781383" cy="1289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Zookeeper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old_broker">
            <a:extLst>
              <a:ext uri="{FF2B5EF4-FFF2-40B4-BE49-F238E27FC236}">
                <a16:creationId xmlns:a16="http://schemas.microsoft.com/office/drawing/2014/main" id="{DE06F870-2AAF-46FC-912F-E7AFD2547433}"/>
              </a:ext>
            </a:extLst>
          </p:cNvPr>
          <p:cNvSpPr/>
          <p:nvPr/>
        </p:nvSpPr>
        <p:spPr>
          <a:xfrm>
            <a:off x="1848328" y="789312"/>
            <a:ext cx="1555607" cy="4277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/brokers/ids/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6" name="old_state矩形 68">
            <a:extLst>
              <a:ext uri="{FF2B5EF4-FFF2-40B4-BE49-F238E27FC236}">
                <a16:creationId xmlns:a16="http://schemas.microsoft.com/office/drawing/2014/main" id="{878AA97B-DA85-4E0D-9BF4-6CF6F62A366D}"/>
              </a:ext>
            </a:extLst>
          </p:cNvPr>
          <p:cNvSpPr/>
          <p:nvPr/>
        </p:nvSpPr>
        <p:spPr>
          <a:xfrm>
            <a:off x="5796136" y="787217"/>
            <a:ext cx="2681896" cy="4277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/brokers/topics/first/partitions/</a:t>
            </a:r>
            <a:r>
              <a:rPr lang="en-US" altLang="zh-CN" sz="1200" dirty="0">
                <a:solidFill>
                  <a:srgbClr val="FF0000"/>
                </a:solidFill>
              </a:rPr>
              <a:t>0</a:t>
            </a:r>
            <a:r>
              <a:rPr lang="en-US" altLang="zh-CN" sz="1200" dirty="0"/>
              <a:t>/state</a:t>
            </a:r>
          </a:p>
          <a:p>
            <a:r>
              <a:rPr lang="en-US" altLang="zh-CN" sz="1200" dirty="0">
                <a:solidFill>
                  <a:srgbClr val="FF0000"/>
                </a:solidFill>
              </a:rPr>
              <a:t>"leader":   ,"isr":[            ]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23EAAA-01D8-40A5-A1D2-19DE9789A02A}"/>
              </a:ext>
            </a:extLst>
          </p:cNvPr>
          <p:cNvSpPr/>
          <p:nvPr/>
        </p:nvSpPr>
        <p:spPr>
          <a:xfrm>
            <a:off x="72427" y="3634731"/>
            <a:ext cx="845455" cy="10252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Kafka</a:t>
            </a:r>
          </a:p>
          <a:p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6BD6BD-E9E2-4345-AFCA-2BA8543635B4}"/>
              </a:ext>
            </a:extLst>
          </p:cNvPr>
          <p:cNvSpPr txBox="1"/>
          <p:nvPr/>
        </p:nvSpPr>
        <p:spPr>
          <a:xfrm>
            <a:off x="1728415" y="1317576"/>
            <a:ext cx="1122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启动后在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zk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中注册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DCAB4F-F8F1-440E-85E2-B0FF680ADB38}"/>
              </a:ext>
            </a:extLst>
          </p:cNvPr>
          <p:cNvSpPr txBox="1"/>
          <p:nvPr/>
        </p:nvSpPr>
        <p:spPr>
          <a:xfrm>
            <a:off x="467544" y="0"/>
            <a:ext cx="307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Kafka Broker</a:t>
            </a:r>
            <a:r>
              <a:rPr lang="zh-CN" altLang="en-US" dirty="0">
                <a:solidFill>
                  <a:srgbClr val="FF0000"/>
                </a:solidFill>
              </a:rPr>
              <a:t>总体工作流程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11A8196-9D4D-46D1-B706-E8ACF20A44A8}"/>
              </a:ext>
            </a:extLst>
          </p:cNvPr>
          <p:cNvSpPr/>
          <p:nvPr/>
        </p:nvSpPr>
        <p:spPr>
          <a:xfrm>
            <a:off x="2843753" y="4618268"/>
            <a:ext cx="169800" cy="2265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DF0B4D-4CF0-4072-A722-03DE983DDDDB}"/>
              </a:ext>
            </a:extLst>
          </p:cNvPr>
          <p:cNvSpPr/>
          <p:nvPr/>
        </p:nvSpPr>
        <p:spPr>
          <a:xfrm>
            <a:off x="3779912" y="2536426"/>
            <a:ext cx="874694" cy="4874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F111EB-6DF3-4966-84B2-F74A158C2122}"/>
              </a:ext>
            </a:extLst>
          </p:cNvPr>
          <p:cNvSpPr/>
          <p:nvPr/>
        </p:nvSpPr>
        <p:spPr>
          <a:xfrm>
            <a:off x="3781543" y="3514934"/>
            <a:ext cx="873063" cy="4874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E5A0DA-14BD-416A-A9D3-3006E4252B8D}"/>
              </a:ext>
            </a:extLst>
          </p:cNvPr>
          <p:cNvSpPr/>
          <p:nvPr/>
        </p:nvSpPr>
        <p:spPr>
          <a:xfrm>
            <a:off x="5952785" y="4398675"/>
            <a:ext cx="873063" cy="4874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old_broker">
            <a:extLst>
              <a:ext uri="{FF2B5EF4-FFF2-40B4-BE49-F238E27FC236}">
                <a16:creationId xmlns:a16="http://schemas.microsoft.com/office/drawing/2014/main" id="{92646CE6-2735-4242-8183-7ABAEE0730FC}"/>
              </a:ext>
            </a:extLst>
          </p:cNvPr>
          <p:cNvSpPr/>
          <p:nvPr/>
        </p:nvSpPr>
        <p:spPr>
          <a:xfrm>
            <a:off x="3688436" y="785762"/>
            <a:ext cx="1823199" cy="4277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6589A4-9E0B-4185-AA4B-67B2F358EAFB}"/>
              </a:ext>
            </a:extLst>
          </p:cNvPr>
          <p:cNvSpPr txBox="1"/>
          <p:nvPr/>
        </p:nvSpPr>
        <p:spPr>
          <a:xfrm>
            <a:off x="2807639" y="864509"/>
            <a:ext cx="629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[         ] </a:t>
            </a:r>
            <a:endParaRPr lang="zh-CN" altLang="en-US" sz="12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BB370F-3B87-41AC-9D69-0D35CFC4CDC4}"/>
              </a:ext>
            </a:extLst>
          </p:cNvPr>
          <p:cNvSpPr txBox="1"/>
          <p:nvPr/>
        </p:nvSpPr>
        <p:spPr>
          <a:xfrm>
            <a:off x="2874434" y="872259"/>
            <a:ext cx="341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0</a:t>
            </a:r>
            <a:endParaRPr lang="zh-CN" altLang="en-US" sz="12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597394-217E-416B-9E96-A1548DA6F721}"/>
              </a:ext>
            </a:extLst>
          </p:cNvPr>
          <p:cNvSpPr txBox="1"/>
          <p:nvPr/>
        </p:nvSpPr>
        <p:spPr>
          <a:xfrm>
            <a:off x="2975354" y="872259"/>
            <a:ext cx="358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,1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7EE6C5-638B-448E-80C1-5658982CC73B}"/>
              </a:ext>
            </a:extLst>
          </p:cNvPr>
          <p:cNvSpPr txBox="1"/>
          <p:nvPr/>
        </p:nvSpPr>
        <p:spPr>
          <a:xfrm>
            <a:off x="3107868" y="868384"/>
            <a:ext cx="341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,2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9A92DC-C0B1-4697-808D-6709C4748533}"/>
              </a:ext>
            </a:extLst>
          </p:cNvPr>
          <p:cNvSpPr txBox="1"/>
          <p:nvPr/>
        </p:nvSpPr>
        <p:spPr>
          <a:xfrm>
            <a:off x="4369871" y="873906"/>
            <a:ext cx="1175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“brokerid”:0</a:t>
            </a:r>
            <a:r>
              <a:rPr lang="zh-CN" altLang="en-US" sz="1200" dirty="0"/>
              <a:t>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680D488-8A8D-496C-B185-B2354659548C}"/>
              </a:ext>
            </a:extLst>
          </p:cNvPr>
          <p:cNvSpPr txBox="1"/>
          <p:nvPr/>
        </p:nvSpPr>
        <p:spPr>
          <a:xfrm>
            <a:off x="7094599" y="960270"/>
            <a:ext cx="341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0</a:t>
            </a:r>
            <a:endParaRPr lang="zh-CN" altLang="en-US" sz="1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D4921AC-BC03-44F0-B335-87413DC01652}"/>
              </a:ext>
            </a:extLst>
          </p:cNvPr>
          <p:cNvSpPr txBox="1"/>
          <p:nvPr/>
        </p:nvSpPr>
        <p:spPr>
          <a:xfrm>
            <a:off x="6922553" y="957509"/>
            <a:ext cx="358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1,</a:t>
            </a:r>
            <a:endParaRPr lang="zh-CN" altLang="en-US" sz="1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714193-5812-408F-8E87-224C07A21C5C}"/>
              </a:ext>
            </a:extLst>
          </p:cNvPr>
          <p:cNvSpPr txBox="1"/>
          <p:nvPr/>
        </p:nvSpPr>
        <p:spPr>
          <a:xfrm>
            <a:off x="7208129" y="954748"/>
            <a:ext cx="341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,2</a:t>
            </a:r>
            <a:endParaRPr lang="zh-CN" altLang="en-US" sz="12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BA4DF95-A47B-4F0D-B30B-710DE4F153E4}"/>
              </a:ext>
            </a:extLst>
          </p:cNvPr>
          <p:cNvSpPr/>
          <p:nvPr/>
        </p:nvSpPr>
        <p:spPr>
          <a:xfrm>
            <a:off x="3778062" y="2536006"/>
            <a:ext cx="873063" cy="487443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6B8E878-6DB9-44E8-95FD-3CA1F8C2DC3A}"/>
              </a:ext>
            </a:extLst>
          </p:cNvPr>
          <p:cNvSpPr/>
          <p:nvPr/>
        </p:nvSpPr>
        <p:spPr>
          <a:xfrm>
            <a:off x="656807" y="3681745"/>
            <a:ext cx="169800" cy="2265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5E6E783-2E4C-4D6E-A466-8349C2E30056}"/>
              </a:ext>
            </a:extLst>
          </p:cNvPr>
          <p:cNvSpPr txBox="1"/>
          <p:nvPr/>
        </p:nvSpPr>
        <p:spPr>
          <a:xfrm>
            <a:off x="3611712" y="1238981"/>
            <a:ext cx="1965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谁先注册，谁说了算</a:t>
            </a:r>
            <a:endParaRPr lang="zh-CN" altLang="en-US" sz="1200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27B49FB-F92E-4ED7-BBCD-83EA39EB2859}"/>
              </a:ext>
            </a:extLst>
          </p:cNvPr>
          <p:cNvCxnSpPr>
            <a:cxnSpLocks/>
            <a:stCxn id="34" idx="3"/>
            <a:endCxn id="13" idx="1"/>
          </p:cNvCxnSpPr>
          <p:nvPr/>
        </p:nvCxnSpPr>
        <p:spPr>
          <a:xfrm flipV="1">
            <a:off x="826607" y="3767937"/>
            <a:ext cx="1312193" cy="27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F1865C3-3085-40DB-8205-F386B9E7388F}"/>
              </a:ext>
            </a:extLst>
          </p:cNvPr>
          <p:cNvSpPr/>
          <p:nvPr/>
        </p:nvSpPr>
        <p:spPr>
          <a:xfrm>
            <a:off x="660844" y="3681745"/>
            <a:ext cx="169800" cy="2265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AC1C39B-B341-4782-97EE-0B8DE95DC82B}"/>
              </a:ext>
            </a:extLst>
          </p:cNvPr>
          <p:cNvSpPr txBox="1"/>
          <p:nvPr/>
        </p:nvSpPr>
        <p:spPr>
          <a:xfrm>
            <a:off x="978396" y="350647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/>
              <a:t>发送消息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8636D9C-18D0-4589-88A1-014067422278}"/>
              </a:ext>
            </a:extLst>
          </p:cNvPr>
          <p:cNvSpPr txBox="1"/>
          <p:nvPr/>
        </p:nvSpPr>
        <p:spPr>
          <a:xfrm>
            <a:off x="950344" y="426300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/>
              <a:t>应答消息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FCAD654-AB40-458D-BAE9-44B84E8177B5}"/>
              </a:ext>
            </a:extLst>
          </p:cNvPr>
          <p:cNvSpPr/>
          <p:nvPr/>
        </p:nvSpPr>
        <p:spPr>
          <a:xfrm>
            <a:off x="179512" y="3682550"/>
            <a:ext cx="169800" cy="2265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D01D1FF-0625-4B45-9B4B-CD510A7DF6B3}"/>
              </a:ext>
            </a:extLst>
          </p:cNvPr>
          <p:cNvSpPr/>
          <p:nvPr/>
        </p:nvSpPr>
        <p:spPr>
          <a:xfrm>
            <a:off x="182759" y="3681745"/>
            <a:ext cx="169800" cy="2265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D899B12-28E5-48F2-A021-CA3CDAA4BE53}"/>
              </a:ext>
            </a:extLst>
          </p:cNvPr>
          <p:cNvSpPr/>
          <p:nvPr/>
        </p:nvSpPr>
        <p:spPr>
          <a:xfrm>
            <a:off x="3700273" y="4145636"/>
            <a:ext cx="242618" cy="7887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O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418164B-6F05-415E-9CEE-689038499F3C}"/>
              </a:ext>
            </a:extLst>
          </p:cNvPr>
          <p:cNvSpPr/>
          <p:nvPr/>
        </p:nvSpPr>
        <p:spPr>
          <a:xfrm>
            <a:off x="4006102" y="4152366"/>
            <a:ext cx="836405" cy="3483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Segment</a:t>
            </a: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（</a:t>
            </a:r>
            <a:r>
              <a:rPr lang="en-US" altLang="zh-CN" sz="1000" dirty="0">
                <a:solidFill>
                  <a:schemeClr val="tx1"/>
                </a:solidFill>
              </a:rPr>
              <a:t>1G</a:t>
            </a:r>
            <a:r>
              <a:rPr lang="zh-CN" altLang="en-US" sz="1000" dirty="0">
                <a:solidFill>
                  <a:schemeClr val="tx1"/>
                </a:solidFill>
              </a:rPr>
              <a:t>）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D5E5FFA-13B2-4276-B978-5D7B8F6C85EE}"/>
              </a:ext>
            </a:extLst>
          </p:cNvPr>
          <p:cNvSpPr/>
          <p:nvPr/>
        </p:nvSpPr>
        <p:spPr>
          <a:xfrm>
            <a:off x="3999376" y="4617550"/>
            <a:ext cx="836405" cy="3168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Segment</a:t>
            </a: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(1G)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8C97DBC-18F7-435F-8192-5ECDDD8419D7}"/>
              </a:ext>
            </a:extLst>
          </p:cNvPr>
          <p:cNvSpPr/>
          <p:nvPr/>
        </p:nvSpPr>
        <p:spPr>
          <a:xfrm>
            <a:off x="4917201" y="4152366"/>
            <a:ext cx="956639" cy="2182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.log</a:t>
            </a:r>
            <a:r>
              <a:rPr lang="zh-CN" altLang="en-US" sz="1000" dirty="0">
                <a:solidFill>
                  <a:schemeClr val="tx1"/>
                </a:solidFill>
              </a:rPr>
              <a:t>文件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AD6940-57B4-4284-BF06-0F4879FA429B}"/>
              </a:ext>
            </a:extLst>
          </p:cNvPr>
          <p:cNvSpPr/>
          <p:nvPr/>
        </p:nvSpPr>
        <p:spPr>
          <a:xfrm>
            <a:off x="4917242" y="4412529"/>
            <a:ext cx="956639" cy="2182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.index</a:t>
            </a:r>
            <a:r>
              <a:rPr lang="zh-CN" altLang="en-US" sz="1000" dirty="0">
                <a:solidFill>
                  <a:schemeClr val="tx1"/>
                </a:solidFill>
              </a:rPr>
              <a:t>文件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A2E117CA-5F6C-4984-B126-B4BEE3BE1679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 rot="5400000">
            <a:off x="2638543" y="4192841"/>
            <a:ext cx="365517" cy="31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F234751-A8AC-40C8-AC09-297CE96DDCE7}"/>
              </a:ext>
            </a:extLst>
          </p:cNvPr>
          <p:cNvCxnSpPr>
            <a:cxnSpLocks/>
            <a:stCxn id="13" idx="1"/>
            <a:endCxn id="17" idx="3"/>
          </p:cNvCxnSpPr>
          <p:nvPr/>
        </p:nvCxnSpPr>
        <p:spPr>
          <a:xfrm flipH="1">
            <a:off x="917882" y="3767937"/>
            <a:ext cx="1220918" cy="379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2CCD169-8F4C-4043-969D-759084CE5F4E}"/>
              </a:ext>
            </a:extLst>
          </p:cNvPr>
          <p:cNvSpPr txBox="1"/>
          <p:nvPr/>
        </p:nvSpPr>
        <p:spPr>
          <a:xfrm>
            <a:off x="3616249" y="1719121"/>
            <a:ext cx="19715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）由选举出来的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监听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brokers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节点变化</a:t>
            </a:r>
            <a:endParaRPr lang="zh-CN" altLang="en-US" sz="12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7779DB0-BD3A-4208-9844-7F7CBD9E16CE}"/>
              </a:ext>
            </a:extLst>
          </p:cNvPr>
          <p:cNvCxnSpPr>
            <a:cxnSpLocks/>
            <a:stCxn id="33" idx="1"/>
            <a:endCxn id="7" idx="3"/>
          </p:cNvCxnSpPr>
          <p:nvPr/>
        </p:nvCxnSpPr>
        <p:spPr>
          <a:xfrm flipH="1" flipV="1">
            <a:off x="3504512" y="2773057"/>
            <a:ext cx="273550" cy="667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7266D9F-C8EE-4B01-8653-744995F39583}"/>
              </a:ext>
            </a:extLst>
          </p:cNvPr>
          <p:cNvCxnSpPr>
            <a:cxnSpLocks/>
            <a:stCxn id="33" idx="1"/>
            <a:endCxn id="13" idx="3"/>
          </p:cNvCxnSpPr>
          <p:nvPr/>
        </p:nvCxnSpPr>
        <p:spPr>
          <a:xfrm flipH="1">
            <a:off x="3506951" y="2779728"/>
            <a:ext cx="271111" cy="98820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0056429-53A4-41C6-A5AD-16CA90C05125}"/>
              </a:ext>
            </a:extLst>
          </p:cNvPr>
          <p:cNvCxnSpPr>
            <a:cxnSpLocks/>
            <a:stCxn id="33" idx="1"/>
            <a:endCxn id="11" idx="3"/>
          </p:cNvCxnSpPr>
          <p:nvPr/>
        </p:nvCxnSpPr>
        <p:spPr>
          <a:xfrm flipH="1">
            <a:off x="3503801" y="2779728"/>
            <a:ext cx="274261" cy="18411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D37343A-9BCC-41C8-806D-AFCB4CD266AC}"/>
              </a:ext>
            </a:extLst>
          </p:cNvPr>
          <p:cNvSpPr txBox="1"/>
          <p:nvPr/>
        </p:nvSpPr>
        <p:spPr>
          <a:xfrm>
            <a:off x="3717811" y="3059800"/>
            <a:ext cx="21653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决定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选举</a:t>
            </a:r>
            <a:endParaRPr lang="zh-CN" altLang="en-US" sz="12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E9FFA65-054D-4638-B2DB-229FC1BF7F7D}"/>
              </a:ext>
            </a:extLst>
          </p:cNvPr>
          <p:cNvSpPr txBox="1"/>
          <p:nvPr/>
        </p:nvSpPr>
        <p:spPr>
          <a:xfrm>
            <a:off x="5858800" y="1986761"/>
            <a:ext cx="1102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）获取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endParaRPr lang="zh-CN" altLang="en-US" sz="12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2327DC8-1F3A-4008-B6AA-F586BB8C28AD}"/>
              </a:ext>
            </a:extLst>
          </p:cNvPr>
          <p:cNvSpPr txBox="1"/>
          <p:nvPr/>
        </p:nvSpPr>
        <p:spPr>
          <a:xfrm>
            <a:off x="7148829" y="2250602"/>
            <a:ext cx="1652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及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endParaRPr lang="zh-CN" altLang="en-US" sz="12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0456875-CCCC-4F02-8713-B6CEECE31AC6}"/>
              </a:ext>
            </a:extLst>
          </p:cNvPr>
          <p:cNvSpPr txBox="1"/>
          <p:nvPr/>
        </p:nvSpPr>
        <p:spPr>
          <a:xfrm>
            <a:off x="4966398" y="2743666"/>
            <a:ext cx="21362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监听到节点变化</a:t>
            </a:r>
            <a:endParaRPr lang="zh-CN" altLang="en-US" sz="12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FBFA9CE-56C0-427B-965F-EE4B1312D06E}"/>
              </a:ext>
            </a:extLst>
          </p:cNvPr>
          <p:cNvSpPr txBox="1"/>
          <p:nvPr/>
        </p:nvSpPr>
        <p:spPr>
          <a:xfrm>
            <a:off x="6736537" y="1213028"/>
            <a:ext cx="18170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将节点信息上传到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ZK</a:t>
            </a:r>
            <a:endParaRPr lang="zh-CN" altLang="en-US" sz="12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32CE9B44-2C61-4F2C-B040-AACBFFA352D9}"/>
              </a:ext>
            </a:extLst>
          </p:cNvPr>
          <p:cNvCxnSpPr>
            <a:cxnSpLocks/>
          </p:cNvCxnSpPr>
          <p:nvPr/>
        </p:nvCxnSpPr>
        <p:spPr>
          <a:xfrm flipV="1">
            <a:off x="4667503" y="1256892"/>
            <a:ext cx="1923001" cy="1530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E0135E4D-FB82-4A4F-B143-CA69C0C31089}"/>
              </a:ext>
            </a:extLst>
          </p:cNvPr>
          <p:cNvCxnSpPr>
            <a:cxnSpLocks/>
          </p:cNvCxnSpPr>
          <p:nvPr/>
        </p:nvCxnSpPr>
        <p:spPr>
          <a:xfrm flipH="1">
            <a:off x="4656237" y="1254251"/>
            <a:ext cx="2104111" cy="1702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506F93E6-1D61-4FBA-8618-1778C7A3A722}"/>
              </a:ext>
            </a:extLst>
          </p:cNvPr>
          <p:cNvSpPr txBox="1"/>
          <p:nvPr/>
        </p:nvSpPr>
        <p:spPr>
          <a:xfrm>
            <a:off x="7184291" y="3135152"/>
            <a:ext cx="1838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选举新的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12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中存活为前提，按照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中排在前面的优先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12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5284B38-2A6E-4937-A2F5-B8DECD42DCAF}"/>
              </a:ext>
            </a:extLst>
          </p:cNvPr>
          <p:cNvSpPr txBox="1"/>
          <p:nvPr/>
        </p:nvSpPr>
        <p:spPr>
          <a:xfrm>
            <a:off x="7201991" y="4053917"/>
            <a:ext cx="1779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）其他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contorller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zk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同步相关信息</a:t>
            </a:r>
            <a:endParaRPr lang="zh-CN" altLang="en-US" sz="12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6BD8D0B-990D-4AAD-AFC2-C2E49AEA311A}"/>
              </a:ext>
            </a:extLst>
          </p:cNvPr>
          <p:cNvSpPr/>
          <p:nvPr/>
        </p:nvSpPr>
        <p:spPr>
          <a:xfrm>
            <a:off x="2133211" y="2527135"/>
            <a:ext cx="1368151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A79ACCC8-BC36-4F4D-8972-5ED24FC00D54}"/>
              </a:ext>
            </a:extLst>
          </p:cNvPr>
          <p:cNvCxnSpPr>
            <a:cxnSpLocks/>
            <a:stCxn id="16" idx="3"/>
            <a:endCxn id="22" idx="3"/>
          </p:cNvCxnSpPr>
          <p:nvPr/>
        </p:nvCxnSpPr>
        <p:spPr>
          <a:xfrm flipH="1">
            <a:off x="4654606" y="1001093"/>
            <a:ext cx="3823426" cy="2757563"/>
          </a:xfrm>
          <a:prstGeom prst="bentConnector3">
            <a:avLst>
              <a:gd name="adj1" fmla="val -121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A012FFDD-5A0B-4493-A511-14BEAB43B0C5}"/>
              </a:ext>
            </a:extLst>
          </p:cNvPr>
          <p:cNvCxnSpPr>
            <a:cxnSpLocks/>
            <a:stCxn id="16" idx="3"/>
            <a:endCxn id="23" idx="3"/>
          </p:cNvCxnSpPr>
          <p:nvPr/>
        </p:nvCxnSpPr>
        <p:spPr>
          <a:xfrm flipH="1">
            <a:off x="6825848" y="1001093"/>
            <a:ext cx="1652184" cy="3641304"/>
          </a:xfrm>
          <a:prstGeom prst="bentConnector3">
            <a:avLst>
              <a:gd name="adj1" fmla="val -3438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FBC6B889-CE10-4CA8-A3A1-3820BF140C3E}"/>
              </a:ext>
            </a:extLst>
          </p:cNvPr>
          <p:cNvSpPr txBox="1"/>
          <p:nvPr/>
        </p:nvSpPr>
        <p:spPr>
          <a:xfrm>
            <a:off x="4590340" y="3352233"/>
            <a:ext cx="25733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选举规则：在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中存活为前提，按照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中排在前面的优先。例如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[1,0,2],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[1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2]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，那么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就会按照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的顺序轮询</a:t>
            </a:r>
            <a:endParaRPr lang="zh-CN" altLang="en-US" sz="12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5AFCD06-8945-4311-8512-AE8C3A287F7D}"/>
              </a:ext>
            </a:extLst>
          </p:cNvPr>
          <p:cNvSpPr txBox="1"/>
          <p:nvPr/>
        </p:nvSpPr>
        <p:spPr>
          <a:xfrm>
            <a:off x="61475" y="2930075"/>
            <a:ext cx="1713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）假设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挂了</a:t>
            </a:r>
            <a:endParaRPr lang="zh-CN" altLang="en-US" sz="1200" dirty="0"/>
          </a:p>
        </p:txBody>
      </p:sp>
      <p:sp>
        <p:nvSpPr>
          <p:cNvPr id="67" name="乘号 66">
            <a:extLst>
              <a:ext uri="{FF2B5EF4-FFF2-40B4-BE49-F238E27FC236}">
                <a16:creationId xmlns:a16="http://schemas.microsoft.com/office/drawing/2014/main" id="{71E3B49D-2F6E-46A0-98AA-BC916959977D}"/>
              </a:ext>
            </a:extLst>
          </p:cNvPr>
          <p:cNvSpPr/>
          <p:nvPr/>
        </p:nvSpPr>
        <p:spPr>
          <a:xfrm>
            <a:off x="3219832" y="3755279"/>
            <a:ext cx="323574" cy="286723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4093E52-700C-4D7A-B430-673F7000B8F6}"/>
              </a:ext>
            </a:extLst>
          </p:cNvPr>
          <p:cNvSpPr/>
          <p:nvPr/>
        </p:nvSpPr>
        <p:spPr>
          <a:xfrm>
            <a:off x="2873416" y="2773186"/>
            <a:ext cx="169800" cy="2265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EA3B52EA-2B0B-47F4-8541-442E153B01A0}"/>
              </a:ext>
            </a:extLst>
          </p:cNvPr>
          <p:cNvCxnSpPr>
            <a:cxnSpLocks/>
            <a:stCxn id="33" idx="0"/>
            <a:endCxn id="15" idx="2"/>
          </p:cNvCxnSpPr>
          <p:nvPr/>
        </p:nvCxnSpPr>
        <p:spPr>
          <a:xfrm flipH="1" flipV="1">
            <a:off x="2626132" y="1217063"/>
            <a:ext cx="1588462" cy="1318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3A6F1183-FEA9-4679-8C35-1EACFFC4EB5B}"/>
              </a:ext>
            </a:extLst>
          </p:cNvPr>
          <p:cNvSpPr txBox="1"/>
          <p:nvPr/>
        </p:nvSpPr>
        <p:spPr>
          <a:xfrm>
            <a:off x="6388179" y="948510"/>
            <a:ext cx="3334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</a:t>
            </a:r>
            <a:endParaRPr lang="zh-CN" altLang="en-US" sz="12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642DF5E-533F-465F-A39F-3643EEA327B5}"/>
              </a:ext>
            </a:extLst>
          </p:cNvPr>
          <p:cNvSpPr txBox="1"/>
          <p:nvPr/>
        </p:nvSpPr>
        <p:spPr>
          <a:xfrm>
            <a:off x="6390418" y="947100"/>
            <a:ext cx="3334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0</a:t>
            </a:r>
            <a:endParaRPr lang="zh-CN" altLang="en-US" sz="12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1ABF2CC-70B7-4434-A56C-DC70F77AC34C}"/>
              </a:ext>
            </a:extLst>
          </p:cNvPr>
          <p:cNvSpPr txBox="1"/>
          <p:nvPr/>
        </p:nvSpPr>
        <p:spPr>
          <a:xfrm>
            <a:off x="84791" y="1926916"/>
            <a:ext cx="14892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分区中的所有副本统称</a:t>
            </a:r>
            <a:endParaRPr lang="zh-CN" alt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40308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32099E-6 L 0.24063 0.01698 " pathEditMode="relative" rAng="0" ptsTypes="AA">
                                      <p:cBhvr>
                                        <p:cTn id="24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1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4" dur="25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5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4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7" grpId="1"/>
      <p:bldP spid="28" grpId="0"/>
      <p:bldP spid="29" grpId="0"/>
      <p:bldP spid="30" grpId="0"/>
      <p:bldP spid="31" grpId="0"/>
      <p:bldP spid="31" grpId="1"/>
      <p:bldP spid="32" grpId="0"/>
      <p:bldP spid="33" grpId="0" animBg="1"/>
      <p:bldP spid="33" grpId="1" animBg="1"/>
      <p:bldP spid="34" grpId="0" animBg="1"/>
      <p:bldP spid="35" grpId="0"/>
      <p:bldP spid="37" grpId="0" animBg="1"/>
      <p:bldP spid="37" grpId="1" animBg="1"/>
      <p:bldP spid="38" grpId="0"/>
      <p:bldP spid="39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9" grpId="0"/>
      <p:bldP spid="53" grpId="0"/>
      <p:bldP spid="54" grpId="0"/>
      <p:bldP spid="55" grpId="0"/>
      <p:bldP spid="56" grpId="0"/>
      <p:bldP spid="57" grpId="0"/>
      <p:bldP spid="60" grpId="0"/>
      <p:bldP spid="61" grpId="0"/>
      <p:bldP spid="62" grpId="0" animBg="1"/>
      <p:bldP spid="65" grpId="0"/>
      <p:bldP spid="66" grpId="0"/>
      <p:bldP spid="67" grpId="0" animBg="1"/>
      <p:bldP spid="68" grpId="0" animBg="1"/>
      <p:bldP spid="70" grpId="0"/>
      <p:bldP spid="70" grpId="1"/>
      <p:bldP spid="71" grpId="0"/>
      <p:bldP spid="7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9AE5BB-13ED-4D96-9759-445CB941E17E}"/>
              </a:ext>
            </a:extLst>
          </p:cNvPr>
          <p:cNvSpPr/>
          <p:nvPr/>
        </p:nvSpPr>
        <p:spPr>
          <a:xfrm>
            <a:off x="1763690" y="1961823"/>
            <a:ext cx="5400346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FA83A7-9817-4D3A-AA49-44C166ADCEB6}"/>
              </a:ext>
            </a:extLst>
          </p:cNvPr>
          <p:cNvSpPr/>
          <p:nvPr/>
        </p:nvSpPr>
        <p:spPr>
          <a:xfrm>
            <a:off x="1951663" y="2293169"/>
            <a:ext cx="5150195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FFB66B-75A6-439D-A999-2AD7E32AB87D}"/>
              </a:ext>
            </a:extLst>
          </p:cNvPr>
          <p:cNvSpPr txBox="1"/>
          <p:nvPr/>
        </p:nvSpPr>
        <p:spPr>
          <a:xfrm>
            <a:off x="2033294" y="227865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0B5A66-91E5-4763-ACEC-2C26198264A6}"/>
              </a:ext>
            </a:extLst>
          </p:cNvPr>
          <p:cNvSpPr txBox="1"/>
          <p:nvPr/>
        </p:nvSpPr>
        <p:spPr>
          <a:xfrm>
            <a:off x="1890926" y="1984292"/>
            <a:ext cx="1555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655FF8-4BC2-4F30-92E0-44D708978850}"/>
              </a:ext>
            </a:extLst>
          </p:cNvPr>
          <p:cNvSpPr/>
          <p:nvPr/>
        </p:nvSpPr>
        <p:spPr>
          <a:xfrm>
            <a:off x="1950453" y="3286968"/>
            <a:ext cx="5150195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6B719C-EDFE-48D2-BCB2-A0A3872AFB71}"/>
              </a:ext>
            </a:extLst>
          </p:cNvPr>
          <p:cNvSpPr/>
          <p:nvPr/>
        </p:nvSpPr>
        <p:spPr>
          <a:xfrm>
            <a:off x="2136361" y="2529335"/>
            <a:ext cx="1368151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Follower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24DEEC-F8AA-45D4-9F8C-580B038C3F34}"/>
              </a:ext>
            </a:extLst>
          </p:cNvPr>
          <p:cNvSpPr txBox="1"/>
          <p:nvPr/>
        </p:nvSpPr>
        <p:spPr>
          <a:xfrm>
            <a:off x="2059943" y="3245016"/>
            <a:ext cx="699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8E407D-8F22-450D-8CD0-B7A7BA77190E}"/>
              </a:ext>
            </a:extLst>
          </p:cNvPr>
          <p:cNvSpPr/>
          <p:nvPr/>
        </p:nvSpPr>
        <p:spPr>
          <a:xfrm>
            <a:off x="1950453" y="4144607"/>
            <a:ext cx="5150195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59162E-F303-4821-807D-14D3BAECFABA}"/>
              </a:ext>
            </a:extLst>
          </p:cNvPr>
          <p:cNvSpPr txBox="1"/>
          <p:nvPr/>
        </p:nvSpPr>
        <p:spPr>
          <a:xfrm>
            <a:off x="2059943" y="4129753"/>
            <a:ext cx="723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EC13A1-B4F4-4E7C-BC5A-E07A5F31FE04}"/>
              </a:ext>
            </a:extLst>
          </p:cNvPr>
          <p:cNvSpPr/>
          <p:nvPr/>
        </p:nvSpPr>
        <p:spPr>
          <a:xfrm>
            <a:off x="2135650" y="4377175"/>
            <a:ext cx="1368151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r>
              <a:rPr lang="en-US" altLang="zh-CN" sz="1200" dirty="0">
                <a:solidFill>
                  <a:schemeClr val="tx1"/>
                </a:solidFill>
              </a:rPr>
              <a:t>Follower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8D8A12-8C68-4951-A478-CB8C50353153}"/>
              </a:ext>
            </a:extLst>
          </p:cNvPr>
          <p:cNvSpPr/>
          <p:nvPr/>
        </p:nvSpPr>
        <p:spPr>
          <a:xfrm>
            <a:off x="2138800" y="3524215"/>
            <a:ext cx="1368151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C1C7CD-1DE5-4FA5-AAAE-B5986AF80C9D}"/>
              </a:ext>
            </a:extLst>
          </p:cNvPr>
          <p:cNvSpPr/>
          <p:nvPr/>
        </p:nvSpPr>
        <p:spPr>
          <a:xfrm>
            <a:off x="1763688" y="444030"/>
            <a:ext cx="6781383" cy="1289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Zookeeper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old_broker">
            <a:extLst>
              <a:ext uri="{FF2B5EF4-FFF2-40B4-BE49-F238E27FC236}">
                <a16:creationId xmlns:a16="http://schemas.microsoft.com/office/drawing/2014/main" id="{152507BF-D27E-4FC2-B4DE-88ED450E5D33}"/>
              </a:ext>
            </a:extLst>
          </p:cNvPr>
          <p:cNvSpPr/>
          <p:nvPr/>
        </p:nvSpPr>
        <p:spPr>
          <a:xfrm>
            <a:off x="1848328" y="789312"/>
            <a:ext cx="1555607" cy="4277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/brokers/ids/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5" name="old_state矩形 68">
            <a:extLst>
              <a:ext uri="{FF2B5EF4-FFF2-40B4-BE49-F238E27FC236}">
                <a16:creationId xmlns:a16="http://schemas.microsoft.com/office/drawing/2014/main" id="{938E0171-11A3-433F-91B8-BC8B95608530}"/>
              </a:ext>
            </a:extLst>
          </p:cNvPr>
          <p:cNvSpPr/>
          <p:nvPr/>
        </p:nvSpPr>
        <p:spPr>
          <a:xfrm>
            <a:off x="5796136" y="787217"/>
            <a:ext cx="2681896" cy="4277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/brokers/topics/first/partitions/</a:t>
            </a:r>
            <a:r>
              <a:rPr lang="en-US" altLang="zh-CN" sz="1200" dirty="0">
                <a:solidFill>
                  <a:srgbClr val="FF0000"/>
                </a:solidFill>
              </a:rPr>
              <a:t>0</a:t>
            </a:r>
            <a:r>
              <a:rPr lang="en-US" altLang="zh-CN" sz="1200" dirty="0"/>
              <a:t>/state</a:t>
            </a:r>
          </a:p>
          <a:p>
            <a:r>
              <a:rPr lang="en-US" altLang="zh-CN" sz="1200" dirty="0">
                <a:solidFill>
                  <a:srgbClr val="FF0000"/>
                </a:solidFill>
              </a:rPr>
              <a:t>"leader":   ,"isr":[            ]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97DABD-866B-4327-9529-A26A4AE84D5F}"/>
              </a:ext>
            </a:extLst>
          </p:cNvPr>
          <p:cNvSpPr txBox="1"/>
          <p:nvPr/>
        </p:nvSpPr>
        <p:spPr>
          <a:xfrm>
            <a:off x="1744121" y="1290020"/>
            <a:ext cx="1180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启动后在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zk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中注册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F8FE09-17DE-44B5-B716-A8AFCC390889}"/>
              </a:ext>
            </a:extLst>
          </p:cNvPr>
          <p:cNvSpPr txBox="1"/>
          <p:nvPr/>
        </p:nvSpPr>
        <p:spPr>
          <a:xfrm>
            <a:off x="467544" y="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Leader</a:t>
            </a:r>
            <a:r>
              <a:rPr lang="zh-CN" altLang="en-US" dirty="0">
                <a:solidFill>
                  <a:srgbClr val="FF0000"/>
                </a:solidFill>
              </a:rPr>
              <a:t>选举流程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3A8C63-CCB1-447E-B689-70A584231D3F}"/>
              </a:ext>
            </a:extLst>
          </p:cNvPr>
          <p:cNvSpPr/>
          <p:nvPr/>
        </p:nvSpPr>
        <p:spPr>
          <a:xfrm>
            <a:off x="3779912" y="2536426"/>
            <a:ext cx="874694" cy="4874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6D3491-C794-43B0-8356-99BFBBF322A8}"/>
              </a:ext>
            </a:extLst>
          </p:cNvPr>
          <p:cNvSpPr/>
          <p:nvPr/>
        </p:nvSpPr>
        <p:spPr>
          <a:xfrm>
            <a:off x="3781543" y="3514934"/>
            <a:ext cx="873063" cy="4874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ABDF76-CEFC-4EAE-AE8E-71DB98F72C77}"/>
              </a:ext>
            </a:extLst>
          </p:cNvPr>
          <p:cNvSpPr/>
          <p:nvPr/>
        </p:nvSpPr>
        <p:spPr>
          <a:xfrm>
            <a:off x="3775372" y="4344061"/>
            <a:ext cx="873063" cy="4874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1" name="old_broker">
            <a:extLst>
              <a:ext uri="{FF2B5EF4-FFF2-40B4-BE49-F238E27FC236}">
                <a16:creationId xmlns:a16="http://schemas.microsoft.com/office/drawing/2014/main" id="{2962C1B3-5927-4963-A9F0-FBEA336D74F7}"/>
              </a:ext>
            </a:extLst>
          </p:cNvPr>
          <p:cNvSpPr/>
          <p:nvPr/>
        </p:nvSpPr>
        <p:spPr>
          <a:xfrm>
            <a:off x="3688436" y="785762"/>
            <a:ext cx="1823199" cy="4277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0DD960-DC75-44E6-A402-8E617AA4B298}"/>
              </a:ext>
            </a:extLst>
          </p:cNvPr>
          <p:cNvSpPr txBox="1"/>
          <p:nvPr/>
        </p:nvSpPr>
        <p:spPr>
          <a:xfrm>
            <a:off x="2807639" y="864509"/>
            <a:ext cx="629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[         ] 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444EA6-0EEA-40D5-9F05-928E4D2FF339}"/>
              </a:ext>
            </a:extLst>
          </p:cNvPr>
          <p:cNvSpPr txBox="1"/>
          <p:nvPr/>
        </p:nvSpPr>
        <p:spPr>
          <a:xfrm>
            <a:off x="2874434" y="872259"/>
            <a:ext cx="341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0</a:t>
            </a:r>
            <a:endParaRPr lang="zh-CN" altLang="en-US" sz="1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A865138-EFD4-40A1-8F2D-BCDFA149D8C1}"/>
              </a:ext>
            </a:extLst>
          </p:cNvPr>
          <p:cNvSpPr txBox="1"/>
          <p:nvPr/>
        </p:nvSpPr>
        <p:spPr>
          <a:xfrm>
            <a:off x="2975354" y="872259"/>
            <a:ext cx="358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,1</a:t>
            </a:r>
            <a:endParaRPr lang="zh-CN" altLang="en-US" sz="1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71D961A-692E-40DD-B7DB-346A6F75ED3D}"/>
              </a:ext>
            </a:extLst>
          </p:cNvPr>
          <p:cNvSpPr txBox="1"/>
          <p:nvPr/>
        </p:nvSpPr>
        <p:spPr>
          <a:xfrm>
            <a:off x="3107868" y="868384"/>
            <a:ext cx="341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,2</a:t>
            </a:r>
            <a:endParaRPr lang="zh-CN" altLang="en-US" sz="12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598D7CD-9953-4366-8689-8F97EE1BDF7A}"/>
              </a:ext>
            </a:extLst>
          </p:cNvPr>
          <p:cNvSpPr txBox="1"/>
          <p:nvPr/>
        </p:nvSpPr>
        <p:spPr>
          <a:xfrm>
            <a:off x="4369871" y="873906"/>
            <a:ext cx="1175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“brokerid”:0</a:t>
            </a:r>
            <a:r>
              <a:rPr lang="zh-CN" altLang="en-US" sz="1200" dirty="0"/>
              <a:t> 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0E2006-9C79-4CC5-9781-1B14A09BDE90}"/>
              </a:ext>
            </a:extLst>
          </p:cNvPr>
          <p:cNvSpPr txBox="1"/>
          <p:nvPr/>
        </p:nvSpPr>
        <p:spPr>
          <a:xfrm>
            <a:off x="7093704" y="969517"/>
            <a:ext cx="341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99908C4-4940-4837-9A01-B63E9A35AB2B}"/>
              </a:ext>
            </a:extLst>
          </p:cNvPr>
          <p:cNvSpPr txBox="1"/>
          <p:nvPr/>
        </p:nvSpPr>
        <p:spPr>
          <a:xfrm>
            <a:off x="6938210" y="974012"/>
            <a:ext cx="358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1,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C0C1FB0-9416-42BE-B804-E6D4CA55724F}"/>
              </a:ext>
            </a:extLst>
          </p:cNvPr>
          <p:cNvSpPr txBox="1"/>
          <p:nvPr/>
        </p:nvSpPr>
        <p:spPr>
          <a:xfrm>
            <a:off x="7193012" y="976356"/>
            <a:ext cx="341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,2</a:t>
            </a:r>
            <a:endParaRPr lang="zh-CN" altLang="en-US" sz="12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D91007-9938-46B1-AFD3-104EC74FDDDB}"/>
              </a:ext>
            </a:extLst>
          </p:cNvPr>
          <p:cNvSpPr/>
          <p:nvPr/>
        </p:nvSpPr>
        <p:spPr>
          <a:xfrm>
            <a:off x="3779239" y="2524742"/>
            <a:ext cx="873063" cy="499127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Controller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7B1484-908F-4EEF-866A-D853ED91745A}"/>
              </a:ext>
            </a:extLst>
          </p:cNvPr>
          <p:cNvSpPr txBox="1"/>
          <p:nvPr/>
        </p:nvSpPr>
        <p:spPr>
          <a:xfrm>
            <a:off x="3611712" y="1238981"/>
            <a:ext cx="1965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谁先注册，谁说了算</a:t>
            </a:r>
            <a:endParaRPr lang="zh-CN" altLang="en-US" sz="1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C5135AF-04B7-4632-87F8-2020762002B4}"/>
              </a:ext>
            </a:extLst>
          </p:cNvPr>
          <p:cNvSpPr txBox="1"/>
          <p:nvPr/>
        </p:nvSpPr>
        <p:spPr>
          <a:xfrm>
            <a:off x="3616249" y="1719121"/>
            <a:ext cx="19715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）由选举出来的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监听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brokers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节点变化</a:t>
            </a:r>
            <a:endParaRPr lang="zh-CN" altLang="en-US" sz="12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27E6E57-2636-4C1C-8339-90044BD0E7CA}"/>
              </a:ext>
            </a:extLst>
          </p:cNvPr>
          <p:cNvCxnSpPr>
            <a:cxnSpLocks/>
            <a:stCxn id="30" idx="1"/>
            <a:endCxn id="7" idx="3"/>
          </p:cNvCxnSpPr>
          <p:nvPr/>
        </p:nvCxnSpPr>
        <p:spPr>
          <a:xfrm flipH="1" flipV="1">
            <a:off x="3504512" y="2773057"/>
            <a:ext cx="274727" cy="12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5DA9F86-F0DD-475E-BA99-8E39C0666A7C}"/>
              </a:ext>
            </a:extLst>
          </p:cNvPr>
          <p:cNvCxnSpPr>
            <a:cxnSpLocks/>
            <a:stCxn id="30" idx="1"/>
            <a:endCxn id="12" idx="3"/>
          </p:cNvCxnSpPr>
          <p:nvPr/>
        </p:nvCxnSpPr>
        <p:spPr>
          <a:xfrm flipH="1">
            <a:off x="3506951" y="2774306"/>
            <a:ext cx="272288" cy="99363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4ECDE98-6733-4962-A325-58F741834E45}"/>
              </a:ext>
            </a:extLst>
          </p:cNvPr>
          <p:cNvCxnSpPr>
            <a:cxnSpLocks/>
            <a:stCxn id="30" idx="1"/>
            <a:endCxn id="11" idx="3"/>
          </p:cNvCxnSpPr>
          <p:nvPr/>
        </p:nvCxnSpPr>
        <p:spPr>
          <a:xfrm flipH="1">
            <a:off x="3503801" y="2774306"/>
            <a:ext cx="275438" cy="184659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9154498-2D09-488C-AE2C-885E9D06856B}"/>
              </a:ext>
            </a:extLst>
          </p:cNvPr>
          <p:cNvSpPr txBox="1"/>
          <p:nvPr/>
        </p:nvSpPr>
        <p:spPr>
          <a:xfrm>
            <a:off x="3717811" y="3059800"/>
            <a:ext cx="21653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决定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选举</a:t>
            </a:r>
            <a:endParaRPr lang="zh-CN" alt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5894404-3FBE-49B3-961A-49AF53A2B7A5}"/>
              </a:ext>
            </a:extLst>
          </p:cNvPr>
          <p:cNvSpPr txBox="1"/>
          <p:nvPr/>
        </p:nvSpPr>
        <p:spPr>
          <a:xfrm>
            <a:off x="5828800" y="1973938"/>
            <a:ext cx="1102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）获取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54879C0-382C-47E5-ABDD-A8E039496A68}"/>
              </a:ext>
            </a:extLst>
          </p:cNvPr>
          <p:cNvSpPr txBox="1"/>
          <p:nvPr/>
        </p:nvSpPr>
        <p:spPr>
          <a:xfrm>
            <a:off x="7164036" y="1973938"/>
            <a:ext cx="1652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及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58DB6FB-93D7-4E49-A9E3-7BB1EFD216DA}"/>
              </a:ext>
            </a:extLst>
          </p:cNvPr>
          <p:cNvSpPr txBox="1"/>
          <p:nvPr/>
        </p:nvSpPr>
        <p:spPr>
          <a:xfrm>
            <a:off x="4997126" y="2695666"/>
            <a:ext cx="21358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监听到节点变化</a:t>
            </a:r>
            <a:endParaRPr lang="zh-CN" altLang="en-US" sz="12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1EB53A6-E14D-456B-B15C-6885A37CED8D}"/>
              </a:ext>
            </a:extLst>
          </p:cNvPr>
          <p:cNvSpPr txBox="1"/>
          <p:nvPr/>
        </p:nvSpPr>
        <p:spPr>
          <a:xfrm>
            <a:off x="6736537" y="1213028"/>
            <a:ext cx="18170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Controller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将节点信息上传到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ZK</a:t>
            </a:r>
            <a:endParaRPr lang="zh-CN" altLang="en-US" sz="1200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1BEE3BF-3733-43B9-9583-47D82A5D0BD1}"/>
              </a:ext>
            </a:extLst>
          </p:cNvPr>
          <p:cNvCxnSpPr>
            <a:cxnSpLocks/>
          </p:cNvCxnSpPr>
          <p:nvPr/>
        </p:nvCxnSpPr>
        <p:spPr>
          <a:xfrm flipV="1">
            <a:off x="4667503" y="1256892"/>
            <a:ext cx="1923001" cy="1530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EDB1381-0831-4B6C-95DB-A2472A5B8625}"/>
              </a:ext>
            </a:extLst>
          </p:cNvPr>
          <p:cNvCxnSpPr>
            <a:cxnSpLocks/>
          </p:cNvCxnSpPr>
          <p:nvPr/>
        </p:nvCxnSpPr>
        <p:spPr>
          <a:xfrm flipH="1">
            <a:off x="4656237" y="1254251"/>
            <a:ext cx="2104111" cy="1702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831E8B9-96E7-4A67-95B9-DEF3970BDC1D}"/>
              </a:ext>
            </a:extLst>
          </p:cNvPr>
          <p:cNvSpPr txBox="1"/>
          <p:nvPr/>
        </p:nvSpPr>
        <p:spPr>
          <a:xfrm>
            <a:off x="7143015" y="3034651"/>
            <a:ext cx="1838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选举新的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12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中存活为前提，按照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中排在前面的优先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12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ED71A40-22E2-412C-8226-8F949B892C85}"/>
              </a:ext>
            </a:extLst>
          </p:cNvPr>
          <p:cNvSpPr txBox="1"/>
          <p:nvPr/>
        </p:nvSpPr>
        <p:spPr>
          <a:xfrm>
            <a:off x="7201991" y="4053917"/>
            <a:ext cx="1779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）其他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contorller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zk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同步相关信息</a:t>
            </a:r>
            <a:endParaRPr lang="zh-CN" altLang="en-US" sz="12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9BA53C4-E517-4CD1-ACC9-39E5A1D34E80}"/>
              </a:ext>
            </a:extLst>
          </p:cNvPr>
          <p:cNvSpPr/>
          <p:nvPr/>
        </p:nvSpPr>
        <p:spPr>
          <a:xfrm>
            <a:off x="2133211" y="2527135"/>
            <a:ext cx="1368151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C51648E1-088B-4609-A637-2F3BEEDB2E2B}"/>
              </a:ext>
            </a:extLst>
          </p:cNvPr>
          <p:cNvCxnSpPr>
            <a:cxnSpLocks/>
            <a:stCxn id="15" idx="3"/>
            <a:endCxn id="19" idx="3"/>
          </p:cNvCxnSpPr>
          <p:nvPr/>
        </p:nvCxnSpPr>
        <p:spPr>
          <a:xfrm flipH="1">
            <a:off x="4654606" y="1001093"/>
            <a:ext cx="3823426" cy="2757563"/>
          </a:xfrm>
          <a:prstGeom prst="bentConnector3">
            <a:avLst>
              <a:gd name="adj1" fmla="val -121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DD69FCDC-06FB-4B47-BAE6-CF8F34DAF82C}"/>
              </a:ext>
            </a:extLst>
          </p:cNvPr>
          <p:cNvCxnSpPr>
            <a:cxnSpLocks/>
            <a:stCxn id="15" idx="3"/>
            <a:endCxn id="20" idx="3"/>
          </p:cNvCxnSpPr>
          <p:nvPr/>
        </p:nvCxnSpPr>
        <p:spPr>
          <a:xfrm flipH="1">
            <a:off x="4648435" y="1001093"/>
            <a:ext cx="3829597" cy="3586690"/>
          </a:xfrm>
          <a:prstGeom prst="bentConnector3">
            <a:avLst>
              <a:gd name="adj1" fmla="val -153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D5D59F2E-909A-46B7-9425-AF13D3289166}"/>
              </a:ext>
            </a:extLst>
          </p:cNvPr>
          <p:cNvSpPr txBox="1"/>
          <p:nvPr/>
        </p:nvSpPr>
        <p:spPr>
          <a:xfrm>
            <a:off x="4590733" y="3351653"/>
            <a:ext cx="25733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选举规则：在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中存活为前提，按照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中排在前面的优先。例如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[1,0,2],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[1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2]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，那么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就会按照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的顺序轮询</a:t>
            </a:r>
            <a:endParaRPr lang="zh-CN" altLang="en-US" sz="12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2301C8D-17AF-4B7A-AC9F-CA1F1F9218DA}"/>
              </a:ext>
            </a:extLst>
          </p:cNvPr>
          <p:cNvSpPr txBox="1"/>
          <p:nvPr/>
        </p:nvSpPr>
        <p:spPr>
          <a:xfrm>
            <a:off x="130622" y="3443663"/>
            <a:ext cx="1713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）假设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挂了</a:t>
            </a:r>
            <a:endParaRPr lang="zh-CN" altLang="en-US" sz="1200" dirty="0"/>
          </a:p>
        </p:txBody>
      </p:sp>
      <p:sp>
        <p:nvSpPr>
          <p:cNvPr id="50" name="乘号 49">
            <a:extLst>
              <a:ext uri="{FF2B5EF4-FFF2-40B4-BE49-F238E27FC236}">
                <a16:creationId xmlns:a16="http://schemas.microsoft.com/office/drawing/2014/main" id="{B0B6DE8E-8D7A-456C-93EA-295F3F73CE6D}"/>
              </a:ext>
            </a:extLst>
          </p:cNvPr>
          <p:cNvSpPr/>
          <p:nvPr/>
        </p:nvSpPr>
        <p:spPr>
          <a:xfrm>
            <a:off x="3219832" y="3755279"/>
            <a:ext cx="323574" cy="286723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EBEC105-5B12-4F96-914A-FBD8D5E197BE}"/>
              </a:ext>
            </a:extLst>
          </p:cNvPr>
          <p:cNvCxnSpPr>
            <a:cxnSpLocks/>
            <a:stCxn id="30" idx="0"/>
            <a:endCxn id="14" idx="2"/>
          </p:cNvCxnSpPr>
          <p:nvPr/>
        </p:nvCxnSpPr>
        <p:spPr>
          <a:xfrm flipH="1" flipV="1">
            <a:off x="2626132" y="1217063"/>
            <a:ext cx="1589639" cy="1307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CF78572D-E255-494A-A1FD-5E89C34E059C}"/>
              </a:ext>
            </a:extLst>
          </p:cNvPr>
          <p:cNvSpPr txBox="1"/>
          <p:nvPr/>
        </p:nvSpPr>
        <p:spPr>
          <a:xfrm>
            <a:off x="6388602" y="960251"/>
            <a:ext cx="325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</a:t>
            </a:r>
            <a:endParaRPr lang="zh-CN" altLang="en-US" sz="12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B69CB6D-BBD1-4DDA-9E29-1BE02BF6F325}"/>
              </a:ext>
            </a:extLst>
          </p:cNvPr>
          <p:cNvSpPr txBox="1"/>
          <p:nvPr/>
        </p:nvSpPr>
        <p:spPr>
          <a:xfrm>
            <a:off x="6396433" y="977719"/>
            <a:ext cx="325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0</a:t>
            </a:r>
            <a:endParaRPr lang="zh-CN" altLang="en-US" sz="12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6388CF5-C343-49D1-BA8D-F8E74C2A0F20}"/>
              </a:ext>
            </a:extLst>
          </p:cNvPr>
          <p:cNvSpPr txBox="1"/>
          <p:nvPr/>
        </p:nvSpPr>
        <p:spPr>
          <a:xfrm>
            <a:off x="84791" y="1926916"/>
            <a:ext cx="14892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分区中的所有副本统称</a:t>
            </a:r>
            <a:endParaRPr lang="zh-CN" alt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32783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0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4" grpId="1"/>
      <p:bldP spid="25" grpId="0"/>
      <p:bldP spid="26" grpId="0"/>
      <p:bldP spid="27" grpId="0"/>
      <p:bldP spid="28" grpId="0"/>
      <p:bldP spid="28" grpId="1"/>
      <p:bldP spid="29" grpId="0"/>
      <p:bldP spid="30" grpId="0" animBg="1"/>
      <p:bldP spid="30" grpId="1" animBg="1"/>
      <p:bldP spid="31" grpId="0"/>
      <p:bldP spid="32" grpId="0"/>
      <p:bldP spid="36" grpId="0"/>
      <p:bldP spid="37" grpId="0"/>
      <p:bldP spid="38" grpId="0"/>
      <p:bldP spid="39" grpId="0"/>
      <p:bldP spid="40" grpId="0"/>
      <p:bldP spid="43" grpId="0"/>
      <p:bldP spid="44" grpId="0"/>
      <p:bldP spid="45" grpId="0" animBg="1"/>
      <p:bldP spid="48" grpId="0"/>
      <p:bldP spid="49" grpId="0"/>
      <p:bldP spid="50" grpId="0" animBg="1"/>
      <p:bldP spid="52" grpId="0"/>
      <p:bldP spid="52" grpId="1"/>
      <p:bldP spid="53" grpId="0"/>
      <p:bldP spid="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9F6D653-3996-4BB0-A91F-7744F725D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770840"/>
              </p:ext>
            </p:extLst>
          </p:nvPr>
        </p:nvGraphicFramePr>
        <p:xfrm>
          <a:off x="674362" y="2416934"/>
          <a:ext cx="30531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000509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51405607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67827445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36669533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20868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C810542-799A-44F9-BCA2-E5DE6EBE30A8}"/>
              </a:ext>
            </a:extLst>
          </p:cNvPr>
          <p:cNvCxnSpPr>
            <a:cxnSpLocks/>
          </p:cNvCxnSpPr>
          <p:nvPr/>
        </p:nvCxnSpPr>
        <p:spPr>
          <a:xfrm>
            <a:off x="2772290" y="2208344"/>
            <a:ext cx="0" cy="215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1D2A84A-A581-46AE-9751-CA177A2A9FBC}"/>
              </a:ext>
            </a:extLst>
          </p:cNvPr>
          <p:cNvSpPr txBox="1"/>
          <p:nvPr/>
        </p:nvSpPr>
        <p:spPr>
          <a:xfrm>
            <a:off x="2567582" y="1927320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HW</a:t>
            </a:r>
            <a:endParaRPr lang="zh-CN" altLang="en-US" sz="12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AA889FB-7801-415B-B82D-2CACE14460CF}"/>
              </a:ext>
            </a:extLst>
          </p:cNvPr>
          <p:cNvCxnSpPr>
            <a:cxnSpLocks/>
          </p:cNvCxnSpPr>
          <p:nvPr/>
        </p:nvCxnSpPr>
        <p:spPr>
          <a:xfrm>
            <a:off x="3903714" y="2200106"/>
            <a:ext cx="0" cy="206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E89B397-543B-404C-8E23-C3602354540D}"/>
              </a:ext>
            </a:extLst>
          </p:cNvPr>
          <p:cNvSpPr txBox="1"/>
          <p:nvPr/>
        </p:nvSpPr>
        <p:spPr>
          <a:xfrm>
            <a:off x="3656672" y="1927703"/>
            <a:ext cx="55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LEO</a:t>
            </a:r>
            <a:endParaRPr lang="zh-CN" altLang="en-US" sz="12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B703EC3-F7AA-4FEB-A298-E11FD7FCF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083912"/>
              </p:ext>
            </p:extLst>
          </p:nvPr>
        </p:nvGraphicFramePr>
        <p:xfrm>
          <a:off x="674362" y="3497054"/>
          <a:ext cx="19082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000509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514056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398F718-4E69-406D-AA67-E8CABFB25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626304"/>
              </p:ext>
            </p:extLst>
          </p:nvPr>
        </p:nvGraphicFramePr>
        <p:xfrm>
          <a:off x="655935" y="4577174"/>
          <a:ext cx="19082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000509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514056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3718E97-E372-486F-B331-D229C80A692B}"/>
              </a:ext>
            </a:extLst>
          </p:cNvPr>
          <p:cNvCxnSpPr>
            <a:cxnSpLocks/>
          </p:cNvCxnSpPr>
          <p:nvPr/>
        </p:nvCxnSpPr>
        <p:spPr>
          <a:xfrm>
            <a:off x="2747073" y="4253719"/>
            <a:ext cx="0" cy="295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A10414A-BAD4-4212-AD6B-024C8E88027E}"/>
              </a:ext>
            </a:extLst>
          </p:cNvPr>
          <p:cNvSpPr txBox="1"/>
          <p:nvPr/>
        </p:nvSpPr>
        <p:spPr>
          <a:xfrm>
            <a:off x="2587444" y="3940641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HW</a:t>
            </a:r>
            <a:endParaRPr lang="zh-CN" altLang="en-US" sz="12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A4F12F3-3A0C-4984-8985-B543DAD981FB}"/>
              </a:ext>
            </a:extLst>
          </p:cNvPr>
          <p:cNvCxnSpPr>
            <a:cxnSpLocks/>
          </p:cNvCxnSpPr>
          <p:nvPr/>
        </p:nvCxnSpPr>
        <p:spPr>
          <a:xfrm>
            <a:off x="3519044" y="4253719"/>
            <a:ext cx="0" cy="295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75F6F4E-B54E-40EC-8D64-249730F62CEE}"/>
              </a:ext>
            </a:extLst>
          </p:cNvPr>
          <p:cNvSpPr txBox="1"/>
          <p:nvPr/>
        </p:nvSpPr>
        <p:spPr>
          <a:xfrm>
            <a:off x="3323411" y="3940641"/>
            <a:ext cx="64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LEO</a:t>
            </a:r>
            <a:endParaRPr lang="zh-CN" altLang="en-US" sz="12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109E871-699D-4CD3-878B-B680F8737C90}"/>
              </a:ext>
            </a:extLst>
          </p:cNvPr>
          <p:cNvCxnSpPr>
            <a:cxnSpLocks/>
          </p:cNvCxnSpPr>
          <p:nvPr/>
        </p:nvCxnSpPr>
        <p:spPr>
          <a:xfrm>
            <a:off x="2758975" y="3246192"/>
            <a:ext cx="0" cy="244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FB23F6E-1F35-49D9-AFA5-66CD7BD59803}"/>
              </a:ext>
            </a:extLst>
          </p:cNvPr>
          <p:cNvSpPr txBox="1"/>
          <p:nvPr/>
        </p:nvSpPr>
        <p:spPr>
          <a:xfrm>
            <a:off x="2326927" y="2984472"/>
            <a:ext cx="852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LEO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20A6DD-1635-41CC-BF7F-74E54BAB7284}"/>
              </a:ext>
            </a:extLst>
          </p:cNvPr>
          <p:cNvSpPr txBox="1"/>
          <p:nvPr/>
        </p:nvSpPr>
        <p:spPr>
          <a:xfrm>
            <a:off x="649539" y="2047602"/>
            <a:ext cx="704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Leader</a:t>
            </a:r>
            <a:endParaRPr lang="zh-CN" altLang="en-US" sz="1200" b="1" dirty="0">
              <a:solidFill>
                <a:srgbClr val="C0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94BDB9-0854-42E1-AF56-DABD67886DF5}"/>
              </a:ext>
            </a:extLst>
          </p:cNvPr>
          <p:cNvSpPr txBox="1"/>
          <p:nvPr/>
        </p:nvSpPr>
        <p:spPr>
          <a:xfrm>
            <a:off x="632976" y="3182279"/>
            <a:ext cx="85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5"/>
                </a:solidFill>
              </a:rPr>
              <a:t>Follower</a:t>
            </a:r>
            <a:endParaRPr lang="zh-CN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688D77-D79E-40C9-AF28-4C7699234DED}"/>
              </a:ext>
            </a:extLst>
          </p:cNvPr>
          <p:cNvSpPr txBox="1"/>
          <p:nvPr/>
        </p:nvSpPr>
        <p:spPr>
          <a:xfrm>
            <a:off x="640173" y="4285030"/>
            <a:ext cx="845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5"/>
                </a:solidFill>
              </a:rPr>
              <a:t>Follower</a:t>
            </a:r>
            <a:endParaRPr lang="zh-CN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C68411-B9CB-4126-910F-1AF15DFE05A4}"/>
              </a:ext>
            </a:extLst>
          </p:cNvPr>
          <p:cNvSpPr txBox="1"/>
          <p:nvPr/>
        </p:nvSpPr>
        <p:spPr>
          <a:xfrm>
            <a:off x="539552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Follower</a:t>
            </a:r>
            <a:r>
              <a:rPr lang="zh-CN" altLang="en-US" dirty="0">
                <a:solidFill>
                  <a:srgbClr val="FF0000"/>
                </a:solidFill>
              </a:rPr>
              <a:t>故障处理细节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4C91B8-7AC4-422C-8847-2ECAEEE60AD3}"/>
              </a:ext>
            </a:extLst>
          </p:cNvPr>
          <p:cNvSpPr txBox="1"/>
          <p:nvPr/>
        </p:nvSpPr>
        <p:spPr>
          <a:xfrm>
            <a:off x="0" y="494551"/>
            <a:ext cx="6228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LEO</a:t>
            </a:r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Log End Offset</a:t>
            </a:r>
            <a:r>
              <a:rPr lang="zh-CN" altLang="en-US" sz="1200" b="1" dirty="0">
                <a:solidFill>
                  <a:srgbClr val="FF0000"/>
                </a:solidFill>
              </a:rPr>
              <a:t>）：</a:t>
            </a:r>
            <a:r>
              <a:rPr lang="zh-CN" altLang="en-US" sz="1200" b="1" dirty="0"/>
              <a:t>每个副本的最后一个</a:t>
            </a:r>
            <a:r>
              <a:rPr lang="en-US" altLang="zh-CN" sz="1200" b="1" dirty="0"/>
              <a:t>offset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LEO</a:t>
            </a:r>
            <a:r>
              <a:rPr lang="zh-CN" altLang="en-US" sz="1200" b="1" dirty="0"/>
              <a:t>其实就是最新的</a:t>
            </a:r>
            <a:r>
              <a:rPr lang="en-US" altLang="zh-CN" sz="1200" b="1" dirty="0"/>
              <a:t>offset + 1</a:t>
            </a:r>
            <a:r>
              <a:rPr lang="zh-CN" altLang="en-US" sz="1200" b="1" dirty="0"/>
              <a:t>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F694DF-C1B6-4755-9FC0-C072C0D1D5E5}"/>
              </a:ext>
            </a:extLst>
          </p:cNvPr>
          <p:cNvSpPr txBox="1"/>
          <p:nvPr/>
        </p:nvSpPr>
        <p:spPr>
          <a:xfrm>
            <a:off x="-1" y="795216"/>
            <a:ext cx="3779913" cy="33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HW</a:t>
            </a:r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High Watermark</a:t>
            </a:r>
            <a:r>
              <a:rPr lang="zh-CN" altLang="en-US" sz="1200" b="1" dirty="0">
                <a:solidFill>
                  <a:srgbClr val="FF0000"/>
                </a:solidFill>
              </a:rPr>
              <a:t>）：</a:t>
            </a:r>
            <a:r>
              <a:rPr lang="zh-CN" altLang="en-US" sz="1200" b="1" dirty="0"/>
              <a:t>所有副本中最小的</a:t>
            </a:r>
            <a:r>
              <a:rPr lang="en-US" altLang="zh-CN" sz="1200" b="1" dirty="0"/>
              <a:t>LEO </a:t>
            </a:r>
            <a:r>
              <a:rPr lang="zh-CN" altLang="en-US" sz="1200" b="1" dirty="0"/>
              <a:t>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943262-BCB3-4F59-AAA4-9EBD3651FBA4}"/>
              </a:ext>
            </a:extLst>
          </p:cNvPr>
          <p:cNvSpPr txBox="1"/>
          <p:nvPr/>
        </p:nvSpPr>
        <p:spPr>
          <a:xfrm>
            <a:off x="4932042" y="1490056"/>
            <a:ext cx="13841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故障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AD5AA9-6D26-4BE2-902F-4729748C47B7}"/>
              </a:ext>
            </a:extLst>
          </p:cNvPr>
          <p:cNvSpPr txBox="1"/>
          <p:nvPr/>
        </p:nvSpPr>
        <p:spPr>
          <a:xfrm>
            <a:off x="4932042" y="1741732"/>
            <a:ext cx="3537794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Follower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发生故障后会被临时踢出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9E6423-ABFB-4C14-B0A4-5477957BA975}"/>
              </a:ext>
            </a:extLst>
          </p:cNvPr>
          <p:cNvSpPr txBox="1"/>
          <p:nvPr/>
        </p:nvSpPr>
        <p:spPr>
          <a:xfrm>
            <a:off x="-25483" y="2446900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350164-C527-4B9B-B2F6-98E3461D0D40}"/>
              </a:ext>
            </a:extLst>
          </p:cNvPr>
          <p:cNvSpPr txBox="1"/>
          <p:nvPr/>
        </p:nvSpPr>
        <p:spPr>
          <a:xfrm>
            <a:off x="-51514" y="3540288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A832923-A609-457A-AEA8-F02F8BE04FDA}"/>
              </a:ext>
            </a:extLst>
          </p:cNvPr>
          <p:cNvSpPr txBox="1"/>
          <p:nvPr/>
        </p:nvSpPr>
        <p:spPr>
          <a:xfrm>
            <a:off x="-52884" y="4623065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2F55B1-2CF3-44F4-9D6D-F93DA0B0E5C3}"/>
              </a:ext>
            </a:extLst>
          </p:cNvPr>
          <p:cNvSpPr/>
          <p:nvPr/>
        </p:nvSpPr>
        <p:spPr>
          <a:xfrm>
            <a:off x="674362" y="1476245"/>
            <a:ext cx="3053136" cy="3347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ISR      [                        ]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740D3E-01EF-42CC-8D5A-E319876A850F}"/>
              </a:ext>
            </a:extLst>
          </p:cNvPr>
          <p:cNvSpPr txBox="1"/>
          <p:nvPr/>
        </p:nvSpPr>
        <p:spPr>
          <a:xfrm>
            <a:off x="2082472" y="151835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622D685-518A-47E7-B3DB-78FFC83C9425}"/>
              </a:ext>
            </a:extLst>
          </p:cNvPr>
          <p:cNvSpPr txBox="1"/>
          <p:nvPr/>
        </p:nvSpPr>
        <p:spPr>
          <a:xfrm>
            <a:off x="2465758" y="151745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8AF658B-94E1-44A4-B0CB-D20A30D3C916}"/>
              </a:ext>
            </a:extLst>
          </p:cNvPr>
          <p:cNvSpPr txBox="1"/>
          <p:nvPr/>
        </p:nvSpPr>
        <p:spPr>
          <a:xfrm>
            <a:off x="2849044" y="151745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2</a:t>
            </a:r>
            <a:endParaRPr lang="zh-CN" altLang="en-US" sz="1400" dirty="0"/>
          </a:p>
        </p:txBody>
      </p:sp>
      <p:sp>
        <p:nvSpPr>
          <p:cNvPr id="30" name="乘号 29">
            <a:extLst>
              <a:ext uri="{FF2B5EF4-FFF2-40B4-BE49-F238E27FC236}">
                <a16:creationId xmlns:a16="http://schemas.microsoft.com/office/drawing/2014/main" id="{2C102B29-E0E7-459D-822A-1F06B6107349}"/>
              </a:ext>
            </a:extLst>
          </p:cNvPr>
          <p:cNvSpPr/>
          <p:nvPr/>
        </p:nvSpPr>
        <p:spPr>
          <a:xfrm>
            <a:off x="1269791" y="4254013"/>
            <a:ext cx="432907" cy="37084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0000"/>
              </a:highlight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7BCC55E-9694-4D55-B028-C971D1FE4A20}"/>
              </a:ext>
            </a:extLst>
          </p:cNvPr>
          <p:cNvSpPr txBox="1"/>
          <p:nvPr/>
        </p:nvSpPr>
        <p:spPr>
          <a:xfrm>
            <a:off x="4930817" y="2383430"/>
            <a:ext cx="4211960" cy="88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待该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恢复后，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会读取本地磁盘记录的上次的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，并将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文件高于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的部分截取掉，从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开始向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进行同步。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E9EA937-220B-43C8-B540-08898CBB0578}"/>
              </a:ext>
            </a:extLst>
          </p:cNvPr>
          <p:cNvSpPr txBox="1"/>
          <p:nvPr/>
        </p:nvSpPr>
        <p:spPr>
          <a:xfrm>
            <a:off x="4932040" y="3262644"/>
            <a:ext cx="4211960" cy="61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等该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LEO</a:t>
            </a:r>
            <a:r>
              <a:rPr lang="zh-CN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大于等于该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Partition</a:t>
            </a:r>
            <a:r>
              <a:rPr lang="zh-CN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追上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之后，就可以重新加入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了。</a:t>
            </a:r>
            <a:endParaRPr lang="zh-CN" altLang="en-US" sz="1200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0F70C61E-5E69-40D5-98F4-97FC05105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093399"/>
              </p:ext>
            </p:extLst>
          </p:nvPr>
        </p:nvGraphicFramePr>
        <p:xfrm>
          <a:off x="2564145" y="3497054"/>
          <a:ext cx="11449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CB507851-B368-41BC-9463-4CBACE1F9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578423"/>
              </p:ext>
            </p:extLst>
          </p:nvPr>
        </p:nvGraphicFramePr>
        <p:xfrm>
          <a:off x="3733440" y="2416934"/>
          <a:ext cx="7632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E0A4364B-2A96-4393-90DD-10E4FE22CB4A}"/>
              </a:ext>
            </a:extLst>
          </p:cNvPr>
          <p:cNvSpPr txBox="1"/>
          <p:nvPr/>
        </p:nvSpPr>
        <p:spPr>
          <a:xfrm>
            <a:off x="2705780" y="2969193"/>
            <a:ext cx="518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(HW)</a:t>
            </a:r>
            <a:endParaRPr lang="zh-CN" alt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E58FE7B-D156-4AE1-A98F-4E15F504E807}"/>
              </a:ext>
            </a:extLst>
          </p:cNvPr>
          <p:cNvSpPr txBox="1"/>
          <p:nvPr/>
        </p:nvSpPr>
        <p:spPr>
          <a:xfrm>
            <a:off x="2849044" y="1510219"/>
            <a:ext cx="34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</a:t>
            </a:r>
            <a:endParaRPr lang="zh-CN" altLang="en-US" sz="1400" dirty="0"/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BCAEF28D-3523-433D-8648-00717EDC1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250448"/>
              </p:ext>
            </p:extLst>
          </p:nvPr>
        </p:nvGraphicFramePr>
        <p:xfrm>
          <a:off x="2554259" y="4577174"/>
          <a:ext cx="7632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267827445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366695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4267523F-8515-438C-94EA-1E1889D2B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386211"/>
              </p:ext>
            </p:extLst>
          </p:nvPr>
        </p:nvGraphicFramePr>
        <p:xfrm>
          <a:off x="2560633" y="4571429"/>
          <a:ext cx="11449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000509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514056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CAEF7BC0-65E2-4D68-A8FA-DAB42F510899}"/>
              </a:ext>
            </a:extLst>
          </p:cNvPr>
          <p:cNvSpPr txBox="1"/>
          <p:nvPr/>
        </p:nvSpPr>
        <p:spPr>
          <a:xfrm>
            <a:off x="4932042" y="2062599"/>
            <a:ext cx="3537794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这个期间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继续接收数据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34440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93827E-7 L 0.08125 -0.00124 " pathEditMode="relative" rAng="0" ptsTypes="AA">
                                      <p:cBhvr>
                                        <p:cTn id="18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62" y="-62"/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20988E-6 L 0.07795 -3.20988E-6 " pathEditMode="relative" rAng="0" ptsTypes="AA">
                                      <p:cBhvr>
                                        <p:cTn id="18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9" y="0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20988E-6 L 0.1316 0.00062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0" y="31"/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35802E-6 L 0.13351 -0.00216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7" y="-123"/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0.00895 L 0.12951 -0.00124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76" y="370"/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34568E-6 L 0.14601 0.00679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340"/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23457E-6 L 0.10382 0.0037 " pathEditMode="relative" rAng="0" ptsTypes="AA">
                                      <p:cBhvr>
                                        <p:cTn id="19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91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23457E-6 L 0.07084 0.00278 " pathEditMode="relative" rAng="0" ptsTypes="AA">
                                      <p:cBhvr>
                                        <p:cTn id="2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123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19753E-6 L 0.04409 0.00649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5" y="309"/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23457E-6 L 0.08351 -0.00123 " pathEditMode="relative" rAng="0" ptsTypes="AA">
                                      <p:cBhvr>
                                        <p:cTn id="2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-62"/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10" grpId="0"/>
      <p:bldP spid="10" grpId="1"/>
      <p:bldP spid="12" grpId="0"/>
      <p:bldP spid="12" grpId="1"/>
      <p:bldP spid="14" grpId="0"/>
      <p:bldP spid="14" grpId="1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29" grpId="1"/>
      <p:bldP spid="30" grpId="0" animBg="1"/>
      <p:bldP spid="30" grpId="1" animBg="1"/>
      <p:bldP spid="31" grpId="0"/>
      <p:bldP spid="32" grpId="0"/>
      <p:bldP spid="35" grpId="0"/>
      <p:bldP spid="35" grpId="1"/>
      <p:bldP spid="36" grpId="0"/>
      <p:bldP spid="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9C8283F-CE5A-446A-97A6-4A619F9C1080}"/>
              </a:ext>
            </a:extLst>
          </p:cNvPr>
          <p:cNvGraphicFramePr>
            <a:graphicFrameLocks noGrp="1"/>
          </p:cNvGraphicFramePr>
          <p:nvPr/>
        </p:nvGraphicFramePr>
        <p:xfrm>
          <a:off x="674362" y="2416934"/>
          <a:ext cx="30531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000509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51405607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67827445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36669533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208689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AA65B78-4149-4D67-92CD-4B31264885AD}"/>
              </a:ext>
            </a:extLst>
          </p:cNvPr>
          <p:cNvCxnSpPr>
            <a:cxnSpLocks/>
          </p:cNvCxnSpPr>
          <p:nvPr/>
        </p:nvCxnSpPr>
        <p:spPr>
          <a:xfrm>
            <a:off x="2800562" y="2198392"/>
            <a:ext cx="0" cy="215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25A4D7B-461E-425C-9DB9-318178EC873B}"/>
              </a:ext>
            </a:extLst>
          </p:cNvPr>
          <p:cNvSpPr txBox="1"/>
          <p:nvPr/>
        </p:nvSpPr>
        <p:spPr>
          <a:xfrm>
            <a:off x="2595854" y="1917368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HW</a:t>
            </a:r>
            <a:endParaRPr lang="zh-CN" altLang="en-US" sz="12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BB9DBF8-21CE-43C2-BA27-98E483398425}"/>
              </a:ext>
            </a:extLst>
          </p:cNvPr>
          <p:cNvCxnSpPr>
            <a:cxnSpLocks/>
          </p:cNvCxnSpPr>
          <p:nvPr/>
        </p:nvCxnSpPr>
        <p:spPr>
          <a:xfrm>
            <a:off x="3960006" y="2195315"/>
            <a:ext cx="0" cy="206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BB8E826-1B1F-4239-9B00-6C92DE447920}"/>
              </a:ext>
            </a:extLst>
          </p:cNvPr>
          <p:cNvSpPr txBox="1"/>
          <p:nvPr/>
        </p:nvSpPr>
        <p:spPr>
          <a:xfrm>
            <a:off x="3712964" y="1922912"/>
            <a:ext cx="55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LEO</a:t>
            </a:r>
            <a:endParaRPr lang="zh-CN" altLang="en-US" sz="12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0744EE6-796A-4FCD-8978-E223442ECAE5}"/>
              </a:ext>
            </a:extLst>
          </p:cNvPr>
          <p:cNvGraphicFramePr>
            <a:graphicFrameLocks noGrp="1"/>
          </p:cNvGraphicFramePr>
          <p:nvPr/>
        </p:nvGraphicFramePr>
        <p:xfrm>
          <a:off x="674362" y="3497054"/>
          <a:ext cx="19082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000509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514056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78FD516-5CCD-4EF1-A40A-36A1F2D00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718494"/>
              </p:ext>
            </p:extLst>
          </p:nvPr>
        </p:nvGraphicFramePr>
        <p:xfrm>
          <a:off x="655935" y="4577174"/>
          <a:ext cx="19082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000509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514056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743D579-11F6-446B-A95A-F31C8CE9259B}"/>
              </a:ext>
            </a:extLst>
          </p:cNvPr>
          <p:cNvCxnSpPr>
            <a:cxnSpLocks/>
          </p:cNvCxnSpPr>
          <p:nvPr/>
        </p:nvCxnSpPr>
        <p:spPr>
          <a:xfrm>
            <a:off x="2740340" y="4260976"/>
            <a:ext cx="0" cy="295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0EB9D6A-6800-48B1-9B90-F29B58C26662}"/>
              </a:ext>
            </a:extLst>
          </p:cNvPr>
          <p:cNvSpPr txBox="1"/>
          <p:nvPr/>
        </p:nvSpPr>
        <p:spPr>
          <a:xfrm>
            <a:off x="2580711" y="3947898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HW</a:t>
            </a:r>
            <a:endParaRPr lang="zh-CN" altLang="en-US" sz="12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240CB6B-4FF4-4FBC-B5FB-10E067E3D121}"/>
              </a:ext>
            </a:extLst>
          </p:cNvPr>
          <p:cNvCxnSpPr>
            <a:cxnSpLocks/>
          </p:cNvCxnSpPr>
          <p:nvPr/>
        </p:nvCxnSpPr>
        <p:spPr>
          <a:xfrm>
            <a:off x="3554324" y="4266254"/>
            <a:ext cx="0" cy="295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C834A0A-E3D9-433B-9AED-36D97B1468F9}"/>
              </a:ext>
            </a:extLst>
          </p:cNvPr>
          <p:cNvSpPr txBox="1"/>
          <p:nvPr/>
        </p:nvSpPr>
        <p:spPr>
          <a:xfrm>
            <a:off x="3358691" y="3953176"/>
            <a:ext cx="64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LEO</a:t>
            </a:r>
            <a:endParaRPr lang="zh-CN" altLang="en-US" sz="12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E22F91F-4022-4C8C-9E35-2B8BC4437D84}"/>
              </a:ext>
            </a:extLst>
          </p:cNvPr>
          <p:cNvCxnSpPr>
            <a:cxnSpLocks/>
          </p:cNvCxnSpPr>
          <p:nvPr/>
        </p:nvCxnSpPr>
        <p:spPr>
          <a:xfrm>
            <a:off x="2777752" y="3238290"/>
            <a:ext cx="0" cy="244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8F6911B-112C-4B2D-BF8B-5C9E131A3A04}"/>
              </a:ext>
            </a:extLst>
          </p:cNvPr>
          <p:cNvSpPr txBox="1"/>
          <p:nvPr/>
        </p:nvSpPr>
        <p:spPr>
          <a:xfrm>
            <a:off x="2339027" y="2961291"/>
            <a:ext cx="852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LEO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EF0B6B-92C9-4036-9D7B-7B2A4B3F3F93}"/>
              </a:ext>
            </a:extLst>
          </p:cNvPr>
          <p:cNvSpPr txBox="1"/>
          <p:nvPr/>
        </p:nvSpPr>
        <p:spPr>
          <a:xfrm>
            <a:off x="649539" y="2047602"/>
            <a:ext cx="704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Leader</a:t>
            </a:r>
            <a:endParaRPr lang="zh-CN" altLang="en-US" sz="1200" b="1" dirty="0">
              <a:solidFill>
                <a:srgbClr val="C0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60D08F-53B2-4D5F-A33A-828B31DA872B}"/>
              </a:ext>
            </a:extLst>
          </p:cNvPr>
          <p:cNvSpPr txBox="1"/>
          <p:nvPr/>
        </p:nvSpPr>
        <p:spPr>
          <a:xfrm>
            <a:off x="632976" y="3182279"/>
            <a:ext cx="85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5"/>
                </a:solidFill>
              </a:rPr>
              <a:t>Follower</a:t>
            </a:r>
            <a:endParaRPr lang="zh-CN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5B89D9-75A0-4DA4-BFFB-BDB6C01D6604}"/>
              </a:ext>
            </a:extLst>
          </p:cNvPr>
          <p:cNvSpPr txBox="1"/>
          <p:nvPr/>
        </p:nvSpPr>
        <p:spPr>
          <a:xfrm>
            <a:off x="640173" y="4285030"/>
            <a:ext cx="845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5"/>
                </a:solidFill>
              </a:rPr>
              <a:t>Follower</a:t>
            </a:r>
            <a:endParaRPr lang="zh-CN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7D94AB4-9DD6-47F2-8EB7-8A5F4C8C3DF0}"/>
              </a:ext>
            </a:extLst>
          </p:cNvPr>
          <p:cNvSpPr txBox="1"/>
          <p:nvPr/>
        </p:nvSpPr>
        <p:spPr>
          <a:xfrm>
            <a:off x="0" y="456621"/>
            <a:ext cx="6084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LEO</a:t>
            </a:r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Log End Offset</a:t>
            </a:r>
            <a:r>
              <a:rPr lang="zh-CN" altLang="en-US" sz="1200" b="1" dirty="0">
                <a:solidFill>
                  <a:srgbClr val="FF0000"/>
                </a:solidFill>
              </a:rPr>
              <a:t>）：</a:t>
            </a:r>
            <a:r>
              <a:rPr lang="zh-CN" altLang="en-US" sz="1200" b="1" dirty="0"/>
              <a:t>每个副本的最后一个</a:t>
            </a:r>
            <a:r>
              <a:rPr lang="en-US" altLang="zh-CN" sz="1200" b="1" dirty="0"/>
              <a:t>offset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LEO</a:t>
            </a:r>
            <a:r>
              <a:rPr lang="zh-CN" altLang="en-US" sz="1200" b="1" dirty="0"/>
              <a:t>其实就是最新的</a:t>
            </a:r>
            <a:r>
              <a:rPr lang="en-US" altLang="zh-CN" sz="1200" b="1" dirty="0"/>
              <a:t>offset + 1</a:t>
            </a:r>
            <a:endParaRPr lang="zh-CN" altLang="en-US" sz="1200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EC9160-5DC4-4572-A5FB-178CEFB2A518}"/>
              </a:ext>
            </a:extLst>
          </p:cNvPr>
          <p:cNvSpPr txBox="1"/>
          <p:nvPr/>
        </p:nvSpPr>
        <p:spPr>
          <a:xfrm>
            <a:off x="-1" y="682385"/>
            <a:ext cx="6316167" cy="33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</a:rPr>
              <a:t>HW</a:t>
            </a:r>
            <a:r>
              <a:rPr lang="zh-CN" altLang="en-US" sz="1200" b="1" dirty="0">
                <a:solidFill>
                  <a:srgbClr val="FF0000"/>
                </a:solidFill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</a:rPr>
              <a:t>High Watermark</a:t>
            </a:r>
            <a:r>
              <a:rPr lang="zh-CN" altLang="en-US" sz="1200" b="1" dirty="0">
                <a:solidFill>
                  <a:srgbClr val="FF0000"/>
                </a:solidFill>
              </a:rPr>
              <a:t>）：</a:t>
            </a:r>
            <a:r>
              <a:rPr lang="zh-CN" altLang="en-US" sz="1200" b="1" dirty="0"/>
              <a:t>所有副本中最小的</a:t>
            </a:r>
            <a:r>
              <a:rPr lang="en-US" altLang="zh-CN" sz="1200" b="1" dirty="0"/>
              <a:t>LEO</a:t>
            </a:r>
            <a:endParaRPr lang="zh-CN" altLang="en-US" sz="1200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7F45BB-DDD3-47C4-A9E9-0CF6C0D063D4}"/>
              </a:ext>
            </a:extLst>
          </p:cNvPr>
          <p:cNvSpPr txBox="1"/>
          <p:nvPr/>
        </p:nvSpPr>
        <p:spPr>
          <a:xfrm>
            <a:off x="4881862" y="1490056"/>
            <a:ext cx="14343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故障</a:t>
            </a:r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57768D-BB08-4EE9-B6A0-356C6815BDE1}"/>
              </a:ext>
            </a:extLst>
          </p:cNvPr>
          <p:cNvSpPr txBox="1"/>
          <p:nvPr/>
        </p:nvSpPr>
        <p:spPr>
          <a:xfrm>
            <a:off x="4779343" y="1741732"/>
            <a:ext cx="4364657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发生故障之后，会从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ISR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中选出一个新的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C55FCA-F763-4168-8EA2-40CADF4F59BF}"/>
              </a:ext>
            </a:extLst>
          </p:cNvPr>
          <p:cNvSpPr txBox="1"/>
          <p:nvPr/>
        </p:nvSpPr>
        <p:spPr>
          <a:xfrm>
            <a:off x="-25483" y="2446900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05F30B-3D61-4EBF-90CE-DF6486190C66}"/>
              </a:ext>
            </a:extLst>
          </p:cNvPr>
          <p:cNvSpPr txBox="1"/>
          <p:nvPr/>
        </p:nvSpPr>
        <p:spPr>
          <a:xfrm>
            <a:off x="-51514" y="3540288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D616E84-39F4-4329-AECD-367FC63013E6}"/>
              </a:ext>
            </a:extLst>
          </p:cNvPr>
          <p:cNvSpPr txBox="1"/>
          <p:nvPr/>
        </p:nvSpPr>
        <p:spPr>
          <a:xfrm>
            <a:off x="-52884" y="4623065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C9E8797-FCB9-4C36-9D77-1443EC6A8A37}"/>
              </a:ext>
            </a:extLst>
          </p:cNvPr>
          <p:cNvSpPr/>
          <p:nvPr/>
        </p:nvSpPr>
        <p:spPr>
          <a:xfrm>
            <a:off x="674362" y="1476245"/>
            <a:ext cx="3053136" cy="3347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ISR      [                        ]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054F356-1120-41F4-B1EF-88F9DC857D95}"/>
              </a:ext>
            </a:extLst>
          </p:cNvPr>
          <p:cNvSpPr txBox="1"/>
          <p:nvPr/>
        </p:nvSpPr>
        <p:spPr>
          <a:xfrm>
            <a:off x="2082472" y="151835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D69951-0F09-4971-B6D1-AD046E11B670}"/>
              </a:ext>
            </a:extLst>
          </p:cNvPr>
          <p:cNvSpPr txBox="1"/>
          <p:nvPr/>
        </p:nvSpPr>
        <p:spPr>
          <a:xfrm>
            <a:off x="2465758" y="151745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EDEF651-04B4-4776-A59F-34921D298219}"/>
              </a:ext>
            </a:extLst>
          </p:cNvPr>
          <p:cNvSpPr txBox="1"/>
          <p:nvPr/>
        </p:nvSpPr>
        <p:spPr>
          <a:xfrm>
            <a:off x="2849044" y="151745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2</a:t>
            </a:r>
            <a:endParaRPr lang="zh-CN" altLang="en-US" sz="1400" dirty="0"/>
          </a:p>
        </p:txBody>
      </p:sp>
      <p:sp>
        <p:nvSpPr>
          <p:cNvPr id="29" name="乘号 28">
            <a:extLst>
              <a:ext uri="{FF2B5EF4-FFF2-40B4-BE49-F238E27FC236}">
                <a16:creationId xmlns:a16="http://schemas.microsoft.com/office/drawing/2014/main" id="{B2F4186D-43FD-4766-B3CA-98A71BC41B24}"/>
              </a:ext>
            </a:extLst>
          </p:cNvPr>
          <p:cNvSpPr/>
          <p:nvPr/>
        </p:nvSpPr>
        <p:spPr>
          <a:xfrm>
            <a:off x="1233113" y="2010220"/>
            <a:ext cx="432907" cy="37084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0000"/>
              </a:highlight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7913FB8-9FEA-4886-9349-0E90E1AEF4D5}"/>
              </a:ext>
            </a:extLst>
          </p:cNvPr>
          <p:cNvSpPr txBox="1"/>
          <p:nvPr/>
        </p:nvSpPr>
        <p:spPr>
          <a:xfrm>
            <a:off x="4779341" y="2099458"/>
            <a:ext cx="4364659" cy="88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）为保证多个副本之间的数据一致性，其余的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会先将各自的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文件高于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HW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的部分截掉，然后从新的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同步数据。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EC7FD22-975D-4AFE-9AB4-98176DF4AFEB}"/>
              </a:ext>
            </a:extLst>
          </p:cNvPr>
          <p:cNvSpPr txBox="1"/>
          <p:nvPr/>
        </p:nvSpPr>
        <p:spPr>
          <a:xfrm>
            <a:off x="4779343" y="3256636"/>
            <a:ext cx="4364659" cy="69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注意：这只能保证副本之间的数据一致性，并不能保证数据不丢失或者不重复。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D235194-A794-40F8-95CD-8EDDCA6E032A}"/>
              </a:ext>
            </a:extLst>
          </p:cNvPr>
          <p:cNvSpPr txBox="1"/>
          <p:nvPr/>
        </p:nvSpPr>
        <p:spPr>
          <a:xfrm>
            <a:off x="2717880" y="2946012"/>
            <a:ext cx="518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(HW)</a:t>
            </a:r>
            <a:endParaRPr lang="zh-CN" altLang="en-US" sz="12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8078D4D-13FB-44B6-A50B-6AA43A87EBE6}"/>
              </a:ext>
            </a:extLst>
          </p:cNvPr>
          <p:cNvSpPr txBox="1"/>
          <p:nvPr/>
        </p:nvSpPr>
        <p:spPr>
          <a:xfrm>
            <a:off x="648760" y="3167134"/>
            <a:ext cx="704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Leader</a:t>
            </a:r>
            <a:endParaRPr lang="zh-CN" altLang="en-US" sz="1200" b="1" dirty="0">
              <a:solidFill>
                <a:srgbClr val="C00000"/>
              </a:solidFill>
            </a:endParaRPr>
          </a:p>
        </p:txBody>
      </p: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D6B8FCB5-93B7-420B-933C-AC33B542E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047826"/>
              </p:ext>
            </p:extLst>
          </p:nvPr>
        </p:nvGraphicFramePr>
        <p:xfrm>
          <a:off x="681778" y="3494115"/>
          <a:ext cx="19082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2574587287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000509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3514056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A3D68A60-41BE-49EE-851D-CFAD103C7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963992"/>
              </p:ext>
            </p:extLst>
          </p:nvPr>
        </p:nvGraphicFramePr>
        <p:xfrm>
          <a:off x="2540362" y="4576144"/>
          <a:ext cx="7632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">
                  <a:extLst>
                    <a:ext uri="{9D8B030D-6E8A-4147-A177-3AD203B41FA5}">
                      <a16:colId xmlns:a16="http://schemas.microsoft.com/office/drawing/2014/main" val="4213955628"/>
                    </a:ext>
                  </a:extLst>
                </a:gridCol>
                <a:gridCol w="381642">
                  <a:extLst>
                    <a:ext uri="{9D8B030D-6E8A-4147-A177-3AD203B41FA5}">
                      <a16:colId xmlns:a16="http://schemas.microsoft.com/office/drawing/2014/main" val="115148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45436"/>
                  </a:ext>
                </a:extLst>
              </a:tr>
            </a:tbl>
          </a:graphicData>
        </a:graphic>
      </p:graphicFrame>
      <p:sp>
        <p:nvSpPr>
          <p:cNvPr id="36" name="文本框 35">
            <a:extLst>
              <a:ext uri="{FF2B5EF4-FFF2-40B4-BE49-F238E27FC236}">
                <a16:creationId xmlns:a16="http://schemas.microsoft.com/office/drawing/2014/main" id="{4FAA9A9D-9C80-41D9-A10C-11FBB72398B1}"/>
              </a:ext>
            </a:extLst>
          </p:cNvPr>
          <p:cNvSpPr txBox="1"/>
          <p:nvPr/>
        </p:nvSpPr>
        <p:spPr>
          <a:xfrm>
            <a:off x="539552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Leader</a:t>
            </a:r>
            <a:r>
              <a:rPr lang="zh-CN" altLang="en-US" dirty="0">
                <a:solidFill>
                  <a:srgbClr val="FF0000"/>
                </a:solidFill>
              </a:rPr>
              <a:t>故障处理细节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0034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44444E-6 L -0.03542 0.00247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2" grpId="0"/>
      <p:bldP spid="12" grpId="1"/>
      <p:bldP spid="14" grpId="0"/>
      <p:bldP spid="15" grpId="0"/>
      <p:bldP spid="16" grpId="0"/>
      <p:bldP spid="16" grpId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  <p:bldP spid="26" grpId="1"/>
      <p:bldP spid="27" grpId="0"/>
      <p:bldP spid="28" grpId="0"/>
      <p:bldP spid="29" grpId="0" animBg="1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1848A09-316B-4E97-893E-6152F34718B0}"/>
              </a:ext>
            </a:extLst>
          </p:cNvPr>
          <p:cNvSpPr txBox="1"/>
          <p:nvPr/>
        </p:nvSpPr>
        <p:spPr>
          <a:xfrm>
            <a:off x="539552" y="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分区副本分配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22EDE-0F1B-404B-AD80-0D5ED869375C}"/>
              </a:ext>
            </a:extLst>
          </p:cNvPr>
          <p:cNvSpPr/>
          <p:nvPr/>
        </p:nvSpPr>
        <p:spPr>
          <a:xfrm>
            <a:off x="485071" y="483518"/>
            <a:ext cx="1254440" cy="46599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E39145-7B82-4D68-B956-04DBB3090618}"/>
              </a:ext>
            </a:extLst>
          </p:cNvPr>
          <p:cNvSpPr/>
          <p:nvPr/>
        </p:nvSpPr>
        <p:spPr>
          <a:xfrm>
            <a:off x="2658088" y="491217"/>
            <a:ext cx="1254440" cy="46599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6EF985-6854-4B51-9CCF-4B5B236C3E93}"/>
              </a:ext>
            </a:extLst>
          </p:cNvPr>
          <p:cNvSpPr/>
          <p:nvPr/>
        </p:nvSpPr>
        <p:spPr>
          <a:xfrm>
            <a:off x="4788024" y="491218"/>
            <a:ext cx="1254440" cy="46599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D57843-1E42-4DEC-AC79-A2AE3E987BD5}"/>
              </a:ext>
            </a:extLst>
          </p:cNvPr>
          <p:cNvSpPr/>
          <p:nvPr/>
        </p:nvSpPr>
        <p:spPr>
          <a:xfrm>
            <a:off x="6917960" y="491217"/>
            <a:ext cx="1254440" cy="46599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broker3</a:t>
            </a:r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9D098E-41E1-49A0-9592-10131CB377AB}"/>
              </a:ext>
            </a:extLst>
          </p:cNvPr>
          <p:cNvSpPr/>
          <p:nvPr/>
        </p:nvSpPr>
        <p:spPr>
          <a:xfrm>
            <a:off x="543492" y="750852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AC531E-6B62-409B-BA20-DAB03FF8FDEA}"/>
              </a:ext>
            </a:extLst>
          </p:cNvPr>
          <p:cNvSpPr/>
          <p:nvPr/>
        </p:nvSpPr>
        <p:spPr>
          <a:xfrm>
            <a:off x="4857274" y="758872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</a:t>
            </a:r>
            <a:endParaRPr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F08F14-BB3D-4C41-972C-E6F7B3AEBF05}"/>
              </a:ext>
            </a:extLst>
          </p:cNvPr>
          <p:cNvSpPr/>
          <p:nvPr/>
        </p:nvSpPr>
        <p:spPr>
          <a:xfrm>
            <a:off x="2696344" y="758872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</a:t>
            </a:r>
            <a:endParaRPr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1EB465-E362-4CFD-A05A-48991CA6EA80}"/>
              </a:ext>
            </a:extLst>
          </p:cNvPr>
          <p:cNvSpPr/>
          <p:nvPr/>
        </p:nvSpPr>
        <p:spPr>
          <a:xfrm>
            <a:off x="2696344" y="1105135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F46B11-64D0-40AD-B3BA-8846D37EC592}"/>
              </a:ext>
            </a:extLst>
          </p:cNvPr>
          <p:cNvSpPr/>
          <p:nvPr/>
        </p:nvSpPr>
        <p:spPr>
          <a:xfrm>
            <a:off x="6985708" y="1102289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3B2519-D47F-4DC5-968F-AB56AE620707}"/>
              </a:ext>
            </a:extLst>
          </p:cNvPr>
          <p:cNvSpPr/>
          <p:nvPr/>
        </p:nvSpPr>
        <p:spPr>
          <a:xfrm>
            <a:off x="4857274" y="1108521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85190B-209B-4DD8-B4C8-DCF4A94CFB5E}"/>
              </a:ext>
            </a:extLst>
          </p:cNvPr>
          <p:cNvSpPr/>
          <p:nvPr/>
        </p:nvSpPr>
        <p:spPr>
          <a:xfrm>
            <a:off x="4857274" y="1471685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BC041A-3030-4DD4-AC15-A62B12434637}"/>
              </a:ext>
            </a:extLst>
          </p:cNvPr>
          <p:cNvSpPr/>
          <p:nvPr/>
        </p:nvSpPr>
        <p:spPr>
          <a:xfrm>
            <a:off x="536914" y="1515192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1F71EF-E3DB-4DD4-93A3-6DCB9644AC8B}"/>
              </a:ext>
            </a:extLst>
          </p:cNvPr>
          <p:cNvSpPr/>
          <p:nvPr/>
        </p:nvSpPr>
        <p:spPr>
          <a:xfrm>
            <a:off x="6988138" y="1474109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9916F4-A436-488A-8037-CD06AFD7AADC}"/>
              </a:ext>
            </a:extLst>
          </p:cNvPr>
          <p:cNvSpPr/>
          <p:nvPr/>
        </p:nvSpPr>
        <p:spPr>
          <a:xfrm>
            <a:off x="6985708" y="1829367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A376F3-0AD8-40ED-BB5D-B7AB057E149D}"/>
              </a:ext>
            </a:extLst>
          </p:cNvPr>
          <p:cNvSpPr/>
          <p:nvPr/>
        </p:nvSpPr>
        <p:spPr>
          <a:xfrm>
            <a:off x="543492" y="1834429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3B0870-5F64-4465-B82F-2495754A163B}"/>
              </a:ext>
            </a:extLst>
          </p:cNvPr>
          <p:cNvSpPr/>
          <p:nvPr/>
        </p:nvSpPr>
        <p:spPr>
          <a:xfrm>
            <a:off x="2704120" y="1821172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0BD570-1A4E-4345-8483-25478D563D5D}"/>
              </a:ext>
            </a:extLst>
          </p:cNvPr>
          <p:cNvSpPr/>
          <p:nvPr/>
        </p:nvSpPr>
        <p:spPr>
          <a:xfrm>
            <a:off x="543492" y="2216540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L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C34A90-AD9D-496A-8984-70A3234865DB}"/>
              </a:ext>
            </a:extLst>
          </p:cNvPr>
          <p:cNvSpPr/>
          <p:nvPr/>
        </p:nvSpPr>
        <p:spPr>
          <a:xfrm>
            <a:off x="6985708" y="2203716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F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5FA9CA-A0E3-4274-AEE0-B575A736C35D}"/>
              </a:ext>
            </a:extLst>
          </p:cNvPr>
          <p:cNvSpPr/>
          <p:nvPr/>
        </p:nvSpPr>
        <p:spPr>
          <a:xfrm>
            <a:off x="4857274" y="2214404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F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A4C1D5-ED4E-4C26-9BAF-E357379668BF}"/>
              </a:ext>
            </a:extLst>
          </p:cNvPr>
          <p:cNvSpPr/>
          <p:nvPr/>
        </p:nvSpPr>
        <p:spPr>
          <a:xfrm>
            <a:off x="2704754" y="2607990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L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99C89D-1759-4E14-A718-C22DEE841A1F}"/>
              </a:ext>
            </a:extLst>
          </p:cNvPr>
          <p:cNvSpPr/>
          <p:nvPr/>
        </p:nvSpPr>
        <p:spPr>
          <a:xfrm>
            <a:off x="543492" y="2607989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F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E61B91-0ADE-4320-B556-0520CA9E15C7}"/>
              </a:ext>
            </a:extLst>
          </p:cNvPr>
          <p:cNvSpPr/>
          <p:nvPr/>
        </p:nvSpPr>
        <p:spPr>
          <a:xfrm>
            <a:off x="6989450" y="2558612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F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AE0141-4242-4B4C-941E-62B6E5816CB8}"/>
              </a:ext>
            </a:extLst>
          </p:cNvPr>
          <p:cNvSpPr/>
          <p:nvPr/>
        </p:nvSpPr>
        <p:spPr>
          <a:xfrm>
            <a:off x="4857274" y="3000625"/>
            <a:ext cx="360040" cy="282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L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2594D9-2075-4806-9A57-16FD16E41EAF}"/>
              </a:ext>
            </a:extLst>
          </p:cNvPr>
          <p:cNvSpPr/>
          <p:nvPr/>
        </p:nvSpPr>
        <p:spPr>
          <a:xfrm>
            <a:off x="2704120" y="2965108"/>
            <a:ext cx="360040" cy="282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F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90E073-F4E0-42D8-8067-7D25F4186236}"/>
              </a:ext>
            </a:extLst>
          </p:cNvPr>
          <p:cNvSpPr/>
          <p:nvPr/>
        </p:nvSpPr>
        <p:spPr>
          <a:xfrm>
            <a:off x="543492" y="2965107"/>
            <a:ext cx="360040" cy="2822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F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A2C266-695D-4B0B-BFFB-6E212C8D7E39}"/>
              </a:ext>
            </a:extLst>
          </p:cNvPr>
          <p:cNvSpPr/>
          <p:nvPr/>
        </p:nvSpPr>
        <p:spPr>
          <a:xfrm>
            <a:off x="7006371" y="3358998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L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E4014C-2DC6-4FF9-BDA9-8912BF55032B}"/>
              </a:ext>
            </a:extLst>
          </p:cNvPr>
          <p:cNvSpPr/>
          <p:nvPr/>
        </p:nvSpPr>
        <p:spPr>
          <a:xfrm>
            <a:off x="4857274" y="3362520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F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962580-3A00-434D-B801-4EFB952D59E4}"/>
              </a:ext>
            </a:extLst>
          </p:cNvPr>
          <p:cNvSpPr/>
          <p:nvPr/>
        </p:nvSpPr>
        <p:spPr>
          <a:xfrm>
            <a:off x="2696344" y="3365066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F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3A765B7-ABB5-439B-BAEF-CF9571E97499}"/>
              </a:ext>
            </a:extLst>
          </p:cNvPr>
          <p:cNvSpPr/>
          <p:nvPr/>
        </p:nvSpPr>
        <p:spPr>
          <a:xfrm>
            <a:off x="543492" y="3766747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5B5D724-2EB6-40E2-B405-638878D840A4}"/>
              </a:ext>
            </a:extLst>
          </p:cNvPr>
          <p:cNvSpPr/>
          <p:nvPr/>
        </p:nvSpPr>
        <p:spPr>
          <a:xfrm>
            <a:off x="2706240" y="3773710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2BAF25-EAA9-49E2-A6DF-83FB6BCC6D7A}"/>
              </a:ext>
            </a:extLst>
          </p:cNvPr>
          <p:cNvSpPr/>
          <p:nvPr/>
        </p:nvSpPr>
        <p:spPr>
          <a:xfrm>
            <a:off x="7003649" y="3720377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2F3D9EC-B33D-47A0-9EB0-EC6BA43B6E57}"/>
              </a:ext>
            </a:extLst>
          </p:cNvPr>
          <p:cNvSpPr/>
          <p:nvPr/>
        </p:nvSpPr>
        <p:spPr>
          <a:xfrm>
            <a:off x="2696344" y="4123838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E60ECCE-D2DC-430E-99EA-E6AE1607A82B}"/>
              </a:ext>
            </a:extLst>
          </p:cNvPr>
          <p:cNvSpPr/>
          <p:nvPr/>
        </p:nvSpPr>
        <p:spPr>
          <a:xfrm>
            <a:off x="4857274" y="4085045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7FF8107-3A55-4D32-A138-5D7D6E25503F}"/>
              </a:ext>
            </a:extLst>
          </p:cNvPr>
          <p:cNvSpPr/>
          <p:nvPr/>
        </p:nvSpPr>
        <p:spPr>
          <a:xfrm>
            <a:off x="543492" y="4172846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F5D0761-2241-433A-AF98-6CDD5E147972}"/>
              </a:ext>
            </a:extLst>
          </p:cNvPr>
          <p:cNvSpPr/>
          <p:nvPr/>
        </p:nvSpPr>
        <p:spPr>
          <a:xfrm>
            <a:off x="4857274" y="4446327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2D86C5E-5FF8-45A9-B502-F74EE4C77C3D}"/>
              </a:ext>
            </a:extLst>
          </p:cNvPr>
          <p:cNvSpPr/>
          <p:nvPr/>
        </p:nvSpPr>
        <p:spPr>
          <a:xfrm>
            <a:off x="6985708" y="4487768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A90E450-B79B-4CEB-BFB1-DC55D1F38C4A}"/>
              </a:ext>
            </a:extLst>
          </p:cNvPr>
          <p:cNvSpPr/>
          <p:nvPr/>
        </p:nvSpPr>
        <p:spPr>
          <a:xfrm>
            <a:off x="2704120" y="4487769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3C9ADD3-E2AE-4548-ADDF-70C860AB2149}"/>
              </a:ext>
            </a:extLst>
          </p:cNvPr>
          <p:cNvSpPr/>
          <p:nvPr/>
        </p:nvSpPr>
        <p:spPr>
          <a:xfrm>
            <a:off x="7002267" y="4838793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402E210-67B6-4E4F-91F0-F570D17CFDAC}"/>
              </a:ext>
            </a:extLst>
          </p:cNvPr>
          <p:cNvSpPr/>
          <p:nvPr/>
        </p:nvSpPr>
        <p:spPr>
          <a:xfrm>
            <a:off x="4857274" y="4841985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273A47-B894-4C09-BF26-86C33BE56202}"/>
              </a:ext>
            </a:extLst>
          </p:cNvPr>
          <p:cNvSpPr/>
          <p:nvPr/>
        </p:nvSpPr>
        <p:spPr>
          <a:xfrm>
            <a:off x="536914" y="4873984"/>
            <a:ext cx="360040" cy="2822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7064E1A-6CBD-4E82-88AC-95C9865DA184}"/>
              </a:ext>
            </a:extLst>
          </p:cNvPr>
          <p:cNvCxnSpPr>
            <a:cxnSpLocks/>
          </p:cNvCxnSpPr>
          <p:nvPr/>
        </p:nvCxnSpPr>
        <p:spPr>
          <a:xfrm>
            <a:off x="485070" y="2170821"/>
            <a:ext cx="7687330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809B3E3-D6E5-466B-83F0-BF186AC671AA}"/>
              </a:ext>
            </a:extLst>
          </p:cNvPr>
          <p:cNvCxnSpPr>
            <a:cxnSpLocks/>
          </p:cNvCxnSpPr>
          <p:nvPr/>
        </p:nvCxnSpPr>
        <p:spPr>
          <a:xfrm>
            <a:off x="485070" y="3717370"/>
            <a:ext cx="7687330" cy="49377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1364618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FA506F-243A-44FA-96CD-FCB410502959}"/>
              </a:ext>
            </a:extLst>
          </p:cNvPr>
          <p:cNvSpPr/>
          <p:nvPr/>
        </p:nvSpPr>
        <p:spPr>
          <a:xfrm>
            <a:off x="323528" y="2220589"/>
            <a:ext cx="792088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F079C0-18DB-4D68-A949-FDA932C3B867}"/>
              </a:ext>
            </a:extLst>
          </p:cNvPr>
          <p:cNvSpPr/>
          <p:nvPr/>
        </p:nvSpPr>
        <p:spPr>
          <a:xfrm>
            <a:off x="1331640" y="2228288"/>
            <a:ext cx="792088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345340-DB95-4DF5-A6DC-45771B659277}"/>
              </a:ext>
            </a:extLst>
          </p:cNvPr>
          <p:cNvSpPr/>
          <p:nvPr/>
        </p:nvSpPr>
        <p:spPr>
          <a:xfrm>
            <a:off x="2339752" y="2228289"/>
            <a:ext cx="792088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130469-F2D5-4F76-8A37-A8D984F10FEA}"/>
              </a:ext>
            </a:extLst>
          </p:cNvPr>
          <p:cNvSpPr/>
          <p:nvPr/>
        </p:nvSpPr>
        <p:spPr>
          <a:xfrm>
            <a:off x="3347864" y="2228288"/>
            <a:ext cx="792088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broker3</a:t>
            </a:r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4A9241-9C05-47F7-AC3D-BD86C5C68ED0}"/>
              </a:ext>
            </a:extLst>
          </p:cNvPr>
          <p:cNvSpPr/>
          <p:nvPr/>
        </p:nvSpPr>
        <p:spPr>
          <a:xfrm>
            <a:off x="381949" y="2487923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C9A66D-2F76-48C4-8C5A-65477CBF591B}"/>
              </a:ext>
            </a:extLst>
          </p:cNvPr>
          <p:cNvSpPr/>
          <p:nvPr/>
        </p:nvSpPr>
        <p:spPr>
          <a:xfrm>
            <a:off x="1369896" y="2495943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</a:t>
            </a:r>
            <a:endParaRPr lang="zh-CN" alt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F38545-F464-4C4F-860E-A39AD564C966}"/>
              </a:ext>
            </a:extLst>
          </p:cNvPr>
          <p:cNvSpPr/>
          <p:nvPr/>
        </p:nvSpPr>
        <p:spPr>
          <a:xfrm>
            <a:off x="1369896" y="2842206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CFCF03-68CB-4C8F-B7D2-AF00FE9972CD}"/>
              </a:ext>
            </a:extLst>
          </p:cNvPr>
          <p:cNvSpPr/>
          <p:nvPr/>
        </p:nvSpPr>
        <p:spPr>
          <a:xfrm>
            <a:off x="2409002" y="2845592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8767FE-6CF2-4B2F-A1B9-F67EB42D05EC}"/>
              </a:ext>
            </a:extLst>
          </p:cNvPr>
          <p:cNvSpPr/>
          <p:nvPr/>
        </p:nvSpPr>
        <p:spPr>
          <a:xfrm>
            <a:off x="2409002" y="3208756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D76C6E-5BC1-4458-94B2-97284F5E954A}"/>
              </a:ext>
            </a:extLst>
          </p:cNvPr>
          <p:cNvSpPr/>
          <p:nvPr/>
        </p:nvSpPr>
        <p:spPr>
          <a:xfrm>
            <a:off x="3418042" y="3211180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15D603-324A-46EF-B383-ED736DD38723}"/>
              </a:ext>
            </a:extLst>
          </p:cNvPr>
          <p:cNvSpPr/>
          <p:nvPr/>
        </p:nvSpPr>
        <p:spPr>
          <a:xfrm>
            <a:off x="3415612" y="3566438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330D45-CCDD-42EB-B133-FCEC5272190B}"/>
              </a:ext>
            </a:extLst>
          </p:cNvPr>
          <p:cNvSpPr/>
          <p:nvPr/>
        </p:nvSpPr>
        <p:spPr>
          <a:xfrm>
            <a:off x="381949" y="3571500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4DCE0A-CC0C-4F7E-AAAA-D0FF543F561F}"/>
              </a:ext>
            </a:extLst>
          </p:cNvPr>
          <p:cNvSpPr txBox="1"/>
          <p:nvPr/>
        </p:nvSpPr>
        <p:spPr>
          <a:xfrm>
            <a:off x="206498" y="1153850"/>
            <a:ext cx="8681936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需求：</a:t>
            </a:r>
            <a:r>
              <a:rPr lang="zh-CN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创建一个新的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topic</a:t>
            </a:r>
            <a:r>
              <a:rPr lang="zh-CN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个分区，两个副本，</a:t>
            </a:r>
            <a:r>
              <a:rPr lang="zh-CN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名称为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three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。将该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topic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的所有副本都存储到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broker0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broker1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两台服务器上。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16D45C-9D2E-47DC-9E1E-31DF6D70B1F9}"/>
              </a:ext>
            </a:extLst>
          </p:cNvPr>
          <p:cNvSpPr txBox="1"/>
          <p:nvPr/>
        </p:nvSpPr>
        <p:spPr>
          <a:xfrm>
            <a:off x="206498" y="343127"/>
            <a:ext cx="8681936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在生产环境中，每台服务器的配置和性能不一致，但是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只会根据自己的代码规则创建对应的分区副本，就会导致个别服务器存储压力较大。所有需要手动调整分区副本的存储。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371BF5-EAB0-48C6-8F45-8CF686078CCB}"/>
              </a:ext>
            </a:extLst>
          </p:cNvPr>
          <p:cNvSpPr/>
          <p:nvPr/>
        </p:nvSpPr>
        <p:spPr>
          <a:xfrm>
            <a:off x="5004048" y="2220589"/>
            <a:ext cx="792088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D5F5B6-205C-4D4E-A4A8-4643AE70D662}"/>
              </a:ext>
            </a:extLst>
          </p:cNvPr>
          <p:cNvSpPr/>
          <p:nvPr/>
        </p:nvSpPr>
        <p:spPr>
          <a:xfrm>
            <a:off x="6012160" y="2228288"/>
            <a:ext cx="792088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6B4E72-1392-4DB4-AB00-F0C523D8D9B2}"/>
              </a:ext>
            </a:extLst>
          </p:cNvPr>
          <p:cNvSpPr/>
          <p:nvPr/>
        </p:nvSpPr>
        <p:spPr>
          <a:xfrm>
            <a:off x="7020272" y="2228289"/>
            <a:ext cx="792088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CE882C-85B5-47F4-B62F-F973F3A6008A}"/>
              </a:ext>
            </a:extLst>
          </p:cNvPr>
          <p:cNvSpPr/>
          <p:nvPr/>
        </p:nvSpPr>
        <p:spPr>
          <a:xfrm>
            <a:off x="8028384" y="2228288"/>
            <a:ext cx="792088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broker3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06A9F1-6A3F-4687-991F-91C20D5151A8}"/>
              </a:ext>
            </a:extLst>
          </p:cNvPr>
          <p:cNvSpPr/>
          <p:nvPr/>
        </p:nvSpPr>
        <p:spPr>
          <a:xfrm>
            <a:off x="5062469" y="2487923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ED060F-4F16-4D60-8B63-06700B577268}"/>
              </a:ext>
            </a:extLst>
          </p:cNvPr>
          <p:cNvSpPr/>
          <p:nvPr/>
        </p:nvSpPr>
        <p:spPr>
          <a:xfrm>
            <a:off x="6050416" y="2495943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</a:t>
            </a:r>
            <a:endParaRPr lang="zh-CN" altLang="en-US" sz="16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5FB6C6B-47AA-4DC7-8210-28E1C9849F09}"/>
              </a:ext>
            </a:extLst>
          </p:cNvPr>
          <p:cNvSpPr/>
          <p:nvPr/>
        </p:nvSpPr>
        <p:spPr>
          <a:xfrm>
            <a:off x="5062469" y="2842206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CEBC39-E6CF-4D1E-A535-004EDB253AC2}"/>
              </a:ext>
            </a:extLst>
          </p:cNvPr>
          <p:cNvSpPr/>
          <p:nvPr/>
        </p:nvSpPr>
        <p:spPr>
          <a:xfrm>
            <a:off x="6050416" y="2859782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786EAAC-8EA1-46B2-BD77-6B33157C44A9}"/>
              </a:ext>
            </a:extLst>
          </p:cNvPr>
          <p:cNvSpPr/>
          <p:nvPr/>
        </p:nvSpPr>
        <p:spPr>
          <a:xfrm>
            <a:off x="6050416" y="3208756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592CEEC-471A-46AC-86E4-C88902F5E09D}"/>
              </a:ext>
            </a:extLst>
          </p:cNvPr>
          <p:cNvSpPr/>
          <p:nvPr/>
        </p:nvSpPr>
        <p:spPr>
          <a:xfrm>
            <a:off x="5067308" y="3196489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B6D498-6500-4A94-8FAB-35381A4E4842}"/>
              </a:ext>
            </a:extLst>
          </p:cNvPr>
          <p:cNvSpPr/>
          <p:nvPr/>
        </p:nvSpPr>
        <p:spPr>
          <a:xfrm>
            <a:off x="6048164" y="3574328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L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DF4ED81-01BF-45A7-A438-2CC3C284E8A1}"/>
              </a:ext>
            </a:extLst>
          </p:cNvPr>
          <p:cNvSpPr/>
          <p:nvPr/>
        </p:nvSpPr>
        <p:spPr>
          <a:xfrm>
            <a:off x="5062469" y="3571500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F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53261D59-ED67-4B25-B4E0-7BBCD9D5F916}"/>
              </a:ext>
            </a:extLst>
          </p:cNvPr>
          <p:cNvSpPr/>
          <p:nvPr/>
        </p:nvSpPr>
        <p:spPr>
          <a:xfrm>
            <a:off x="4283968" y="2859782"/>
            <a:ext cx="562477" cy="34897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A8516E-3F84-41A6-9D4C-532CAE1C1688}"/>
              </a:ext>
            </a:extLst>
          </p:cNvPr>
          <p:cNvSpPr txBox="1"/>
          <p:nvPr/>
        </p:nvSpPr>
        <p:spPr>
          <a:xfrm>
            <a:off x="323528" y="4072344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/>
              <a:t>32T</a:t>
            </a:r>
            <a:endParaRPr lang="zh-CN" alt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9AD40AE-1B9B-4893-A6CB-96C8ADA806ED}"/>
              </a:ext>
            </a:extLst>
          </p:cNvPr>
          <p:cNvSpPr txBox="1"/>
          <p:nvPr/>
        </p:nvSpPr>
        <p:spPr>
          <a:xfrm>
            <a:off x="1369896" y="4072344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/>
              <a:t>32T</a:t>
            </a:r>
            <a:endParaRPr lang="zh-CN" altLang="en-US" sz="16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AA05E1A-73D5-41F2-A8C1-17B9DD80BA58}"/>
              </a:ext>
            </a:extLst>
          </p:cNvPr>
          <p:cNvSpPr txBox="1"/>
          <p:nvPr/>
        </p:nvSpPr>
        <p:spPr>
          <a:xfrm>
            <a:off x="2461841" y="4072344"/>
            <a:ext cx="423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dirty="0"/>
              <a:t>4T</a:t>
            </a:r>
            <a:endParaRPr lang="zh-CN" altLang="en-US" sz="16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A67520B-0394-4807-984F-F793E3573F73}"/>
              </a:ext>
            </a:extLst>
          </p:cNvPr>
          <p:cNvSpPr txBox="1"/>
          <p:nvPr/>
        </p:nvSpPr>
        <p:spPr>
          <a:xfrm>
            <a:off x="3491880" y="4064127"/>
            <a:ext cx="4235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/>
              <a:t>4T</a:t>
            </a:r>
            <a:endParaRPr lang="zh-CN" altLang="en-US" sz="16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BCC4814-F1EF-44A2-9AF6-260B65764D36}"/>
              </a:ext>
            </a:extLst>
          </p:cNvPr>
          <p:cNvSpPr txBox="1"/>
          <p:nvPr/>
        </p:nvSpPr>
        <p:spPr>
          <a:xfrm>
            <a:off x="4972733" y="4072344"/>
            <a:ext cx="537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dirty="0"/>
              <a:t>32T</a:t>
            </a:r>
            <a:endParaRPr lang="zh-CN" altLang="en-US" sz="16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4E80F4B-3D50-4616-94C4-6BA472CE84F5}"/>
              </a:ext>
            </a:extLst>
          </p:cNvPr>
          <p:cNvSpPr txBox="1"/>
          <p:nvPr/>
        </p:nvSpPr>
        <p:spPr>
          <a:xfrm>
            <a:off x="6019101" y="4072344"/>
            <a:ext cx="537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dirty="0"/>
              <a:t>32T</a:t>
            </a:r>
            <a:endParaRPr lang="zh-CN" altLang="en-US" sz="16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2247719-D3C4-48F0-ABBF-3B7C62025CCE}"/>
              </a:ext>
            </a:extLst>
          </p:cNvPr>
          <p:cNvSpPr txBox="1"/>
          <p:nvPr/>
        </p:nvSpPr>
        <p:spPr>
          <a:xfrm>
            <a:off x="7111046" y="4072344"/>
            <a:ext cx="423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dirty="0"/>
              <a:t>4T</a:t>
            </a:r>
            <a:endParaRPr lang="zh-CN" altLang="en-US" sz="16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D87AE61-0555-48FD-A0B5-1354B88D9BD0}"/>
              </a:ext>
            </a:extLst>
          </p:cNvPr>
          <p:cNvSpPr txBox="1"/>
          <p:nvPr/>
        </p:nvSpPr>
        <p:spPr>
          <a:xfrm>
            <a:off x="8141085" y="4064127"/>
            <a:ext cx="423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dirty="0"/>
              <a:t>4T</a:t>
            </a:r>
            <a:endParaRPr lang="zh-CN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74E8633-D598-497B-88F7-E6C328437818}"/>
              </a:ext>
            </a:extLst>
          </p:cNvPr>
          <p:cNvSpPr txBox="1"/>
          <p:nvPr/>
        </p:nvSpPr>
        <p:spPr>
          <a:xfrm>
            <a:off x="491559" y="23752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生产经验</a:t>
            </a:r>
            <a:r>
              <a:rPr lang="en-US" altLang="zh-CN" sz="1800" dirty="0">
                <a:solidFill>
                  <a:srgbClr val="FF0000"/>
                </a:solidFill>
              </a:rPr>
              <a:t>——</a:t>
            </a:r>
            <a:r>
              <a:rPr lang="zh-CN" altLang="en-US" sz="1800" dirty="0">
                <a:solidFill>
                  <a:srgbClr val="FF0000"/>
                </a:solidFill>
              </a:rPr>
              <a:t>手动调整分区副本存储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7447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077BE9-31D8-471D-8C40-5D9C3F916E89}"/>
              </a:ext>
            </a:extLst>
          </p:cNvPr>
          <p:cNvSpPr txBox="1"/>
          <p:nvPr/>
        </p:nvSpPr>
        <p:spPr>
          <a:xfrm>
            <a:off x="491559" y="23752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Leader Partition</a:t>
            </a:r>
            <a:r>
              <a:rPr lang="zh-CN" altLang="en-US" sz="1800" dirty="0">
                <a:solidFill>
                  <a:srgbClr val="FF0000"/>
                </a:solidFill>
              </a:rPr>
              <a:t>自动平衡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87F6AB-D86C-48A3-B77B-59C882C0D9F9}"/>
              </a:ext>
            </a:extLst>
          </p:cNvPr>
          <p:cNvSpPr txBox="1"/>
          <p:nvPr/>
        </p:nvSpPr>
        <p:spPr>
          <a:xfrm>
            <a:off x="0" y="393084"/>
            <a:ext cx="9144000" cy="88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正常情况下，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本身会自动把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 Partition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均匀分散在各个机器上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，来保证每台机器的读写吞吐量都是均匀的。但是如果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某些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宕机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会导致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 Partition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过于集中在其他少部分几台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，这会导致少数几台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的读写请求压力过高，其他宕机的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重启之后都是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follower partition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，读写请求很低，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造成集群负载不均衡。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F7FF3F-3481-444A-9B59-FDD51ECE8C0C}"/>
              </a:ext>
            </a:extLst>
          </p:cNvPr>
          <p:cNvSpPr txBox="1"/>
          <p:nvPr/>
        </p:nvSpPr>
        <p:spPr>
          <a:xfrm>
            <a:off x="14967" y="3099507"/>
            <a:ext cx="3122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auto.leader.rebalance.enable</a:t>
            </a:r>
            <a:r>
              <a:rPr lang="zh-CN" altLang="en-US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默认是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true</a:t>
            </a:r>
            <a:r>
              <a:rPr lang="zh-CN" altLang="en-US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。自动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 Partition </a:t>
            </a:r>
            <a:r>
              <a:rPr lang="zh-CN" altLang="en-US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平衡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311E75-2B7D-47F8-85A1-3DD1B23E299E}"/>
              </a:ext>
            </a:extLst>
          </p:cNvPr>
          <p:cNvSpPr txBox="1"/>
          <p:nvPr/>
        </p:nvSpPr>
        <p:spPr>
          <a:xfrm>
            <a:off x="5250" y="3561172"/>
            <a:ext cx="2978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leader.imbalance.per.broker.percentage</a:t>
            </a:r>
            <a:r>
              <a:rPr lang="zh-CN" altLang="en-US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默认是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允许的不平衡的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的比率。如果每个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超过了这个值，控制器会触发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的平衡。</a:t>
            </a:r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AF724D-AE05-4E31-AAE6-8B774D93C711}"/>
              </a:ext>
            </a:extLst>
          </p:cNvPr>
          <p:cNvSpPr txBox="1"/>
          <p:nvPr/>
        </p:nvSpPr>
        <p:spPr>
          <a:xfrm>
            <a:off x="0" y="4370800"/>
            <a:ext cx="3122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leader.imbalance.check.interval.seconds</a:t>
            </a:r>
            <a:r>
              <a:rPr lang="zh-CN" altLang="en-US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默认值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300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秒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。检查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负载是否平衡的间隔时间。</a:t>
            </a:r>
            <a:endParaRPr lang="zh-CN" alt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03BB19-F8FD-4070-BB9E-C44C8D3DF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2659977"/>
            <a:ext cx="5436096" cy="10476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BF07B29-4615-4BAB-A2A4-31449409AA43}"/>
              </a:ext>
            </a:extLst>
          </p:cNvPr>
          <p:cNvSpPr txBox="1"/>
          <p:nvPr/>
        </p:nvSpPr>
        <p:spPr>
          <a:xfrm>
            <a:off x="3491880" y="2298339"/>
            <a:ext cx="4680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下面拿一个主题举例说明，假设集群只有一个主题如下图所示：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56249D-C5E3-4916-B606-A3AA11D0BAB4}"/>
              </a:ext>
            </a:extLst>
          </p:cNvPr>
          <p:cNvSpPr txBox="1"/>
          <p:nvPr/>
        </p:nvSpPr>
        <p:spPr>
          <a:xfrm>
            <a:off x="3491880" y="3783500"/>
            <a:ext cx="5515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针对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broker0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节点，分区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优先副本是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节点，但是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节点却不是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Leader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节点，所以不平衡数加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副本总数是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  <a:p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broker0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节点不平衡率为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1/4&gt;10%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，需要再平衡。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3D6156-48C5-44F4-AD2F-E5F819A4C48A}"/>
              </a:ext>
            </a:extLst>
          </p:cNvPr>
          <p:cNvSpPr txBox="1"/>
          <p:nvPr/>
        </p:nvSpPr>
        <p:spPr>
          <a:xfrm>
            <a:off x="3524299" y="4556036"/>
            <a:ext cx="5515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broker2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broker3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节点和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broker0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不平衡率一样，需要再平衡。</a:t>
            </a:r>
            <a:endParaRPr lang="en-US" altLang="zh-CN" sz="1200" kern="1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Broker1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的不平衡数为</a:t>
            </a:r>
            <a:r>
              <a:rPr lang="en-US" altLang="zh-CN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2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，不需要再平衡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F673C6-93AC-4065-9E40-D2AEB3C97F74}"/>
              </a:ext>
            </a:extLst>
          </p:cNvPr>
          <p:cNvSpPr/>
          <p:nvPr/>
        </p:nvSpPr>
        <p:spPr>
          <a:xfrm>
            <a:off x="95515" y="1356493"/>
            <a:ext cx="720080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DC7C97-86AD-4653-934E-326BF83E9E32}"/>
              </a:ext>
            </a:extLst>
          </p:cNvPr>
          <p:cNvSpPr/>
          <p:nvPr/>
        </p:nvSpPr>
        <p:spPr>
          <a:xfrm>
            <a:off x="971600" y="1364192"/>
            <a:ext cx="720080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EA2342-517A-4487-AE8D-8AEB50D1B522}"/>
              </a:ext>
            </a:extLst>
          </p:cNvPr>
          <p:cNvSpPr/>
          <p:nvPr/>
        </p:nvSpPr>
        <p:spPr>
          <a:xfrm>
            <a:off x="1835696" y="1364193"/>
            <a:ext cx="720080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CE3D9B-148E-460B-B435-E9C1404FE832}"/>
              </a:ext>
            </a:extLst>
          </p:cNvPr>
          <p:cNvSpPr/>
          <p:nvPr/>
        </p:nvSpPr>
        <p:spPr>
          <a:xfrm>
            <a:off x="2699792" y="1364192"/>
            <a:ext cx="720080" cy="17116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dirty="0"/>
              <a:t>broker3</a:t>
            </a:r>
            <a:endParaRPr lang="zh-CN" altLang="en-US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DE8C34-6919-4415-B21B-DC77C90527C7}"/>
              </a:ext>
            </a:extLst>
          </p:cNvPr>
          <p:cNvSpPr/>
          <p:nvPr/>
        </p:nvSpPr>
        <p:spPr>
          <a:xfrm>
            <a:off x="153936" y="1623827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L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52CC19-62A0-4792-A388-1EA6D11E9BBE}"/>
              </a:ext>
            </a:extLst>
          </p:cNvPr>
          <p:cNvSpPr/>
          <p:nvPr/>
        </p:nvSpPr>
        <p:spPr>
          <a:xfrm>
            <a:off x="1009856" y="1631847"/>
            <a:ext cx="360040" cy="2822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</a:t>
            </a:r>
            <a:endParaRPr lang="zh-CN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779420-03A4-42B3-98FD-1964BC6A3562}"/>
              </a:ext>
            </a:extLst>
          </p:cNvPr>
          <p:cNvSpPr/>
          <p:nvPr/>
        </p:nvSpPr>
        <p:spPr>
          <a:xfrm>
            <a:off x="153936" y="1978110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L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444F77-399A-4AB9-A7F3-380461D7883F}"/>
              </a:ext>
            </a:extLst>
          </p:cNvPr>
          <p:cNvSpPr/>
          <p:nvPr/>
        </p:nvSpPr>
        <p:spPr>
          <a:xfrm>
            <a:off x="1009856" y="1995686"/>
            <a:ext cx="360040" cy="282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F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A4FC1E-2821-4A33-BBF8-2A5BA7C8AF98}"/>
              </a:ext>
            </a:extLst>
          </p:cNvPr>
          <p:cNvSpPr/>
          <p:nvPr/>
        </p:nvSpPr>
        <p:spPr>
          <a:xfrm>
            <a:off x="1009856" y="2344660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L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1B9E40-4149-4154-B5AB-5156F6AD4E9F}"/>
              </a:ext>
            </a:extLst>
          </p:cNvPr>
          <p:cNvSpPr/>
          <p:nvPr/>
        </p:nvSpPr>
        <p:spPr>
          <a:xfrm>
            <a:off x="158775" y="2332393"/>
            <a:ext cx="360040" cy="282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F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B921D29-05AD-4CA4-8CD9-75887FE0304C}"/>
              </a:ext>
            </a:extLst>
          </p:cNvPr>
          <p:cNvSpPr/>
          <p:nvPr/>
        </p:nvSpPr>
        <p:spPr>
          <a:xfrm>
            <a:off x="1007604" y="2710232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L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F5209E-FC40-45EA-AF7B-27FDED58BAA9}"/>
              </a:ext>
            </a:extLst>
          </p:cNvPr>
          <p:cNvSpPr/>
          <p:nvPr/>
        </p:nvSpPr>
        <p:spPr>
          <a:xfrm>
            <a:off x="153936" y="2707404"/>
            <a:ext cx="360040" cy="2822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F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5580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ADAD1BC-199A-4112-A058-E0481F7EA95B}"/>
              </a:ext>
            </a:extLst>
          </p:cNvPr>
          <p:cNvSpPr/>
          <p:nvPr/>
        </p:nvSpPr>
        <p:spPr>
          <a:xfrm>
            <a:off x="5403727" y="1347614"/>
            <a:ext cx="900100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Topic</a:t>
            </a:r>
            <a:endParaRPr lang="zh-CN" altLang="en-US" sz="1400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9D40797-58BC-4EFB-9C68-6F7C9C1972ED}"/>
              </a:ext>
            </a:extLst>
          </p:cNvPr>
          <p:cNvSpPr/>
          <p:nvPr/>
        </p:nvSpPr>
        <p:spPr>
          <a:xfrm>
            <a:off x="2987824" y="2144986"/>
            <a:ext cx="1068430" cy="3366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Partition-0</a:t>
            </a:r>
            <a:endParaRPr lang="zh-CN" altLang="en-US" sz="1400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B5D790D-FE0E-4F98-BC04-AFCFB5C7E584}"/>
              </a:ext>
            </a:extLst>
          </p:cNvPr>
          <p:cNvSpPr/>
          <p:nvPr/>
        </p:nvSpPr>
        <p:spPr>
          <a:xfrm>
            <a:off x="5314887" y="2143751"/>
            <a:ext cx="1068430" cy="3366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Partition-1</a:t>
            </a:r>
            <a:endParaRPr lang="zh-CN" altLang="en-US" sz="1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9593A9C-E089-44AE-A390-6B98C8F01DC6}"/>
              </a:ext>
            </a:extLst>
          </p:cNvPr>
          <p:cNvSpPr/>
          <p:nvPr/>
        </p:nvSpPr>
        <p:spPr>
          <a:xfrm>
            <a:off x="7524328" y="2143751"/>
            <a:ext cx="1068430" cy="3366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Partition-2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EDDF46-B187-48B8-B13D-371DFE128D93}"/>
              </a:ext>
            </a:extLst>
          </p:cNvPr>
          <p:cNvSpPr/>
          <p:nvPr/>
        </p:nvSpPr>
        <p:spPr>
          <a:xfrm>
            <a:off x="2987824" y="3599488"/>
            <a:ext cx="1045754" cy="33666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Segment</a:t>
            </a:r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BF8EA1-CE23-4A56-9B64-CBEB6DE2E2B1}"/>
              </a:ext>
            </a:extLst>
          </p:cNvPr>
          <p:cNvSpPr/>
          <p:nvPr/>
        </p:nvSpPr>
        <p:spPr>
          <a:xfrm>
            <a:off x="5314887" y="3595975"/>
            <a:ext cx="1068430" cy="3401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Segment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A69925-E998-47A4-A965-686D7E2E51FC}"/>
              </a:ext>
            </a:extLst>
          </p:cNvPr>
          <p:cNvSpPr/>
          <p:nvPr/>
        </p:nvSpPr>
        <p:spPr>
          <a:xfrm>
            <a:off x="7524329" y="3595974"/>
            <a:ext cx="1068430" cy="3401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Segment</a:t>
            </a:r>
            <a:endParaRPr lang="zh-CN" altLang="en-US" sz="1400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04D58E4-2BE1-4A2B-B21F-818CF9F32DC5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 flipH="1">
            <a:off x="3522039" y="1851670"/>
            <a:ext cx="2331738" cy="29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14C5995-5B1E-4D54-B42D-5849394EB875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5853777" y="1851670"/>
            <a:ext cx="2204766" cy="292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F9EF277-B985-4D75-86BB-78972A378500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 flipH="1">
            <a:off x="5849102" y="1851670"/>
            <a:ext cx="4675" cy="292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0FA7134-7E19-43A7-81F2-70AEF7CF3FF7}"/>
              </a:ext>
            </a:extLst>
          </p:cNvPr>
          <p:cNvCxnSpPr>
            <a:cxnSpLocks/>
            <a:stCxn id="17" idx="2"/>
            <a:endCxn id="6" idx="0"/>
          </p:cNvCxnSpPr>
          <p:nvPr/>
        </p:nvCxnSpPr>
        <p:spPr>
          <a:xfrm flipH="1">
            <a:off x="3510701" y="3201728"/>
            <a:ext cx="2338401" cy="397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63BB9F6-2D2D-42DD-B0B1-397E78522AA7}"/>
              </a:ext>
            </a:extLst>
          </p:cNvPr>
          <p:cNvCxnSpPr>
            <a:cxnSpLocks/>
            <a:stCxn id="17" idx="2"/>
            <a:endCxn id="7" idx="0"/>
          </p:cNvCxnSpPr>
          <p:nvPr/>
        </p:nvCxnSpPr>
        <p:spPr>
          <a:xfrm>
            <a:off x="5849102" y="3201728"/>
            <a:ext cx="0" cy="394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260541-96ED-488A-92F4-F89B227E9F24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>
            <a:off x="5849102" y="3201728"/>
            <a:ext cx="2209442" cy="39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F982670-CAA1-46FC-A412-B60CCD84B013}"/>
              </a:ext>
            </a:extLst>
          </p:cNvPr>
          <p:cNvSpPr txBox="1"/>
          <p:nvPr/>
        </p:nvSpPr>
        <p:spPr>
          <a:xfrm>
            <a:off x="467544" y="23919"/>
            <a:ext cx="2659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Kafka</a:t>
            </a:r>
            <a:r>
              <a:rPr lang="zh-CN" altLang="en-US" dirty="0">
                <a:solidFill>
                  <a:srgbClr val="FF0000"/>
                </a:solidFill>
              </a:rPr>
              <a:t>文件存储机制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0A9B297-29B3-40DD-B7E4-BF31B1E801A0}"/>
              </a:ext>
            </a:extLst>
          </p:cNvPr>
          <p:cNvSpPr/>
          <p:nvPr/>
        </p:nvSpPr>
        <p:spPr>
          <a:xfrm>
            <a:off x="2987824" y="2864314"/>
            <a:ext cx="1068430" cy="336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log</a:t>
            </a:r>
            <a:endParaRPr lang="zh-CN" altLang="en-US" sz="1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57D26BD-DEB7-417D-8C5B-124D3C3C8FE6}"/>
              </a:ext>
            </a:extLst>
          </p:cNvPr>
          <p:cNvSpPr/>
          <p:nvPr/>
        </p:nvSpPr>
        <p:spPr>
          <a:xfrm>
            <a:off x="5314887" y="2865067"/>
            <a:ext cx="1068429" cy="336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log</a:t>
            </a:r>
            <a:endParaRPr lang="zh-CN" altLang="en-US" sz="1400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95A2202-1069-46FE-8D7C-C333DE3FB34D}"/>
              </a:ext>
            </a:extLst>
          </p:cNvPr>
          <p:cNvSpPr/>
          <p:nvPr/>
        </p:nvSpPr>
        <p:spPr>
          <a:xfrm>
            <a:off x="7524328" y="2861635"/>
            <a:ext cx="1068429" cy="336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log</a:t>
            </a:r>
            <a:endParaRPr lang="zh-CN" altLang="en-US" sz="1400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FAB0F2C-359B-45C0-9533-CF4A6B37CA86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>
            <a:off x="3522039" y="2481648"/>
            <a:ext cx="0" cy="38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2B4E558-E8A6-4602-A242-86C2A740390D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>
            <a:off x="5849102" y="2480413"/>
            <a:ext cx="0" cy="384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0902B7C-402F-4C02-9D90-C82905DA74EF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8058543" y="2480413"/>
            <a:ext cx="0" cy="38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336D2C0-E77F-46BA-9E20-9E4BBB8FA968}"/>
              </a:ext>
            </a:extLst>
          </p:cNvPr>
          <p:cNvSpPr txBox="1"/>
          <p:nvPr/>
        </p:nvSpPr>
        <p:spPr>
          <a:xfrm>
            <a:off x="2910197" y="1663915"/>
            <a:ext cx="1979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一个</a:t>
            </a:r>
            <a:r>
              <a:rPr lang="en-US" altLang="zh-CN" sz="1200" dirty="0">
                <a:solidFill>
                  <a:srgbClr val="FF0000"/>
                </a:solidFill>
              </a:rPr>
              <a:t>topic</a:t>
            </a:r>
            <a:r>
              <a:rPr lang="zh-CN" altLang="en-US" sz="1200" dirty="0">
                <a:solidFill>
                  <a:srgbClr val="FF0000"/>
                </a:solidFill>
              </a:rPr>
              <a:t>分为多个</a:t>
            </a:r>
            <a:r>
              <a:rPr lang="en-US" altLang="zh-CN" sz="1200" dirty="0">
                <a:solidFill>
                  <a:srgbClr val="FF0000"/>
                </a:solidFill>
              </a:rPr>
              <a:t>partition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E339BA-D576-40A1-B5EA-E4EF7204EA0F}"/>
              </a:ext>
            </a:extLst>
          </p:cNvPr>
          <p:cNvSpPr txBox="1"/>
          <p:nvPr/>
        </p:nvSpPr>
        <p:spPr>
          <a:xfrm>
            <a:off x="14110" y="2152866"/>
            <a:ext cx="22219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一个</a:t>
            </a:r>
            <a:r>
              <a:rPr lang="en-US" altLang="zh-CN" sz="1200" dirty="0">
                <a:solidFill>
                  <a:srgbClr val="FF0000"/>
                </a:solidFill>
              </a:rPr>
              <a:t>partition</a:t>
            </a:r>
            <a:r>
              <a:rPr lang="zh-CN" altLang="en-US" sz="1200" dirty="0">
                <a:solidFill>
                  <a:srgbClr val="FF0000"/>
                </a:solidFill>
              </a:rPr>
              <a:t>分为多个</a:t>
            </a:r>
            <a:r>
              <a:rPr lang="en-US" altLang="zh-CN" sz="1200" dirty="0">
                <a:solidFill>
                  <a:srgbClr val="FF0000"/>
                </a:solidFill>
              </a:rPr>
              <a:t>segment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B8F4003-8347-444D-B840-D57D616DAF42}"/>
              </a:ext>
            </a:extLst>
          </p:cNvPr>
          <p:cNvSpPr txBox="1"/>
          <p:nvPr/>
        </p:nvSpPr>
        <p:spPr>
          <a:xfrm>
            <a:off x="35496" y="3029965"/>
            <a:ext cx="2070920" cy="116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.log  </a:t>
            </a:r>
            <a:r>
              <a:rPr lang="zh-CN" altLang="en-US" sz="1200" dirty="0">
                <a:solidFill>
                  <a:srgbClr val="FF0000"/>
                </a:solidFill>
              </a:rPr>
              <a:t>日志文件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.index </a:t>
            </a:r>
            <a:r>
              <a:rPr lang="zh-CN" altLang="en-US" sz="1200" dirty="0">
                <a:solidFill>
                  <a:srgbClr val="FF0000"/>
                </a:solidFill>
              </a:rPr>
              <a:t>偏移量索引文件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.</a:t>
            </a:r>
            <a:r>
              <a:rPr lang="en-US" altLang="zh-CN" sz="1200" dirty="0" err="1">
                <a:solidFill>
                  <a:srgbClr val="FF0000"/>
                </a:solidFill>
              </a:rPr>
              <a:t>timeindex</a:t>
            </a:r>
            <a:r>
              <a:rPr lang="en-US" altLang="zh-CN" sz="1200" dirty="0">
                <a:solidFill>
                  <a:srgbClr val="FF0000"/>
                </a:solidFill>
              </a:rPr>
              <a:t> </a:t>
            </a:r>
            <a:r>
              <a:rPr lang="zh-CN" altLang="en-US" sz="1200" dirty="0">
                <a:solidFill>
                  <a:srgbClr val="FF0000"/>
                </a:solidFill>
              </a:rPr>
              <a:t>时间戳索引文件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</a:rPr>
              <a:t>其他文件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289F870-F145-4235-866F-4C53C6383904}"/>
              </a:ext>
            </a:extLst>
          </p:cNvPr>
          <p:cNvSpPr txBox="1"/>
          <p:nvPr/>
        </p:nvSpPr>
        <p:spPr>
          <a:xfrm>
            <a:off x="35496" y="385788"/>
            <a:ext cx="9001000" cy="116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Topic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是逻辑上的概念，而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partition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是物理上的概念，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每个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partition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对应于一个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，该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文件中存储的就是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Producer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生产的数据。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Producer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生产的数据会被不断</a:t>
            </a:r>
            <a:r>
              <a:rPr lang="zh-CN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追加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到该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文件末端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为防止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文件过大导致数据定位效率低下，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采取了</a:t>
            </a:r>
            <a:r>
              <a:rPr lang="zh-CN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分片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sz="1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机制，将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partition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分为多个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segment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segment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包括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“.index”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“.log”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timeindex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等文件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。这些文件位于一个文件夹下，该文件夹的命名规则为：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topic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名称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分区序号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，例如：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first-0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8AA213B-F45F-4FE0-A1E2-01ED0C30E08E}"/>
              </a:ext>
            </a:extLst>
          </p:cNvPr>
          <p:cNvSpPr txBox="1"/>
          <p:nvPr/>
        </p:nvSpPr>
        <p:spPr>
          <a:xfrm>
            <a:off x="2572105" y="4333910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000000000000000.index</a:t>
            </a:r>
            <a:endParaRPr lang="zh-CN" altLang="en-US" sz="1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4DD91B-97C2-46D0-B501-512DD324803E}"/>
              </a:ext>
            </a:extLst>
          </p:cNvPr>
          <p:cNvSpPr txBox="1"/>
          <p:nvPr/>
        </p:nvSpPr>
        <p:spPr>
          <a:xfrm>
            <a:off x="2572105" y="4537362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000000000000000.log</a:t>
            </a:r>
            <a:endParaRPr lang="zh-CN" altLang="en-US" sz="1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FD7B191-91C9-47A3-8993-3A9BEDE31A0A}"/>
              </a:ext>
            </a:extLst>
          </p:cNvPr>
          <p:cNvSpPr txBox="1"/>
          <p:nvPr/>
        </p:nvSpPr>
        <p:spPr>
          <a:xfrm>
            <a:off x="24015" y="4339725"/>
            <a:ext cx="2459950" cy="650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说明：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index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文件以当前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segment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的第一条消息的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命名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6418F94-D052-4B50-A420-C6A3714376AC}"/>
              </a:ext>
            </a:extLst>
          </p:cNvPr>
          <p:cNvSpPr txBox="1"/>
          <p:nvPr/>
        </p:nvSpPr>
        <p:spPr>
          <a:xfrm>
            <a:off x="2572105" y="4742982"/>
            <a:ext cx="1832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000000000000000.timeindex</a:t>
            </a:r>
            <a:endParaRPr lang="zh-CN" altLang="en-US" sz="10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7E95F8-0AE8-4C97-8B75-5947D4D90FB0}"/>
              </a:ext>
            </a:extLst>
          </p:cNvPr>
          <p:cNvSpPr/>
          <p:nvPr/>
        </p:nvSpPr>
        <p:spPr>
          <a:xfrm>
            <a:off x="2608156" y="4301678"/>
            <a:ext cx="1782151" cy="71618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D0B5F3E-2F52-468D-8B9C-7271BEF2A619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flipH="1">
            <a:off x="3499232" y="3936150"/>
            <a:ext cx="11469" cy="365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1F8AE0C-6595-482F-A081-235DBE41F57E}"/>
              </a:ext>
            </a:extLst>
          </p:cNvPr>
          <p:cNvSpPr txBox="1"/>
          <p:nvPr/>
        </p:nvSpPr>
        <p:spPr>
          <a:xfrm>
            <a:off x="4921975" y="4349521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000000000004096.index</a:t>
            </a:r>
            <a:endParaRPr lang="zh-CN" altLang="en-US" sz="1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C46A1CA-A787-4E55-A30D-C318E5987024}"/>
              </a:ext>
            </a:extLst>
          </p:cNvPr>
          <p:cNvSpPr txBox="1"/>
          <p:nvPr/>
        </p:nvSpPr>
        <p:spPr>
          <a:xfrm>
            <a:off x="4921975" y="4552973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000000000004096.log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67B2C5-32FE-434A-BD42-39076E52455C}"/>
              </a:ext>
            </a:extLst>
          </p:cNvPr>
          <p:cNvSpPr txBox="1"/>
          <p:nvPr/>
        </p:nvSpPr>
        <p:spPr>
          <a:xfrm>
            <a:off x="4921975" y="4758593"/>
            <a:ext cx="1832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000000000004096.timeindex</a:t>
            </a:r>
            <a:endParaRPr lang="zh-CN" altLang="en-US" sz="10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83BF3C-6572-455D-9085-4901C8C3CC11}"/>
              </a:ext>
            </a:extLst>
          </p:cNvPr>
          <p:cNvSpPr/>
          <p:nvPr/>
        </p:nvSpPr>
        <p:spPr>
          <a:xfrm>
            <a:off x="4958026" y="4317289"/>
            <a:ext cx="1782151" cy="71618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1D4E1B2-DDD8-498A-9B21-868C826C6282}"/>
              </a:ext>
            </a:extLst>
          </p:cNvPr>
          <p:cNvSpPr txBox="1"/>
          <p:nvPr/>
        </p:nvSpPr>
        <p:spPr>
          <a:xfrm>
            <a:off x="7132484" y="4349521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000000000016384.index</a:t>
            </a:r>
            <a:endParaRPr lang="zh-CN" altLang="en-US" sz="1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5A46669-1A24-4161-B413-07ECCC59BB59}"/>
              </a:ext>
            </a:extLst>
          </p:cNvPr>
          <p:cNvSpPr txBox="1"/>
          <p:nvPr/>
        </p:nvSpPr>
        <p:spPr>
          <a:xfrm>
            <a:off x="7132484" y="4552973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000000000016384.log</a:t>
            </a:r>
            <a:endParaRPr lang="zh-CN" altLang="en-US" sz="1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4C84477-1A5F-4D7F-80B9-8A831AD62822}"/>
              </a:ext>
            </a:extLst>
          </p:cNvPr>
          <p:cNvSpPr txBox="1"/>
          <p:nvPr/>
        </p:nvSpPr>
        <p:spPr>
          <a:xfrm>
            <a:off x="7132484" y="4758593"/>
            <a:ext cx="1832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000000000016384.timeindex</a:t>
            </a:r>
            <a:endParaRPr lang="zh-CN" altLang="en-US" sz="10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1770E3C-4E49-4F60-8310-B1D3C17BDC8C}"/>
              </a:ext>
            </a:extLst>
          </p:cNvPr>
          <p:cNvSpPr/>
          <p:nvPr/>
        </p:nvSpPr>
        <p:spPr>
          <a:xfrm>
            <a:off x="7168535" y="4317289"/>
            <a:ext cx="1782151" cy="71618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5C91AA0-DE56-44F4-89C1-BCBCF7CD228F}"/>
              </a:ext>
            </a:extLst>
          </p:cNvPr>
          <p:cNvCxnSpPr>
            <a:cxnSpLocks/>
            <a:stCxn id="7" idx="2"/>
            <a:endCxn id="35" idx="0"/>
          </p:cNvCxnSpPr>
          <p:nvPr/>
        </p:nvCxnSpPr>
        <p:spPr>
          <a:xfrm>
            <a:off x="5849102" y="3936151"/>
            <a:ext cx="0" cy="381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A3C3927-427D-46AD-9316-58B1FE3FFFBA}"/>
              </a:ext>
            </a:extLst>
          </p:cNvPr>
          <p:cNvCxnSpPr>
            <a:cxnSpLocks/>
            <a:stCxn id="8" idx="2"/>
            <a:endCxn id="39" idx="0"/>
          </p:cNvCxnSpPr>
          <p:nvPr/>
        </p:nvCxnSpPr>
        <p:spPr>
          <a:xfrm>
            <a:off x="8058544" y="3936150"/>
            <a:ext cx="1067" cy="381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694260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6" grpId="0" animBg="1"/>
      <p:bldP spid="17" grpId="0" animBg="1"/>
      <p:bldP spid="18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2" grpId="0"/>
      <p:bldP spid="33" grpId="0"/>
      <p:bldP spid="34" grpId="0"/>
      <p:bldP spid="35" grpId="0" animBg="1"/>
      <p:bldP spid="36" grpId="0"/>
      <p:bldP spid="37" grpId="0"/>
      <p:bldP spid="38" grpId="0"/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E525D2-7896-44E0-AA04-A029B28AB717}"/>
              </a:ext>
            </a:extLst>
          </p:cNvPr>
          <p:cNvSpPr txBox="1"/>
          <p:nvPr/>
        </p:nvSpPr>
        <p:spPr>
          <a:xfrm>
            <a:off x="539552" y="4217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Log</a:t>
            </a:r>
            <a:r>
              <a:rPr kumimoji="1" lang="zh-CN" altLang="en-US" dirty="0">
                <a:solidFill>
                  <a:srgbClr val="FF0000"/>
                </a:solidFill>
              </a:rPr>
              <a:t>文件和</a:t>
            </a:r>
            <a:r>
              <a:rPr kumimoji="1" lang="en-US" altLang="zh-CN" dirty="0">
                <a:solidFill>
                  <a:srgbClr val="FF0000"/>
                </a:solidFill>
              </a:rPr>
              <a:t>Index</a:t>
            </a:r>
            <a:r>
              <a:rPr kumimoji="1" lang="zh-CN" altLang="en-US" dirty="0">
                <a:solidFill>
                  <a:srgbClr val="FF0000"/>
                </a:solidFill>
              </a:rPr>
              <a:t>文件详解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328A55E4-D23D-4FC1-A092-DCDC5DB98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848360"/>
              </p:ext>
            </p:extLst>
          </p:nvPr>
        </p:nvGraphicFramePr>
        <p:xfrm>
          <a:off x="2729420" y="1107489"/>
          <a:ext cx="2486978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855">
                  <a:extLst>
                    <a:ext uri="{9D8B030D-6E8A-4147-A177-3AD203B41FA5}">
                      <a16:colId xmlns:a16="http://schemas.microsoft.com/office/drawing/2014/main" val="296840654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3154259291"/>
                    </a:ext>
                  </a:extLst>
                </a:gridCol>
                <a:gridCol w="743268">
                  <a:extLst>
                    <a:ext uri="{9D8B030D-6E8A-4147-A177-3AD203B41FA5}">
                      <a16:colId xmlns:a16="http://schemas.microsoft.com/office/drawing/2014/main" val="1604514030"/>
                    </a:ext>
                  </a:extLst>
                </a:gridCol>
              </a:tblGrid>
              <a:tr h="226311"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绝对</a:t>
                      </a:r>
                      <a:r>
                        <a:rPr lang="en-US" altLang="zh-CN" sz="1050" dirty="0"/>
                        <a:t>Offset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dirty="0"/>
                        <a:t>相对</a:t>
                      </a:r>
                      <a:r>
                        <a:rPr lang="en-US" altLang="zh-CN" sz="1050" dirty="0"/>
                        <a:t>Offset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Position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27951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en-US" altLang="zh-CN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65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6410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822862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en-US" altLang="zh-CN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13795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715343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en-US" altLang="zh-CN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169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21060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035487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en-US" altLang="zh-CN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221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28367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69625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2890BF-A6B4-4433-BDDE-D247882B6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919322"/>
              </p:ext>
            </p:extLst>
          </p:nvPr>
        </p:nvGraphicFramePr>
        <p:xfrm>
          <a:off x="5868144" y="1107489"/>
          <a:ext cx="2621916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243">
                  <a:extLst>
                    <a:ext uri="{9D8B030D-6E8A-4147-A177-3AD203B41FA5}">
                      <a16:colId xmlns:a16="http://schemas.microsoft.com/office/drawing/2014/main" val="3154259291"/>
                    </a:ext>
                  </a:extLst>
                </a:gridCol>
                <a:gridCol w="835343">
                  <a:extLst>
                    <a:ext uri="{9D8B030D-6E8A-4147-A177-3AD203B41FA5}">
                      <a16:colId xmlns:a16="http://schemas.microsoft.com/office/drawing/2014/main" val="1604514030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695510821"/>
                    </a:ext>
                  </a:extLst>
                </a:gridCol>
              </a:tblGrid>
              <a:tr h="226311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50" dirty="0" err="1"/>
                        <a:t>RecordBatch</a:t>
                      </a:r>
                      <a:r>
                        <a:rPr lang="en-US" altLang="zh-CN" sz="1050" dirty="0"/>
                        <a:t>[</a:t>
                      </a:r>
                      <a:r>
                        <a:rPr lang="en-US" altLang="zh-CN" sz="1050" dirty="0" err="1"/>
                        <a:t>baseOffset~lastOffset</a:t>
                      </a:r>
                      <a:r>
                        <a:rPr lang="en-US" altLang="zh-CN" sz="1050" dirty="0"/>
                        <a:t>]</a:t>
                      </a:r>
                      <a:endParaRPr lang="zh-CN" altLang="en-US" sz="105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92968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 err="1"/>
                        <a:t>baseOffset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 err="1"/>
                        <a:t>lastOffset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position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27951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522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522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0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822862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523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200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715343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524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536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819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035487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537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562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3092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696253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563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587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6410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736762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588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10090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69006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614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13795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983390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640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17481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881518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666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21060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252359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692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24781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552304"/>
                  </a:ext>
                </a:extLst>
              </a:tr>
              <a:tr h="226311"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728</a:t>
                      </a:r>
                      <a:endParaRPr lang="zh-CN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/>
                        <a:t>28367</a:t>
                      </a:r>
                      <a:endParaRPr lang="zh-CN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91530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6F5F47F-73B2-40D7-B1FA-2627CAFDC50C}"/>
              </a:ext>
            </a:extLst>
          </p:cNvPr>
          <p:cNvSpPr txBox="1"/>
          <p:nvPr/>
        </p:nvSpPr>
        <p:spPr>
          <a:xfrm>
            <a:off x="2820781" y="828568"/>
            <a:ext cx="2304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00000000000000000522.index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532996-0BAE-4A8F-9C5F-1F4ED21D6528}"/>
              </a:ext>
            </a:extLst>
          </p:cNvPr>
          <p:cNvSpPr txBox="1"/>
          <p:nvPr/>
        </p:nvSpPr>
        <p:spPr>
          <a:xfrm>
            <a:off x="6026974" y="828567"/>
            <a:ext cx="2304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00000000000000000522</a:t>
            </a:r>
            <a:r>
              <a:rPr lang="en-US" altLang="zh-CN" sz="1200" dirty="0"/>
              <a:t>.log</a:t>
            </a: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67ADD6-CBED-4110-90A2-5FE87241A031}"/>
              </a:ext>
            </a:extLst>
          </p:cNvPr>
          <p:cNvSpPr txBox="1"/>
          <p:nvPr/>
        </p:nvSpPr>
        <p:spPr>
          <a:xfrm>
            <a:off x="2820781" y="469199"/>
            <a:ext cx="2304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00000000000000000</a:t>
            </a:r>
            <a:r>
              <a:rPr lang="en-US" altLang="zh-CN" sz="1200" dirty="0"/>
              <a:t>000</a:t>
            </a:r>
            <a:r>
              <a:rPr lang="zh-CN" altLang="en-US" sz="1200" dirty="0"/>
              <a:t>.index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DDD9D5-FD5A-4363-BB71-BC880C845E67}"/>
              </a:ext>
            </a:extLst>
          </p:cNvPr>
          <p:cNvSpPr txBox="1"/>
          <p:nvPr/>
        </p:nvSpPr>
        <p:spPr>
          <a:xfrm>
            <a:off x="6026974" y="471121"/>
            <a:ext cx="2304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00000000000000000</a:t>
            </a:r>
            <a:r>
              <a:rPr lang="en-US" altLang="zh-CN" sz="1200" dirty="0"/>
              <a:t>000</a:t>
            </a:r>
            <a:r>
              <a:rPr lang="zh-CN" altLang="en-US" sz="1200" dirty="0"/>
              <a:t>.</a:t>
            </a:r>
            <a:r>
              <a:rPr lang="en-US" altLang="zh-CN" sz="1200" dirty="0"/>
              <a:t>log</a:t>
            </a:r>
            <a:endParaRPr lang="zh-CN" altLang="en-US" sz="1200" dirty="0"/>
          </a:p>
        </p:txBody>
      </p:sp>
      <p:cxnSp>
        <p:nvCxnSpPr>
          <p:cNvPr id="9" name="直线连接符 5">
            <a:extLst>
              <a:ext uri="{FF2B5EF4-FFF2-40B4-BE49-F238E27FC236}">
                <a16:creationId xmlns:a16="http://schemas.microsoft.com/office/drawing/2014/main" id="{84D40276-6CED-49F4-9BF1-33C1771D0EA6}"/>
              </a:ext>
            </a:extLst>
          </p:cNvPr>
          <p:cNvCxnSpPr/>
          <p:nvPr/>
        </p:nvCxnSpPr>
        <p:spPr>
          <a:xfrm>
            <a:off x="323528" y="771550"/>
            <a:ext cx="820891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2AE5DFE-B1C7-450D-B4EA-A340BBEA463B}"/>
              </a:ext>
            </a:extLst>
          </p:cNvPr>
          <p:cNvSpPr txBox="1"/>
          <p:nvPr/>
        </p:nvSpPr>
        <p:spPr>
          <a:xfrm>
            <a:off x="547849" y="468528"/>
            <a:ext cx="19672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Segement-0 [offset:0-521]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F61DEA-6C6A-4201-BA8B-58DC12531A5A}"/>
              </a:ext>
            </a:extLst>
          </p:cNvPr>
          <p:cNvSpPr txBox="1"/>
          <p:nvPr/>
        </p:nvSpPr>
        <p:spPr>
          <a:xfrm>
            <a:off x="559280" y="829989"/>
            <a:ext cx="21701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Segement-1 [offset:522-1004]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7A6040-9BA0-4FB0-8F62-AC88786A0F75}"/>
              </a:ext>
            </a:extLst>
          </p:cNvPr>
          <p:cNvSpPr txBox="1"/>
          <p:nvPr/>
        </p:nvSpPr>
        <p:spPr>
          <a:xfrm>
            <a:off x="2820781" y="4717000"/>
            <a:ext cx="2304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0000000000000000</a:t>
            </a:r>
            <a:r>
              <a:rPr lang="en-US" altLang="zh-CN" sz="1200" dirty="0"/>
              <a:t>1005</a:t>
            </a:r>
            <a:r>
              <a:rPr lang="zh-CN" altLang="en-US" sz="1200" dirty="0"/>
              <a:t>.index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B5BA5F-3E38-4B87-8B0B-9370386AA96E}"/>
              </a:ext>
            </a:extLst>
          </p:cNvPr>
          <p:cNvSpPr txBox="1"/>
          <p:nvPr/>
        </p:nvSpPr>
        <p:spPr>
          <a:xfrm>
            <a:off x="6026974" y="4716999"/>
            <a:ext cx="2304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0000000000000000</a:t>
            </a:r>
            <a:r>
              <a:rPr lang="en-US" altLang="zh-CN" sz="1200" dirty="0"/>
              <a:t>1005.log</a:t>
            </a:r>
            <a:endParaRPr lang="zh-CN" altLang="en-US" sz="1200" dirty="0"/>
          </a:p>
        </p:txBody>
      </p:sp>
      <p:cxnSp>
        <p:nvCxnSpPr>
          <p:cNvPr id="14" name="直线连接符 49">
            <a:extLst>
              <a:ext uri="{FF2B5EF4-FFF2-40B4-BE49-F238E27FC236}">
                <a16:creationId xmlns:a16="http://schemas.microsoft.com/office/drawing/2014/main" id="{385152C4-7D54-46D9-B327-90023805CAB3}"/>
              </a:ext>
            </a:extLst>
          </p:cNvPr>
          <p:cNvCxnSpPr/>
          <p:nvPr/>
        </p:nvCxnSpPr>
        <p:spPr>
          <a:xfrm>
            <a:off x="323528" y="4659982"/>
            <a:ext cx="820891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A398DD6-46BB-422D-9BF1-4D859CF18EC6}"/>
              </a:ext>
            </a:extLst>
          </p:cNvPr>
          <p:cNvSpPr txBox="1"/>
          <p:nvPr/>
        </p:nvSpPr>
        <p:spPr>
          <a:xfrm>
            <a:off x="559281" y="4718421"/>
            <a:ext cx="2078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Segement-2 [offset:1005-]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D8E8AD-B10A-48D3-B05F-4CCF62CE3BDE}"/>
              </a:ext>
            </a:extLst>
          </p:cNvPr>
          <p:cNvSpPr txBox="1"/>
          <p:nvPr/>
        </p:nvSpPr>
        <p:spPr>
          <a:xfrm>
            <a:off x="364555" y="2686196"/>
            <a:ext cx="1759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如何在</a:t>
            </a:r>
            <a:r>
              <a:rPr lang="en-US" altLang="zh-CN" sz="1200" dirty="0"/>
              <a:t>log</a:t>
            </a:r>
            <a:r>
              <a:rPr lang="zh-CN" altLang="en-US" sz="1200" dirty="0"/>
              <a:t>文件中定位到</a:t>
            </a:r>
            <a:r>
              <a:rPr lang="en-US" altLang="zh-CN" sz="1200" dirty="0">
                <a:solidFill>
                  <a:srgbClr val="FF0000"/>
                </a:solidFill>
              </a:rPr>
              <a:t>offset=600</a:t>
            </a:r>
            <a:r>
              <a:rPr lang="zh-CN" altLang="en-US" sz="1200" dirty="0"/>
              <a:t>的</a:t>
            </a:r>
            <a:r>
              <a:rPr lang="en-US" altLang="zh-CN" sz="1200" dirty="0"/>
              <a:t>Record</a:t>
            </a:r>
            <a:r>
              <a:rPr lang="zh-CN" altLang="en-US" sz="1200" dirty="0"/>
              <a:t>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23570F-ECA6-4139-BFDE-F9DABB423E54}"/>
              </a:ext>
            </a:extLst>
          </p:cNvPr>
          <p:cNvSpPr/>
          <p:nvPr/>
        </p:nvSpPr>
        <p:spPr>
          <a:xfrm>
            <a:off x="2843808" y="839040"/>
            <a:ext cx="2232248" cy="243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2E1ECF-900C-45BF-9755-30BE3AD01C28}"/>
              </a:ext>
            </a:extLst>
          </p:cNvPr>
          <p:cNvSpPr/>
          <p:nvPr/>
        </p:nvSpPr>
        <p:spPr>
          <a:xfrm>
            <a:off x="2735466" y="1364229"/>
            <a:ext cx="2480931" cy="2430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FFB91B-A38C-48C7-8FE5-776CD2A12B1D}"/>
              </a:ext>
            </a:extLst>
          </p:cNvPr>
          <p:cNvSpPr/>
          <p:nvPr/>
        </p:nvSpPr>
        <p:spPr>
          <a:xfrm>
            <a:off x="5880541" y="2608268"/>
            <a:ext cx="2609519" cy="26742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57">
            <a:extLst>
              <a:ext uri="{FF2B5EF4-FFF2-40B4-BE49-F238E27FC236}">
                <a16:creationId xmlns:a16="http://schemas.microsoft.com/office/drawing/2014/main" id="{394870B7-FE3C-4F7C-8692-4D2EDDB989A1}"/>
              </a:ext>
            </a:extLst>
          </p:cNvPr>
          <p:cNvCxnSpPr/>
          <p:nvPr/>
        </p:nvCxnSpPr>
        <p:spPr>
          <a:xfrm flipV="1">
            <a:off x="1244142" y="960588"/>
            <a:ext cx="1599666" cy="17256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58">
            <a:extLst>
              <a:ext uri="{FF2B5EF4-FFF2-40B4-BE49-F238E27FC236}">
                <a16:creationId xmlns:a16="http://schemas.microsoft.com/office/drawing/2014/main" id="{0987EAA2-6ADF-44DC-9DFE-16B5422AE621}"/>
              </a:ext>
            </a:extLst>
          </p:cNvPr>
          <p:cNvCxnSpPr>
            <a:cxnSpLocks/>
          </p:cNvCxnSpPr>
          <p:nvPr/>
        </p:nvCxnSpPr>
        <p:spPr>
          <a:xfrm>
            <a:off x="5125037" y="967068"/>
            <a:ext cx="91360" cy="518709"/>
          </a:xfrm>
          <a:prstGeom prst="bentConnector3">
            <a:avLst>
              <a:gd name="adj1" fmla="val 35021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59">
            <a:extLst>
              <a:ext uri="{FF2B5EF4-FFF2-40B4-BE49-F238E27FC236}">
                <a16:creationId xmlns:a16="http://schemas.microsoft.com/office/drawing/2014/main" id="{36DAF65B-9650-4138-8C35-5511EA2C1DE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216397" y="1485777"/>
            <a:ext cx="664144" cy="12562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下箭头 23">
            <a:extLst>
              <a:ext uri="{FF2B5EF4-FFF2-40B4-BE49-F238E27FC236}">
                <a16:creationId xmlns:a16="http://schemas.microsoft.com/office/drawing/2014/main" id="{4FB9C8A3-AC1B-45F4-97ED-81F26C8BA0E8}"/>
              </a:ext>
            </a:extLst>
          </p:cNvPr>
          <p:cNvSpPr/>
          <p:nvPr/>
        </p:nvSpPr>
        <p:spPr>
          <a:xfrm>
            <a:off x="8604448" y="2741979"/>
            <a:ext cx="216024" cy="33382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D99C2E-5F47-4A21-AF70-8006D2FB53EF}"/>
              </a:ext>
            </a:extLst>
          </p:cNvPr>
          <p:cNvSpPr txBox="1"/>
          <p:nvPr/>
        </p:nvSpPr>
        <p:spPr>
          <a:xfrm>
            <a:off x="1691680" y="1747581"/>
            <a:ext cx="2456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>
                <a:solidFill>
                  <a:srgbClr val="FF0000"/>
                </a:solidFill>
              </a:rPr>
              <a:t>1</a:t>
            </a:r>
            <a:endParaRPr kumimoji="1"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2FFB5DA-6371-48E2-AACA-88F11B7C03E3}"/>
              </a:ext>
            </a:extLst>
          </p:cNvPr>
          <p:cNvSpPr txBox="1"/>
          <p:nvPr/>
        </p:nvSpPr>
        <p:spPr>
          <a:xfrm>
            <a:off x="5421714" y="1082136"/>
            <a:ext cx="2456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>
                <a:solidFill>
                  <a:srgbClr val="FF0000"/>
                </a:solidFill>
              </a:rPr>
              <a:t>2</a:t>
            </a:r>
            <a:endParaRPr kumimoji="1"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D6E1006-DBE7-49DB-AE79-62657C4F9594}"/>
              </a:ext>
            </a:extLst>
          </p:cNvPr>
          <p:cNvSpPr txBox="1"/>
          <p:nvPr/>
        </p:nvSpPr>
        <p:spPr>
          <a:xfrm>
            <a:off x="5364088" y="2079025"/>
            <a:ext cx="2456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>
                <a:solidFill>
                  <a:srgbClr val="FF0000"/>
                </a:solidFill>
              </a:rPr>
              <a:t>3</a:t>
            </a:r>
            <a:endParaRPr kumimoji="1"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B09552E-7C51-4964-851C-BD305A806CA9}"/>
              </a:ext>
            </a:extLst>
          </p:cNvPr>
          <p:cNvSpPr txBox="1"/>
          <p:nvPr/>
        </p:nvSpPr>
        <p:spPr>
          <a:xfrm>
            <a:off x="8781744" y="2747402"/>
            <a:ext cx="2456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>
                <a:solidFill>
                  <a:srgbClr val="FF0000"/>
                </a:solidFill>
              </a:rPr>
              <a:t>4</a:t>
            </a:r>
            <a:endParaRPr kumimoji="1"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36B1D6D-A41B-4D71-B60C-50E4276465C2}"/>
              </a:ext>
            </a:extLst>
          </p:cNvPr>
          <p:cNvSpPr txBox="1"/>
          <p:nvPr/>
        </p:nvSpPr>
        <p:spPr>
          <a:xfrm>
            <a:off x="2480001" y="2388366"/>
            <a:ext cx="23080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>
                <a:solidFill>
                  <a:srgbClr val="FF0000"/>
                </a:solidFill>
              </a:rPr>
              <a:t>1.</a:t>
            </a:r>
            <a:r>
              <a:rPr kumimoji="1" lang="zh-CN" altLang="en-US" sz="1050" dirty="0">
                <a:solidFill>
                  <a:srgbClr val="FF0000"/>
                </a:solidFill>
              </a:rPr>
              <a:t>根据目标</a:t>
            </a:r>
            <a:r>
              <a:rPr kumimoji="1" lang="en-US" altLang="zh-CN" sz="1050" dirty="0">
                <a:solidFill>
                  <a:srgbClr val="FF0000"/>
                </a:solidFill>
              </a:rPr>
              <a:t>offset</a:t>
            </a:r>
            <a:r>
              <a:rPr kumimoji="1" lang="zh-CN" altLang="en-US" sz="1050" dirty="0">
                <a:solidFill>
                  <a:srgbClr val="FF0000"/>
                </a:solidFill>
              </a:rPr>
              <a:t>定位</a:t>
            </a:r>
            <a:r>
              <a:rPr kumimoji="1" lang="en-US" altLang="zh-CN" sz="1050" dirty="0">
                <a:solidFill>
                  <a:srgbClr val="FF0000"/>
                </a:solidFill>
              </a:rPr>
              <a:t>Segment</a:t>
            </a:r>
            <a:r>
              <a:rPr kumimoji="1" lang="zh-CN" altLang="en-US" sz="1050" dirty="0">
                <a:solidFill>
                  <a:srgbClr val="FF0000"/>
                </a:solidFill>
              </a:rPr>
              <a:t>文件</a:t>
            </a:r>
            <a:endParaRPr kumimoji="1" lang="en-US" altLang="zh-CN" sz="1050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1CB4B1B-A915-4142-B8AC-A32C5B312E91}"/>
              </a:ext>
            </a:extLst>
          </p:cNvPr>
          <p:cNvSpPr txBox="1"/>
          <p:nvPr/>
        </p:nvSpPr>
        <p:spPr>
          <a:xfrm>
            <a:off x="361344" y="3476525"/>
            <a:ext cx="500274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>
                <a:solidFill>
                  <a:srgbClr val="FF0000"/>
                </a:solidFill>
              </a:rPr>
              <a:t>注意：</a:t>
            </a:r>
            <a:endParaRPr kumimoji="1" lang="en-US" altLang="zh-CN" sz="1050" dirty="0">
              <a:solidFill>
                <a:srgbClr val="FF0000"/>
              </a:solidFill>
            </a:endParaRPr>
          </a:p>
          <a:p>
            <a:r>
              <a:rPr kumimoji="1" lang="en-US" altLang="zh-CN" sz="1050" dirty="0">
                <a:solidFill>
                  <a:srgbClr val="FF0000"/>
                </a:solidFill>
              </a:rPr>
              <a:t>1.index</a:t>
            </a:r>
            <a:r>
              <a:rPr kumimoji="1" lang="zh-CN" altLang="en-US" sz="1050" dirty="0">
                <a:solidFill>
                  <a:srgbClr val="FF0000"/>
                </a:solidFill>
              </a:rPr>
              <a:t>为稀疏索引，大约每往</a:t>
            </a:r>
            <a:r>
              <a:rPr kumimoji="1" lang="en-US" altLang="zh-CN" sz="1050" dirty="0">
                <a:solidFill>
                  <a:srgbClr val="FF0000"/>
                </a:solidFill>
              </a:rPr>
              <a:t>log</a:t>
            </a:r>
            <a:r>
              <a:rPr kumimoji="1" lang="zh-CN" altLang="en-US" sz="1050" dirty="0">
                <a:solidFill>
                  <a:srgbClr val="FF0000"/>
                </a:solidFill>
              </a:rPr>
              <a:t>文件写入</a:t>
            </a:r>
            <a:r>
              <a:rPr kumimoji="1" lang="en-US" altLang="zh-CN" sz="1050" dirty="0">
                <a:solidFill>
                  <a:srgbClr val="FF0000"/>
                </a:solidFill>
              </a:rPr>
              <a:t>4kb</a:t>
            </a:r>
            <a:r>
              <a:rPr kumimoji="1" lang="zh-CN" altLang="en-US" sz="1050" dirty="0">
                <a:solidFill>
                  <a:srgbClr val="FF0000"/>
                </a:solidFill>
              </a:rPr>
              <a:t>数据，会往</a:t>
            </a:r>
            <a:r>
              <a:rPr kumimoji="1" lang="en-US" altLang="zh-CN" sz="1050" dirty="0">
                <a:solidFill>
                  <a:srgbClr val="FF0000"/>
                </a:solidFill>
              </a:rPr>
              <a:t>index</a:t>
            </a:r>
            <a:r>
              <a:rPr kumimoji="1" lang="zh-CN" altLang="en-US" sz="1050" dirty="0">
                <a:solidFill>
                  <a:srgbClr val="FF0000"/>
                </a:solidFill>
              </a:rPr>
              <a:t>文件写入一条索引。参数</a:t>
            </a:r>
            <a:r>
              <a:rPr kumimoji="1" lang="en-US" altLang="zh-CN" sz="1050" dirty="0" err="1">
                <a:solidFill>
                  <a:srgbClr val="FF0000"/>
                </a:solidFill>
              </a:rPr>
              <a:t>log.index.interval.bytes</a:t>
            </a:r>
            <a:r>
              <a:rPr kumimoji="1" lang="zh-CN" altLang="en-US" sz="1050" dirty="0">
                <a:solidFill>
                  <a:srgbClr val="FF0000"/>
                </a:solidFill>
              </a:rPr>
              <a:t>默认</a:t>
            </a:r>
            <a:r>
              <a:rPr kumimoji="1" lang="en-US" altLang="zh-CN" sz="1050" dirty="0">
                <a:solidFill>
                  <a:srgbClr val="FF0000"/>
                </a:solidFill>
              </a:rPr>
              <a:t>4kb</a:t>
            </a:r>
            <a:r>
              <a:rPr kumimoji="1" lang="zh-CN" altLang="en-US" sz="1050" dirty="0">
                <a:solidFill>
                  <a:srgbClr val="FF0000"/>
                </a:solidFill>
              </a:rPr>
              <a:t>。</a:t>
            </a:r>
            <a:endParaRPr kumimoji="1" lang="en-US" altLang="zh-CN" sz="105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A70B272-A4FE-472A-930A-1F3057AE1A3C}"/>
              </a:ext>
            </a:extLst>
          </p:cNvPr>
          <p:cNvSpPr txBox="1"/>
          <p:nvPr/>
        </p:nvSpPr>
        <p:spPr>
          <a:xfrm>
            <a:off x="2480001" y="2629361"/>
            <a:ext cx="32348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2.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找到小于等于目标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offset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的最大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offset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对应的索引项</a:t>
            </a:r>
            <a:endParaRPr kumimoji="1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C110C92-776C-4F19-A18D-4BA5F95AE301}"/>
              </a:ext>
            </a:extLst>
          </p:cNvPr>
          <p:cNvSpPr txBox="1"/>
          <p:nvPr/>
        </p:nvSpPr>
        <p:spPr>
          <a:xfrm>
            <a:off x="2480001" y="2870356"/>
            <a:ext cx="2308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3.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定位到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log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文件</a:t>
            </a:r>
            <a:endParaRPr kumimoji="1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593500A-D28B-47DB-9D7E-3AF13ADC33C6}"/>
              </a:ext>
            </a:extLst>
          </p:cNvPr>
          <p:cNvSpPr txBox="1"/>
          <p:nvPr/>
        </p:nvSpPr>
        <p:spPr>
          <a:xfrm>
            <a:off x="2480001" y="3111352"/>
            <a:ext cx="20825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4.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向下遍历找到目标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Record</a:t>
            </a:r>
            <a:endParaRPr kumimoji="1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FBE2453-7B64-41CD-85BA-2C62C1D14D30}"/>
              </a:ext>
            </a:extLst>
          </p:cNvPr>
          <p:cNvSpPr txBox="1"/>
          <p:nvPr/>
        </p:nvSpPr>
        <p:spPr>
          <a:xfrm>
            <a:off x="361344" y="4102407"/>
            <a:ext cx="50027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2.Index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文件中保存的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offset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为相对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offset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，这样能确保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offset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的值所占空间不会过大，因此能将</a:t>
            </a:r>
            <a:r>
              <a:rPr kumimoji="1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offset</a:t>
            </a:r>
            <a:r>
              <a:rPr kumimoji="1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的值控制在固定大小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8731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5" grpId="0"/>
      <p:bldP spid="16" grpId="0"/>
      <p:bldP spid="17" grpId="0" animBg="1"/>
      <p:bldP spid="18" grpId="0" animBg="1"/>
      <p:bldP spid="19" grpId="0" animBg="1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C2C3F0F-CAA7-40B4-9C67-6F5F39792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950" y="2005012"/>
            <a:ext cx="4864100" cy="113347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2693139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A5CBEF76-8C37-4A68-8E24-F4B65EE9A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20584"/>
              </p:ext>
            </p:extLst>
          </p:nvPr>
        </p:nvGraphicFramePr>
        <p:xfrm>
          <a:off x="2004390" y="1171198"/>
          <a:ext cx="688809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88809">
                  <a:extLst>
                    <a:ext uri="{9D8B030D-6E8A-4147-A177-3AD203B41FA5}">
                      <a16:colId xmlns:a16="http://schemas.microsoft.com/office/drawing/2014/main" val="840595232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1716972765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3426357280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857752926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1903240019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1418055031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2717453774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470376615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3263983790"/>
                    </a:ext>
                  </a:extLst>
                </a:gridCol>
                <a:gridCol w="688809">
                  <a:extLst>
                    <a:ext uri="{9D8B030D-6E8A-4147-A177-3AD203B41FA5}">
                      <a16:colId xmlns:a16="http://schemas.microsoft.com/office/drawing/2014/main" val="1269118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Offset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03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key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K2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69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381"/>
                  </a:ext>
                </a:extLst>
              </a:tr>
            </a:tbl>
          </a:graphicData>
        </a:graphic>
      </p:graphicFrame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8D8CD7BE-E334-4BD8-9546-7ABA3D36C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138673"/>
              </p:ext>
            </p:extLst>
          </p:nvPr>
        </p:nvGraphicFramePr>
        <p:xfrm>
          <a:off x="2004390" y="2611358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2494285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92531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904813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744484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270212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087277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Offset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29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keys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92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values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477334"/>
                  </a:ext>
                </a:extLst>
              </a:tr>
            </a:tbl>
          </a:graphicData>
        </a:graphic>
      </p:graphicFrame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893F3AC-7B89-4B06-8086-6BAF0B35695E}"/>
              </a:ext>
            </a:extLst>
          </p:cNvPr>
          <p:cNvCxnSpPr>
            <a:cxnSpLocks/>
          </p:cNvCxnSpPr>
          <p:nvPr/>
        </p:nvCxnSpPr>
        <p:spPr>
          <a:xfrm flipH="1">
            <a:off x="3563888" y="2283718"/>
            <a:ext cx="1488502" cy="32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251CA04-AB83-48CF-97B5-AFF538BBB439}"/>
              </a:ext>
            </a:extLst>
          </p:cNvPr>
          <p:cNvCxnSpPr>
            <a:cxnSpLocks/>
          </p:cNvCxnSpPr>
          <p:nvPr/>
        </p:nvCxnSpPr>
        <p:spPr>
          <a:xfrm flipH="1">
            <a:off x="4620342" y="2283718"/>
            <a:ext cx="1103786" cy="32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0E66827-4776-450F-9BEF-5166C5B34382}"/>
              </a:ext>
            </a:extLst>
          </p:cNvPr>
          <p:cNvCxnSpPr>
            <a:cxnSpLocks/>
          </p:cNvCxnSpPr>
          <p:nvPr/>
        </p:nvCxnSpPr>
        <p:spPr>
          <a:xfrm flipH="1">
            <a:off x="5580114" y="2283718"/>
            <a:ext cx="864094" cy="32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B9B55C2-1089-4FBD-B98B-FA23459E7559}"/>
              </a:ext>
            </a:extLst>
          </p:cNvPr>
          <p:cNvCxnSpPr>
            <a:cxnSpLocks/>
          </p:cNvCxnSpPr>
          <p:nvPr/>
        </p:nvCxnSpPr>
        <p:spPr>
          <a:xfrm flipH="1">
            <a:off x="6611888" y="2283718"/>
            <a:ext cx="1248306" cy="32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CACE8BB-0CE4-4DAB-A6EF-E17FB9999A60}"/>
              </a:ext>
            </a:extLst>
          </p:cNvPr>
          <p:cNvCxnSpPr>
            <a:cxnSpLocks/>
          </p:cNvCxnSpPr>
          <p:nvPr/>
        </p:nvCxnSpPr>
        <p:spPr>
          <a:xfrm flipH="1">
            <a:off x="7596336" y="2283718"/>
            <a:ext cx="948190" cy="32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916B4C1-2ECD-4561-87DE-79A52BBBDB9B}"/>
              </a:ext>
            </a:extLst>
          </p:cNvPr>
          <p:cNvSpPr txBox="1"/>
          <p:nvPr/>
        </p:nvSpPr>
        <p:spPr>
          <a:xfrm>
            <a:off x="467544" y="1573569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dirty="0"/>
              <a:t>压缩之前的数据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8498BA-D145-47B2-9B33-CF322DCD1F93}"/>
              </a:ext>
            </a:extLst>
          </p:cNvPr>
          <p:cNvSpPr txBox="1"/>
          <p:nvPr/>
        </p:nvSpPr>
        <p:spPr>
          <a:xfrm>
            <a:off x="467544" y="2996983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dirty="0"/>
              <a:t>压缩之后的数据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F573FE-56BF-4F03-AA6D-D283D503480F}"/>
              </a:ext>
            </a:extLst>
          </p:cNvPr>
          <p:cNvSpPr txBox="1"/>
          <p:nvPr/>
        </p:nvSpPr>
        <p:spPr>
          <a:xfrm>
            <a:off x="512023" y="396767"/>
            <a:ext cx="5788170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compact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日志压缩：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对于相同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key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的不同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值，只保留最后一个版本。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EC05AE-BE61-464A-832C-9730FF8300FA}"/>
              </a:ext>
            </a:extLst>
          </p:cNvPr>
          <p:cNvSpPr txBox="1"/>
          <p:nvPr/>
        </p:nvSpPr>
        <p:spPr>
          <a:xfrm>
            <a:off x="251520" y="3705034"/>
            <a:ext cx="8640960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压缩后的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可能是不连续的，比如上图中没有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，当从这些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消费消息时，将会拿到比这个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大的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对应的消息，实际上会拿到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的消息，并从这个位置开始消费。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FEA213-CF5A-47EA-877E-25AA590F8E33}"/>
              </a:ext>
            </a:extLst>
          </p:cNvPr>
          <p:cNvSpPr txBox="1"/>
          <p:nvPr/>
        </p:nvSpPr>
        <p:spPr>
          <a:xfrm>
            <a:off x="251520" y="4430875"/>
            <a:ext cx="8640960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这种策略只适合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特殊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场景，比如消息的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key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是用户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ID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是用户的资料，通过这种压缩策略，整个消息集里就保存了所有用户最新的资料。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AFD99-DB55-4950-9402-62D56D68D255}"/>
              </a:ext>
            </a:extLst>
          </p:cNvPr>
          <p:cNvSpPr txBox="1"/>
          <p:nvPr/>
        </p:nvSpPr>
        <p:spPr>
          <a:xfrm>
            <a:off x="541883" y="675971"/>
            <a:ext cx="4572000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log.cleanup.policy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compact 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所有数据启用压缩策略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151F60-11F8-40D6-BCA6-FE88A7A6AFE8}"/>
              </a:ext>
            </a:extLst>
          </p:cNvPr>
          <p:cNvSpPr txBox="1"/>
          <p:nvPr/>
        </p:nvSpPr>
        <p:spPr>
          <a:xfrm>
            <a:off x="491559" y="23752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compact</a:t>
            </a:r>
            <a:r>
              <a:rPr lang="zh-CN" altLang="en-US" sz="1800" dirty="0">
                <a:solidFill>
                  <a:srgbClr val="FF0000"/>
                </a:solidFill>
              </a:rPr>
              <a:t>日志压缩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21273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67D2A74-9602-4824-AAE2-0F7142582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145919"/>
            <a:ext cx="6458585" cy="285166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5024612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>
            <a:extLst>
              <a:ext uri="{FF2B5EF4-FFF2-40B4-BE49-F238E27FC236}">
                <a16:creationId xmlns:a16="http://schemas.microsoft.com/office/drawing/2014/main" id="{6F9798EE-079D-4F27-AE3D-FFC2E9E8C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" y="0"/>
            <a:ext cx="9123959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0252149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26EBB5-FA93-4089-AC3D-E9AF0FC2E36B}"/>
              </a:ext>
            </a:extLst>
          </p:cNvPr>
          <p:cNvSpPr/>
          <p:nvPr/>
        </p:nvSpPr>
        <p:spPr>
          <a:xfrm>
            <a:off x="4527213" y="699542"/>
            <a:ext cx="2520280" cy="43204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F01476-6F96-489A-9E56-011CD5C1C53C}"/>
              </a:ext>
            </a:extLst>
          </p:cNvPr>
          <p:cNvSpPr/>
          <p:nvPr/>
        </p:nvSpPr>
        <p:spPr>
          <a:xfrm>
            <a:off x="4733737" y="1131590"/>
            <a:ext cx="2097732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600E14-28AE-4FC2-A7A4-C3B8913D7B0D}"/>
              </a:ext>
            </a:extLst>
          </p:cNvPr>
          <p:cNvSpPr/>
          <p:nvPr/>
        </p:nvSpPr>
        <p:spPr>
          <a:xfrm>
            <a:off x="4733737" y="2427734"/>
            <a:ext cx="2097732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C676E3-06B3-4B65-BFBB-8218A3951EBE}"/>
              </a:ext>
            </a:extLst>
          </p:cNvPr>
          <p:cNvSpPr/>
          <p:nvPr/>
        </p:nvSpPr>
        <p:spPr>
          <a:xfrm>
            <a:off x="4733737" y="3723878"/>
            <a:ext cx="2097732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B7C4F1-3C59-42E9-BBB7-ADD0C08CC7C7}"/>
              </a:ext>
            </a:extLst>
          </p:cNvPr>
          <p:cNvSpPr txBox="1"/>
          <p:nvPr/>
        </p:nvSpPr>
        <p:spPr>
          <a:xfrm>
            <a:off x="5164702" y="745511"/>
            <a:ext cx="123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9A1E61-44ED-42D0-871E-1A4263C360BE}"/>
              </a:ext>
            </a:extLst>
          </p:cNvPr>
          <p:cNvSpPr txBox="1"/>
          <p:nvPr/>
        </p:nvSpPr>
        <p:spPr>
          <a:xfrm>
            <a:off x="4733738" y="1126052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26E392-18BC-4FDE-81B6-8926F599A207}"/>
              </a:ext>
            </a:extLst>
          </p:cNvPr>
          <p:cNvSpPr txBox="1"/>
          <p:nvPr/>
        </p:nvSpPr>
        <p:spPr>
          <a:xfrm>
            <a:off x="4733737" y="242600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2ED80C-60A5-4F00-AEA7-F9DF4CD6F930}"/>
              </a:ext>
            </a:extLst>
          </p:cNvPr>
          <p:cNvSpPr txBox="1"/>
          <p:nvPr/>
        </p:nvSpPr>
        <p:spPr>
          <a:xfrm>
            <a:off x="4733737" y="374045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DC7126-8F14-4F92-AD37-3F42C8022E33}"/>
              </a:ext>
            </a:extLst>
          </p:cNvPr>
          <p:cNvSpPr/>
          <p:nvPr/>
        </p:nvSpPr>
        <p:spPr>
          <a:xfrm>
            <a:off x="4805745" y="1426673"/>
            <a:ext cx="1956816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329283-83A6-41F8-A517-FCD4CB43AB36}"/>
              </a:ext>
            </a:extLst>
          </p:cNvPr>
          <p:cNvSpPr txBox="1"/>
          <p:nvPr/>
        </p:nvSpPr>
        <p:spPr>
          <a:xfrm>
            <a:off x="4818341" y="1487830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TopicA-partition0-leader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A587B5-CE7D-4B80-BA0B-3570ABDCDC1B}"/>
              </a:ext>
            </a:extLst>
          </p:cNvPr>
          <p:cNvSpPr/>
          <p:nvPr/>
        </p:nvSpPr>
        <p:spPr>
          <a:xfrm>
            <a:off x="4805745" y="2760416"/>
            <a:ext cx="1956816" cy="736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6D44A3-D0C2-4D3C-B295-9BE92E6AFE85}"/>
              </a:ext>
            </a:extLst>
          </p:cNvPr>
          <p:cNvSpPr/>
          <p:nvPr/>
        </p:nvSpPr>
        <p:spPr>
          <a:xfrm>
            <a:off x="4805743" y="4074745"/>
            <a:ext cx="1956816" cy="736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CC845D-BE5F-410D-9365-83455EE67059}"/>
              </a:ext>
            </a:extLst>
          </p:cNvPr>
          <p:cNvSpPr txBox="1"/>
          <p:nvPr/>
        </p:nvSpPr>
        <p:spPr>
          <a:xfrm>
            <a:off x="4818341" y="2787774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TopicA-partition1-leader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A6BA07-C86A-4EE2-8686-9F74C53AD4E3}"/>
              </a:ext>
            </a:extLst>
          </p:cNvPr>
          <p:cNvSpPr txBox="1"/>
          <p:nvPr/>
        </p:nvSpPr>
        <p:spPr>
          <a:xfrm>
            <a:off x="4818341" y="4087839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TopicA-partition2-leader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6A0826-CD39-4291-9092-D46E7330289C}"/>
              </a:ext>
            </a:extLst>
          </p:cNvPr>
          <p:cNvSpPr/>
          <p:nvPr/>
        </p:nvSpPr>
        <p:spPr>
          <a:xfrm>
            <a:off x="4954511" y="179499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2C29B3-070B-480A-B6A6-57274DB8713B}"/>
              </a:ext>
            </a:extLst>
          </p:cNvPr>
          <p:cNvSpPr/>
          <p:nvPr/>
        </p:nvSpPr>
        <p:spPr>
          <a:xfrm>
            <a:off x="5252043" y="179909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E7AE60-BA36-4352-84C2-68595CBF7437}"/>
              </a:ext>
            </a:extLst>
          </p:cNvPr>
          <p:cNvSpPr/>
          <p:nvPr/>
        </p:nvSpPr>
        <p:spPr>
          <a:xfrm>
            <a:off x="5549575" y="18010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0DC98A-8BBE-4A7F-82EA-04395EDE6FE7}"/>
              </a:ext>
            </a:extLst>
          </p:cNvPr>
          <p:cNvSpPr/>
          <p:nvPr/>
        </p:nvSpPr>
        <p:spPr>
          <a:xfrm>
            <a:off x="5842736" y="179926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3A8C26-E551-47B1-A9A1-58B3EDDC4FBC}"/>
              </a:ext>
            </a:extLst>
          </p:cNvPr>
          <p:cNvSpPr/>
          <p:nvPr/>
        </p:nvSpPr>
        <p:spPr>
          <a:xfrm>
            <a:off x="6140268" y="1803245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460DB4-1135-4A78-9E0D-4F7D63A05B8F}"/>
              </a:ext>
            </a:extLst>
          </p:cNvPr>
          <p:cNvSpPr/>
          <p:nvPr/>
        </p:nvSpPr>
        <p:spPr>
          <a:xfrm>
            <a:off x="6436845" y="180802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CD92F9-C1E5-41BA-947E-C3340EA6A176}"/>
              </a:ext>
            </a:extLst>
          </p:cNvPr>
          <p:cNvSpPr/>
          <p:nvPr/>
        </p:nvSpPr>
        <p:spPr>
          <a:xfrm>
            <a:off x="4957470" y="31128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B20EF4-DA0C-4B80-80BE-F92C38BB7C6D}"/>
              </a:ext>
            </a:extLst>
          </p:cNvPr>
          <p:cNvSpPr/>
          <p:nvPr/>
        </p:nvSpPr>
        <p:spPr>
          <a:xfrm>
            <a:off x="5255002" y="31169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700C38-772A-4D03-AC4A-8FF3D9B29606}"/>
              </a:ext>
            </a:extLst>
          </p:cNvPr>
          <p:cNvSpPr/>
          <p:nvPr/>
        </p:nvSpPr>
        <p:spPr>
          <a:xfrm>
            <a:off x="5552534" y="311883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392085-5323-4610-A9B9-2118C2132C54}"/>
              </a:ext>
            </a:extLst>
          </p:cNvPr>
          <p:cNvSpPr/>
          <p:nvPr/>
        </p:nvSpPr>
        <p:spPr>
          <a:xfrm>
            <a:off x="5845695" y="311707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53F439-9C51-4C2E-A038-70CF15907004}"/>
              </a:ext>
            </a:extLst>
          </p:cNvPr>
          <p:cNvSpPr/>
          <p:nvPr/>
        </p:nvSpPr>
        <p:spPr>
          <a:xfrm>
            <a:off x="4987614" y="442317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1378E2-7368-42FC-877C-B0D2E8E60CCC}"/>
              </a:ext>
            </a:extLst>
          </p:cNvPr>
          <p:cNvSpPr/>
          <p:nvPr/>
        </p:nvSpPr>
        <p:spPr>
          <a:xfrm>
            <a:off x="5285146" y="442727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0FFDFCC-4ED3-457E-8529-4FF0BEA7F1EB}"/>
              </a:ext>
            </a:extLst>
          </p:cNvPr>
          <p:cNvSpPr/>
          <p:nvPr/>
        </p:nvSpPr>
        <p:spPr>
          <a:xfrm>
            <a:off x="5582678" y="442920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2A4DA3A-103F-4453-B8E8-CAFDD2C0DAC3}"/>
              </a:ext>
            </a:extLst>
          </p:cNvPr>
          <p:cNvSpPr/>
          <p:nvPr/>
        </p:nvSpPr>
        <p:spPr>
          <a:xfrm>
            <a:off x="5875839" y="442744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52DDFC-CE36-4667-88CD-3343AA1C4DA7}"/>
              </a:ext>
            </a:extLst>
          </p:cNvPr>
          <p:cNvSpPr/>
          <p:nvPr/>
        </p:nvSpPr>
        <p:spPr>
          <a:xfrm>
            <a:off x="6173371" y="44314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310BC7-677F-455C-A941-B891E59F324C}"/>
              </a:ext>
            </a:extLst>
          </p:cNvPr>
          <p:cNvSpPr/>
          <p:nvPr/>
        </p:nvSpPr>
        <p:spPr>
          <a:xfrm>
            <a:off x="7574019" y="1659229"/>
            <a:ext cx="1102437" cy="2880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8C3778E-E046-4CD6-AAD8-3140C7DE0BBB}"/>
              </a:ext>
            </a:extLst>
          </p:cNvPr>
          <p:cNvSpPr/>
          <p:nvPr/>
        </p:nvSpPr>
        <p:spPr>
          <a:xfrm>
            <a:off x="7557245" y="2980848"/>
            <a:ext cx="1102437" cy="2880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CB3036-B846-4A40-966C-F4C1EA71902B}"/>
              </a:ext>
            </a:extLst>
          </p:cNvPr>
          <p:cNvSpPr/>
          <p:nvPr/>
        </p:nvSpPr>
        <p:spPr>
          <a:xfrm>
            <a:off x="7557245" y="4294584"/>
            <a:ext cx="1102437" cy="2880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F3C1021-CA58-42D9-85AF-75C35D159DFA}"/>
              </a:ext>
            </a:extLst>
          </p:cNvPr>
          <p:cNvCxnSpPr>
            <a:stCxn id="10" idx="3"/>
            <a:endCxn id="31" idx="1"/>
          </p:cNvCxnSpPr>
          <p:nvPr/>
        </p:nvCxnSpPr>
        <p:spPr>
          <a:xfrm>
            <a:off x="6762561" y="1794998"/>
            <a:ext cx="811458" cy="8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21612D8-8C7A-44D0-AC1C-D32D4A6A3B40}"/>
              </a:ext>
            </a:extLst>
          </p:cNvPr>
          <p:cNvCxnSpPr>
            <a:cxnSpLocks/>
            <a:stCxn id="12" idx="3"/>
            <a:endCxn id="32" idx="1"/>
          </p:cNvCxnSpPr>
          <p:nvPr/>
        </p:nvCxnSpPr>
        <p:spPr>
          <a:xfrm flipV="1">
            <a:off x="6762561" y="3124864"/>
            <a:ext cx="794684" cy="3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696E97C-60E4-4677-9210-243D5DFD8CE9}"/>
              </a:ext>
            </a:extLst>
          </p:cNvPr>
          <p:cNvCxnSpPr>
            <a:stCxn id="13" idx="3"/>
            <a:endCxn id="33" idx="1"/>
          </p:cNvCxnSpPr>
          <p:nvPr/>
        </p:nvCxnSpPr>
        <p:spPr>
          <a:xfrm flipV="1">
            <a:off x="6762559" y="4438600"/>
            <a:ext cx="794686" cy="4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1CE1C90-6786-405E-8D18-F65B058ECA10}"/>
              </a:ext>
            </a:extLst>
          </p:cNvPr>
          <p:cNvSpPr txBox="1"/>
          <p:nvPr/>
        </p:nvSpPr>
        <p:spPr>
          <a:xfrm>
            <a:off x="135461" y="473147"/>
            <a:ext cx="1772241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pull</a:t>
            </a: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（拉）模式</a:t>
            </a:r>
            <a:r>
              <a:rPr lang="zh-CN" altLang="en-US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zh-CN" sz="1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AC258F1-C5B6-4C1D-9148-1C1622BDCD30}"/>
              </a:ext>
            </a:extLst>
          </p:cNvPr>
          <p:cNvSpPr txBox="1"/>
          <p:nvPr/>
        </p:nvSpPr>
        <p:spPr>
          <a:xfrm>
            <a:off x="467543" y="0"/>
            <a:ext cx="243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Kafka </a:t>
            </a:r>
            <a:r>
              <a:rPr lang="zh-CN" altLang="en-US" dirty="0">
                <a:solidFill>
                  <a:srgbClr val="FF0000"/>
                </a:solidFill>
              </a:rPr>
              <a:t>消费方式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CF117EE-5E79-4311-B15C-C62603056834}"/>
              </a:ext>
            </a:extLst>
          </p:cNvPr>
          <p:cNvSpPr txBox="1"/>
          <p:nvPr/>
        </p:nvSpPr>
        <p:spPr>
          <a:xfrm>
            <a:off x="7333149" y="1264551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消费速度：</a:t>
            </a:r>
            <a:r>
              <a:rPr lang="en-US" altLang="zh-CN" sz="1400" dirty="0"/>
              <a:t>10m/s</a:t>
            </a:r>
            <a:endParaRPr lang="zh-CN" altLang="en-US" sz="14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30A5129-3470-40DB-88DD-611657CB642C}"/>
              </a:ext>
            </a:extLst>
          </p:cNvPr>
          <p:cNvSpPr txBox="1"/>
          <p:nvPr/>
        </p:nvSpPr>
        <p:spPr>
          <a:xfrm>
            <a:off x="7333149" y="2574410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消费速度：</a:t>
            </a:r>
            <a:r>
              <a:rPr lang="en-US" altLang="zh-CN" sz="1400" dirty="0"/>
              <a:t>20m/s</a:t>
            </a:r>
            <a:endParaRPr lang="zh-CN" altLang="en-US" sz="14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2768D4C-078C-4FCB-9435-C2EF78A8F074}"/>
              </a:ext>
            </a:extLst>
          </p:cNvPr>
          <p:cNvSpPr txBox="1"/>
          <p:nvPr/>
        </p:nvSpPr>
        <p:spPr>
          <a:xfrm>
            <a:off x="7333932" y="3940054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消费速度：</a:t>
            </a:r>
            <a:r>
              <a:rPr lang="en-US" altLang="zh-CN" sz="1400" dirty="0"/>
              <a:t>50m/s</a:t>
            </a:r>
            <a:endParaRPr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216F35B-2066-4C2D-984B-018D0D12CFDD}"/>
              </a:ext>
            </a:extLst>
          </p:cNvPr>
          <p:cNvSpPr txBox="1"/>
          <p:nvPr/>
        </p:nvSpPr>
        <p:spPr>
          <a:xfrm>
            <a:off x="144028" y="1499054"/>
            <a:ext cx="1781825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push</a:t>
            </a: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（推）模式</a:t>
            </a:r>
            <a:r>
              <a:rPr lang="zh-CN" altLang="en-US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5C9F6DA-5979-4645-870D-8DADA2748CE7}"/>
              </a:ext>
            </a:extLst>
          </p:cNvPr>
          <p:cNvSpPr txBox="1"/>
          <p:nvPr/>
        </p:nvSpPr>
        <p:spPr>
          <a:xfrm>
            <a:off x="135461" y="800637"/>
            <a:ext cx="3663615" cy="69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consumer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采用从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主动拉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取数据。</a:t>
            </a:r>
            <a:r>
              <a:rPr lang="en-US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采用这种方式。</a:t>
            </a:r>
            <a:endParaRPr lang="zh-CN" altLang="en-US" sz="14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1419DAF-095E-43DE-A873-417AEA2040AD}"/>
              </a:ext>
            </a:extLst>
          </p:cNvPr>
          <p:cNvSpPr txBox="1"/>
          <p:nvPr/>
        </p:nvSpPr>
        <p:spPr>
          <a:xfrm>
            <a:off x="162113" y="1879822"/>
            <a:ext cx="3622029" cy="134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Kafka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没有采用这种方式，因为</a:t>
            </a:r>
            <a:r>
              <a:rPr lang="zh-CN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broker</a:t>
            </a:r>
            <a:r>
              <a:rPr lang="zh-CN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决定消息发送速率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很难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适应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消费者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的消费速率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例如推送的速度是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50m/s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Consumer1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Consumer2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就来不及处理消息。</a:t>
            </a:r>
            <a:endParaRPr lang="zh-CN" altLang="en-US" sz="14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07C66D1-8807-4BC1-888E-F3A873C172E3}"/>
              </a:ext>
            </a:extLst>
          </p:cNvPr>
          <p:cNvSpPr txBox="1"/>
          <p:nvPr/>
        </p:nvSpPr>
        <p:spPr>
          <a:xfrm>
            <a:off x="166410" y="3351611"/>
            <a:ext cx="3559215" cy="102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pull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模式不足之处是，如果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没有数据，消费者可能会陷入循环中，一直返回空数据。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789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 animBg="1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7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DA63A1C-BC56-4366-8E1B-07DD3DAD9A12}"/>
              </a:ext>
            </a:extLst>
          </p:cNvPr>
          <p:cNvSpPr txBox="1"/>
          <p:nvPr/>
        </p:nvSpPr>
        <p:spPr>
          <a:xfrm>
            <a:off x="467543" y="0"/>
            <a:ext cx="323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Kafka </a:t>
            </a:r>
            <a:r>
              <a:rPr lang="zh-CN" altLang="en-US" dirty="0">
                <a:solidFill>
                  <a:srgbClr val="FF0000"/>
                </a:solidFill>
              </a:rPr>
              <a:t>消费者总体工作流程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D580F1-A0F1-45AD-B0DF-E2C2AD749948}"/>
              </a:ext>
            </a:extLst>
          </p:cNvPr>
          <p:cNvSpPr/>
          <p:nvPr/>
        </p:nvSpPr>
        <p:spPr>
          <a:xfrm>
            <a:off x="35496" y="2984725"/>
            <a:ext cx="82352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BA80F-C97D-48D5-93D2-FEDFEB741283}"/>
              </a:ext>
            </a:extLst>
          </p:cNvPr>
          <p:cNvSpPr/>
          <p:nvPr/>
        </p:nvSpPr>
        <p:spPr>
          <a:xfrm>
            <a:off x="1187624" y="555526"/>
            <a:ext cx="6192688" cy="44644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A19E9A-CB8F-49A4-96B2-B445CF84CA5B}"/>
              </a:ext>
            </a:extLst>
          </p:cNvPr>
          <p:cNvSpPr/>
          <p:nvPr/>
        </p:nvSpPr>
        <p:spPr>
          <a:xfrm>
            <a:off x="1322140" y="1131590"/>
            <a:ext cx="5914156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27777F-A04F-488F-83DE-5928EE8C9E4F}"/>
              </a:ext>
            </a:extLst>
          </p:cNvPr>
          <p:cNvSpPr/>
          <p:nvPr/>
        </p:nvSpPr>
        <p:spPr>
          <a:xfrm>
            <a:off x="1322140" y="2427734"/>
            <a:ext cx="5914156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089973-9F58-4998-A7FE-13B0D95DE1BD}"/>
              </a:ext>
            </a:extLst>
          </p:cNvPr>
          <p:cNvSpPr/>
          <p:nvPr/>
        </p:nvSpPr>
        <p:spPr>
          <a:xfrm>
            <a:off x="1322140" y="3723878"/>
            <a:ext cx="5914156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D2FF3B-6A5B-4385-9E04-2F5310449BF1}"/>
              </a:ext>
            </a:extLst>
          </p:cNvPr>
          <p:cNvSpPr txBox="1"/>
          <p:nvPr/>
        </p:nvSpPr>
        <p:spPr>
          <a:xfrm>
            <a:off x="1350708" y="618242"/>
            <a:ext cx="155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Kafka cluster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7BDA36-2C0B-47C5-AC3D-B89C416C05CE}"/>
              </a:ext>
            </a:extLst>
          </p:cNvPr>
          <p:cNvSpPr txBox="1"/>
          <p:nvPr/>
        </p:nvSpPr>
        <p:spPr>
          <a:xfrm>
            <a:off x="1322141" y="1126052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161B59-E2B7-4B3B-9FEA-8972BD798C77}"/>
              </a:ext>
            </a:extLst>
          </p:cNvPr>
          <p:cNvSpPr txBox="1"/>
          <p:nvPr/>
        </p:nvSpPr>
        <p:spPr>
          <a:xfrm>
            <a:off x="1322140" y="242600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F19D40-5584-4A47-8623-46FFF7AB445A}"/>
              </a:ext>
            </a:extLst>
          </p:cNvPr>
          <p:cNvSpPr txBox="1"/>
          <p:nvPr/>
        </p:nvSpPr>
        <p:spPr>
          <a:xfrm>
            <a:off x="1322140" y="374045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0981B7-3913-40F3-8329-66F602078925}"/>
              </a:ext>
            </a:extLst>
          </p:cNvPr>
          <p:cNvSpPr/>
          <p:nvPr/>
        </p:nvSpPr>
        <p:spPr>
          <a:xfrm>
            <a:off x="1394148" y="1426673"/>
            <a:ext cx="1956816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D90C4D-FDA2-4DA9-8FC7-34F0BF606C82}"/>
              </a:ext>
            </a:extLst>
          </p:cNvPr>
          <p:cNvSpPr txBox="1"/>
          <p:nvPr/>
        </p:nvSpPr>
        <p:spPr>
          <a:xfrm>
            <a:off x="1406744" y="1487830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TopicA-partition0-</a:t>
            </a:r>
            <a:r>
              <a:rPr lang="en-US" altLang="zh-CN" sz="1200" b="1" dirty="0">
                <a:solidFill>
                  <a:srgbClr val="FF0000"/>
                </a:solidFill>
              </a:rPr>
              <a:t>leader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366710-3995-40BF-B064-41F59833CE4F}"/>
              </a:ext>
            </a:extLst>
          </p:cNvPr>
          <p:cNvSpPr/>
          <p:nvPr/>
        </p:nvSpPr>
        <p:spPr>
          <a:xfrm>
            <a:off x="1394148" y="2760416"/>
            <a:ext cx="1956816" cy="736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45A0DE-C4C8-4270-9FCC-C2996AE5CA18}"/>
              </a:ext>
            </a:extLst>
          </p:cNvPr>
          <p:cNvSpPr/>
          <p:nvPr/>
        </p:nvSpPr>
        <p:spPr>
          <a:xfrm>
            <a:off x="1394146" y="4074745"/>
            <a:ext cx="1956816" cy="736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0706D4-8C9B-48B8-A572-5C7CD35145CD}"/>
              </a:ext>
            </a:extLst>
          </p:cNvPr>
          <p:cNvSpPr txBox="1"/>
          <p:nvPr/>
        </p:nvSpPr>
        <p:spPr>
          <a:xfrm>
            <a:off x="1406744" y="2787774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TopicA-partition1-</a:t>
            </a:r>
            <a:r>
              <a:rPr lang="en-US" altLang="zh-CN" sz="1200" b="1" dirty="0">
                <a:solidFill>
                  <a:srgbClr val="FF0000"/>
                </a:solidFill>
              </a:rPr>
              <a:t>leader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A6FD41-4158-4E28-AF1E-4D0F71310862}"/>
              </a:ext>
            </a:extLst>
          </p:cNvPr>
          <p:cNvSpPr txBox="1"/>
          <p:nvPr/>
        </p:nvSpPr>
        <p:spPr>
          <a:xfrm>
            <a:off x="1406744" y="4087839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TopicA-partition2-</a:t>
            </a:r>
            <a:r>
              <a:rPr lang="en-US" altLang="zh-CN" sz="1200" b="1" dirty="0">
                <a:solidFill>
                  <a:srgbClr val="FF0000"/>
                </a:solidFill>
              </a:rPr>
              <a:t>leader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80867D-D2A5-4699-B81F-0D1F19358FDC}"/>
              </a:ext>
            </a:extLst>
          </p:cNvPr>
          <p:cNvSpPr/>
          <p:nvPr/>
        </p:nvSpPr>
        <p:spPr>
          <a:xfrm>
            <a:off x="3707409" y="1426673"/>
            <a:ext cx="1869373" cy="736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5346526-3B10-4CA4-AE21-C2E30F52405D}"/>
              </a:ext>
            </a:extLst>
          </p:cNvPr>
          <p:cNvSpPr txBox="1"/>
          <p:nvPr/>
        </p:nvSpPr>
        <p:spPr>
          <a:xfrm>
            <a:off x="3707408" y="1487830"/>
            <a:ext cx="2082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TopicA-partition1-follower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247C72-F7CB-4D32-AED5-562D8FDF6B07}"/>
              </a:ext>
            </a:extLst>
          </p:cNvPr>
          <p:cNvSpPr/>
          <p:nvPr/>
        </p:nvSpPr>
        <p:spPr>
          <a:xfrm>
            <a:off x="3707409" y="2762116"/>
            <a:ext cx="1869373" cy="736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6A0E0F-7458-4D9E-88D8-AA8FC286D29B}"/>
              </a:ext>
            </a:extLst>
          </p:cNvPr>
          <p:cNvSpPr txBox="1"/>
          <p:nvPr/>
        </p:nvSpPr>
        <p:spPr>
          <a:xfrm>
            <a:off x="3707409" y="2789474"/>
            <a:ext cx="2082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TopicA-partition2-follower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506971-4E05-4A46-A33A-E01FFD5CF40D}"/>
              </a:ext>
            </a:extLst>
          </p:cNvPr>
          <p:cNvSpPr/>
          <p:nvPr/>
        </p:nvSpPr>
        <p:spPr>
          <a:xfrm>
            <a:off x="3703154" y="4074745"/>
            <a:ext cx="1869373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54F3A5-C343-4653-A690-039D1EE35891}"/>
              </a:ext>
            </a:extLst>
          </p:cNvPr>
          <p:cNvSpPr txBox="1"/>
          <p:nvPr/>
        </p:nvSpPr>
        <p:spPr>
          <a:xfrm>
            <a:off x="3703154" y="4135902"/>
            <a:ext cx="2086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TopicA-partition0-follower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091EE71-9559-448E-A6DF-0196515E6BED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859018" y="1794998"/>
            <a:ext cx="535130" cy="13337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7D1889F-0495-4F78-8C2E-A54C050C078B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859018" y="3128741"/>
            <a:ext cx="53513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EABCC5F-3500-44EB-AE06-3DDDAB22CF7C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>
            <a:off x="859018" y="3128741"/>
            <a:ext cx="535128" cy="13143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FC726BC2-DD35-4910-B286-1095B5C1E3B6}"/>
              </a:ext>
            </a:extLst>
          </p:cNvPr>
          <p:cNvSpPr/>
          <p:nvPr/>
        </p:nvSpPr>
        <p:spPr>
          <a:xfrm>
            <a:off x="1542914" y="179499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1F1C9B6-B7BA-4246-81A1-0E1708624FCA}"/>
              </a:ext>
            </a:extLst>
          </p:cNvPr>
          <p:cNvSpPr/>
          <p:nvPr/>
        </p:nvSpPr>
        <p:spPr>
          <a:xfrm>
            <a:off x="1840446" y="179909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19F17A5-8F7B-4CE5-AE02-9A771FAE8D2E}"/>
              </a:ext>
            </a:extLst>
          </p:cNvPr>
          <p:cNvSpPr/>
          <p:nvPr/>
        </p:nvSpPr>
        <p:spPr>
          <a:xfrm>
            <a:off x="2137978" y="18010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53B01E-1296-4232-A005-7E2F2CB0CF89}"/>
              </a:ext>
            </a:extLst>
          </p:cNvPr>
          <p:cNvSpPr/>
          <p:nvPr/>
        </p:nvSpPr>
        <p:spPr>
          <a:xfrm>
            <a:off x="2431139" y="179926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3AFD8A8-B1FE-4B3B-AE8E-983E9300C2FB}"/>
              </a:ext>
            </a:extLst>
          </p:cNvPr>
          <p:cNvSpPr/>
          <p:nvPr/>
        </p:nvSpPr>
        <p:spPr>
          <a:xfrm>
            <a:off x="2728671" y="1803245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1B66096-FB81-4F3F-905E-0057EF79B670}"/>
              </a:ext>
            </a:extLst>
          </p:cNvPr>
          <p:cNvSpPr/>
          <p:nvPr/>
        </p:nvSpPr>
        <p:spPr>
          <a:xfrm>
            <a:off x="3025248" y="180802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44A9D-233C-47E2-977A-B9A12A4AE21A}"/>
              </a:ext>
            </a:extLst>
          </p:cNvPr>
          <p:cNvSpPr/>
          <p:nvPr/>
        </p:nvSpPr>
        <p:spPr>
          <a:xfrm>
            <a:off x="1545873" y="31128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E3973B-EB62-4588-AE6C-E3F0580F7CAF}"/>
              </a:ext>
            </a:extLst>
          </p:cNvPr>
          <p:cNvSpPr/>
          <p:nvPr/>
        </p:nvSpPr>
        <p:spPr>
          <a:xfrm>
            <a:off x="1843405" y="31169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214A5E-28A3-4C77-AAC5-469710A6C771}"/>
              </a:ext>
            </a:extLst>
          </p:cNvPr>
          <p:cNvSpPr/>
          <p:nvPr/>
        </p:nvSpPr>
        <p:spPr>
          <a:xfrm>
            <a:off x="2140937" y="311883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22F247-45F3-4572-ADAF-9269DF50BE4D}"/>
              </a:ext>
            </a:extLst>
          </p:cNvPr>
          <p:cNvSpPr/>
          <p:nvPr/>
        </p:nvSpPr>
        <p:spPr>
          <a:xfrm>
            <a:off x="2434098" y="311707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F265ED6-ACA5-4FF8-B91B-454A64E77E01}"/>
              </a:ext>
            </a:extLst>
          </p:cNvPr>
          <p:cNvSpPr/>
          <p:nvPr/>
        </p:nvSpPr>
        <p:spPr>
          <a:xfrm>
            <a:off x="1576017" y="442317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0432106-F589-4AA7-87F7-D5F9681E664D}"/>
              </a:ext>
            </a:extLst>
          </p:cNvPr>
          <p:cNvSpPr/>
          <p:nvPr/>
        </p:nvSpPr>
        <p:spPr>
          <a:xfrm>
            <a:off x="1873549" y="442727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B73369-980B-4844-9A0C-9F3FE5784181}"/>
              </a:ext>
            </a:extLst>
          </p:cNvPr>
          <p:cNvSpPr/>
          <p:nvPr/>
        </p:nvSpPr>
        <p:spPr>
          <a:xfrm>
            <a:off x="2171081" y="442920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F959173-19CA-44B9-B69E-70BBC0830CE2}"/>
              </a:ext>
            </a:extLst>
          </p:cNvPr>
          <p:cNvSpPr/>
          <p:nvPr/>
        </p:nvSpPr>
        <p:spPr>
          <a:xfrm>
            <a:off x="2464242" y="442744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A9F2404-3C14-42EF-A566-A65F09A39ECA}"/>
              </a:ext>
            </a:extLst>
          </p:cNvPr>
          <p:cNvSpPr/>
          <p:nvPr/>
        </p:nvSpPr>
        <p:spPr>
          <a:xfrm>
            <a:off x="2761774" y="44314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C1758F5-8224-4181-B82F-9F31C8E623FA}"/>
              </a:ext>
            </a:extLst>
          </p:cNvPr>
          <p:cNvSpPr/>
          <p:nvPr/>
        </p:nvSpPr>
        <p:spPr>
          <a:xfrm>
            <a:off x="3849323" y="180825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3054BE9-DCD1-4394-B526-D2D131376FD3}"/>
              </a:ext>
            </a:extLst>
          </p:cNvPr>
          <p:cNvSpPr/>
          <p:nvPr/>
        </p:nvSpPr>
        <p:spPr>
          <a:xfrm>
            <a:off x="4146855" y="181235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A4C206C-66E2-4321-AFDA-238796EFE6BA}"/>
              </a:ext>
            </a:extLst>
          </p:cNvPr>
          <p:cNvSpPr/>
          <p:nvPr/>
        </p:nvSpPr>
        <p:spPr>
          <a:xfrm>
            <a:off x="4444387" y="181428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83E197B-4561-4F03-86D4-5260BF8AFBEB}"/>
              </a:ext>
            </a:extLst>
          </p:cNvPr>
          <p:cNvSpPr/>
          <p:nvPr/>
        </p:nvSpPr>
        <p:spPr>
          <a:xfrm>
            <a:off x="4737548" y="18125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6F02C-8FD5-47A7-A6B6-5C2A7BC76D1F}"/>
              </a:ext>
            </a:extLst>
          </p:cNvPr>
          <p:cNvSpPr/>
          <p:nvPr/>
        </p:nvSpPr>
        <p:spPr>
          <a:xfrm>
            <a:off x="3834110" y="4418399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AB173C1-5217-4633-9720-A263BE81ACFC}"/>
              </a:ext>
            </a:extLst>
          </p:cNvPr>
          <p:cNvSpPr/>
          <p:nvPr/>
        </p:nvSpPr>
        <p:spPr>
          <a:xfrm>
            <a:off x="4131642" y="4422499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95E2F95-EEC2-457C-9869-BE15D1CE06BD}"/>
              </a:ext>
            </a:extLst>
          </p:cNvPr>
          <p:cNvSpPr/>
          <p:nvPr/>
        </p:nvSpPr>
        <p:spPr>
          <a:xfrm>
            <a:off x="4429174" y="4424424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7AFF00A-9E67-4A24-BA73-85B0A7701C3D}"/>
              </a:ext>
            </a:extLst>
          </p:cNvPr>
          <p:cNvSpPr/>
          <p:nvPr/>
        </p:nvSpPr>
        <p:spPr>
          <a:xfrm>
            <a:off x="4722335" y="4422664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EA3A244-41EA-4CB9-9927-F87C390F47CB}"/>
              </a:ext>
            </a:extLst>
          </p:cNvPr>
          <p:cNvSpPr/>
          <p:nvPr/>
        </p:nvSpPr>
        <p:spPr>
          <a:xfrm>
            <a:off x="5019867" y="442664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4D4419C-6F87-4ADE-B2B3-F8B010C17C2B}"/>
              </a:ext>
            </a:extLst>
          </p:cNvPr>
          <p:cNvSpPr/>
          <p:nvPr/>
        </p:nvSpPr>
        <p:spPr>
          <a:xfrm>
            <a:off x="5316444" y="44314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6550A7F-6BA2-4845-9EFB-0EC0863771A1}"/>
              </a:ext>
            </a:extLst>
          </p:cNvPr>
          <p:cNvSpPr/>
          <p:nvPr/>
        </p:nvSpPr>
        <p:spPr>
          <a:xfrm>
            <a:off x="3849323" y="31128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DBAE5F9-0CAB-42F0-81A4-7B58702F8C66}"/>
              </a:ext>
            </a:extLst>
          </p:cNvPr>
          <p:cNvSpPr/>
          <p:nvPr/>
        </p:nvSpPr>
        <p:spPr>
          <a:xfrm>
            <a:off x="4146855" y="31169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E14E7BF-0732-46E2-9B56-610B742A977A}"/>
              </a:ext>
            </a:extLst>
          </p:cNvPr>
          <p:cNvSpPr/>
          <p:nvPr/>
        </p:nvSpPr>
        <p:spPr>
          <a:xfrm>
            <a:off x="4444387" y="311883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4ABB438-D6E5-40A9-9D9C-CD56183EA252}"/>
              </a:ext>
            </a:extLst>
          </p:cNvPr>
          <p:cNvSpPr/>
          <p:nvPr/>
        </p:nvSpPr>
        <p:spPr>
          <a:xfrm>
            <a:off x="4737548" y="311707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912EB5A-F77A-42A1-A984-B64E5F741D99}"/>
              </a:ext>
            </a:extLst>
          </p:cNvPr>
          <p:cNvSpPr/>
          <p:nvPr/>
        </p:nvSpPr>
        <p:spPr>
          <a:xfrm>
            <a:off x="5035080" y="312105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C7BFE92-A36E-43E7-895B-038A5E2BE533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>
            <a:off x="3350964" y="1794998"/>
            <a:ext cx="352190" cy="26480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AB35467-0770-457A-BD1E-EC2436CF2772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 flipV="1">
            <a:off x="3350964" y="1794998"/>
            <a:ext cx="356445" cy="13337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9FE69F01-4DA2-4CDF-8176-275B20E1628E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 flipV="1">
            <a:off x="3350962" y="3130441"/>
            <a:ext cx="356447" cy="13126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C2ACB4E3-17CE-4AE7-9D34-397AFE689E01}"/>
              </a:ext>
            </a:extLst>
          </p:cNvPr>
          <p:cNvGrpSpPr/>
          <p:nvPr/>
        </p:nvGrpSpPr>
        <p:grpSpPr>
          <a:xfrm>
            <a:off x="7812360" y="2230204"/>
            <a:ext cx="1264683" cy="1648745"/>
            <a:chOff x="7798493" y="2426000"/>
            <a:chExt cx="1264683" cy="1648745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2B0FA87-18D9-472D-93D0-1FD17FE1D3CB}"/>
                </a:ext>
              </a:extLst>
            </p:cNvPr>
            <p:cNvSpPr/>
            <p:nvPr/>
          </p:nvSpPr>
          <p:spPr>
            <a:xfrm>
              <a:off x="7798493" y="2426000"/>
              <a:ext cx="1264683" cy="164874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7FC390A5-B87F-4C95-AA51-3707E988C0C5}"/>
                </a:ext>
              </a:extLst>
            </p:cNvPr>
            <p:cNvSpPr/>
            <p:nvPr/>
          </p:nvSpPr>
          <p:spPr>
            <a:xfrm>
              <a:off x="7879618" y="2840709"/>
              <a:ext cx="1102437" cy="2880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Consumer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7BD25709-45DB-485F-93C0-720E19EBBC47}"/>
                </a:ext>
              </a:extLst>
            </p:cNvPr>
            <p:cNvSpPr/>
            <p:nvPr/>
          </p:nvSpPr>
          <p:spPr>
            <a:xfrm>
              <a:off x="7879618" y="3259552"/>
              <a:ext cx="1102437" cy="2880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Consumer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02C469B-D437-4513-A939-1117296F6A76}"/>
                </a:ext>
              </a:extLst>
            </p:cNvPr>
            <p:cNvSpPr/>
            <p:nvPr/>
          </p:nvSpPr>
          <p:spPr>
            <a:xfrm>
              <a:off x="7879617" y="3678395"/>
              <a:ext cx="1102437" cy="2880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Consumer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C1A4030E-B12D-4598-97E8-9F34A516BF05}"/>
                </a:ext>
              </a:extLst>
            </p:cNvPr>
            <p:cNvSpPr txBox="1"/>
            <p:nvPr/>
          </p:nvSpPr>
          <p:spPr>
            <a:xfrm>
              <a:off x="7879617" y="2426000"/>
              <a:ext cx="1043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group</a:t>
              </a:r>
              <a:endParaRPr lang="zh-CN" altLang="en-US" sz="1200" dirty="0"/>
            </a:p>
          </p:txBody>
        </p:sp>
      </p:grp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075E58D-2F72-49F5-B3AC-0F6FB85DA63B}"/>
              </a:ext>
            </a:extLst>
          </p:cNvPr>
          <p:cNvCxnSpPr>
            <a:cxnSpLocks/>
            <a:stCxn id="12" idx="3"/>
            <a:endCxn id="62" idx="1"/>
          </p:cNvCxnSpPr>
          <p:nvPr/>
        </p:nvCxnSpPr>
        <p:spPr>
          <a:xfrm>
            <a:off x="3350964" y="1794998"/>
            <a:ext cx="4542521" cy="9939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445BD94-7385-4A41-9F23-4508DCC19D82}"/>
              </a:ext>
            </a:extLst>
          </p:cNvPr>
          <p:cNvCxnSpPr>
            <a:cxnSpLocks/>
            <a:stCxn id="15" idx="3"/>
            <a:endCxn id="64" idx="1"/>
          </p:cNvCxnSpPr>
          <p:nvPr/>
        </p:nvCxnSpPr>
        <p:spPr>
          <a:xfrm flipV="1">
            <a:off x="3350962" y="3626615"/>
            <a:ext cx="4542522" cy="8164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8" name="图片 67">
            <a:extLst>
              <a:ext uri="{FF2B5EF4-FFF2-40B4-BE49-F238E27FC236}">
                <a16:creationId xmlns:a16="http://schemas.microsoft.com/office/drawing/2014/main" id="{BA4F1C31-126C-41C6-96B5-115224730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07" y="492259"/>
            <a:ext cx="752475" cy="1066800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E9D4E239-5A01-42A9-8B8E-2015DE4097FA}"/>
              </a:ext>
            </a:extLst>
          </p:cNvPr>
          <p:cNvSpPr txBox="1"/>
          <p:nvPr/>
        </p:nvSpPr>
        <p:spPr>
          <a:xfrm>
            <a:off x="-29114" y="1518409"/>
            <a:ext cx="155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Zookeeper</a:t>
            </a:r>
            <a:endParaRPr lang="zh-CN" altLang="en-US" sz="1200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51D95B1-8F3E-4538-A960-EE8AB3DBFA0C}"/>
              </a:ext>
            </a:extLst>
          </p:cNvPr>
          <p:cNvSpPr/>
          <p:nvPr/>
        </p:nvSpPr>
        <p:spPr>
          <a:xfrm>
            <a:off x="5678750" y="2760416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F1B506C-9516-4B98-827C-6CF6D73B2401}"/>
              </a:ext>
            </a:extLst>
          </p:cNvPr>
          <p:cNvSpPr/>
          <p:nvPr/>
        </p:nvSpPr>
        <p:spPr>
          <a:xfrm>
            <a:off x="3025248" y="1803245"/>
            <a:ext cx="225524" cy="2769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F64482C-8EEB-40E3-8570-7FFA4A48DF4D}"/>
              </a:ext>
            </a:extLst>
          </p:cNvPr>
          <p:cNvCxnSpPr>
            <a:cxnSpLocks/>
            <a:stCxn id="71" idx="0"/>
            <a:endCxn id="73" idx="1"/>
          </p:cNvCxnSpPr>
          <p:nvPr/>
        </p:nvCxnSpPr>
        <p:spPr>
          <a:xfrm flipV="1">
            <a:off x="3138010" y="941310"/>
            <a:ext cx="1189813" cy="8619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7594FB56-2994-4AEA-9EA9-3B2972A01DFF}"/>
              </a:ext>
            </a:extLst>
          </p:cNvPr>
          <p:cNvSpPr/>
          <p:nvPr/>
        </p:nvSpPr>
        <p:spPr>
          <a:xfrm>
            <a:off x="4327823" y="797294"/>
            <a:ext cx="789023" cy="2880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E30D5C2-F836-4CCF-B5A3-D0E012F9A716}"/>
              </a:ext>
            </a:extLst>
          </p:cNvPr>
          <p:cNvSpPr/>
          <p:nvPr/>
        </p:nvSpPr>
        <p:spPr>
          <a:xfrm>
            <a:off x="7864221" y="1131590"/>
            <a:ext cx="1102437" cy="2880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7DECCE2-28AA-4AD5-B06E-D443A5B3DC52}"/>
              </a:ext>
            </a:extLst>
          </p:cNvPr>
          <p:cNvSpPr/>
          <p:nvPr/>
        </p:nvSpPr>
        <p:spPr>
          <a:xfrm>
            <a:off x="5724128" y="1422908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8D84B853-95D9-4E1E-8AB3-DC6450639C46}"/>
              </a:ext>
            </a:extLst>
          </p:cNvPr>
          <p:cNvCxnSpPr>
            <a:cxnSpLocks/>
            <a:stCxn id="14" idx="3"/>
            <a:endCxn id="63" idx="1"/>
          </p:cNvCxnSpPr>
          <p:nvPr/>
        </p:nvCxnSpPr>
        <p:spPr>
          <a:xfrm>
            <a:off x="3350964" y="3128741"/>
            <a:ext cx="4542521" cy="790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F08BB467-806D-4C4D-A244-65CD7E9A49F0}"/>
              </a:ext>
            </a:extLst>
          </p:cNvPr>
          <p:cNvSpPr/>
          <p:nvPr/>
        </p:nvSpPr>
        <p:spPr>
          <a:xfrm>
            <a:off x="5667662" y="4077869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B1A2B9B9-3F82-405B-98C1-1C5BE4A9436F}"/>
              </a:ext>
            </a:extLst>
          </p:cNvPr>
          <p:cNvCxnSpPr>
            <a:cxnSpLocks/>
            <a:stCxn id="73" idx="3"/>
            <a:endCxn id="75" idx="0"/>
          </p:cNvCxnSpPr>
          <p:nvPr/>
        </p:nvCxnSpPr>
        <p:spPr>
          <a:xfrm>
            <a:off x="5116846" y="941310"/>
            <a:ext cx="1346322" cy="4815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5296C012-8FF5-45C3-88A5-40D8FF289FB0}"/>
              </a:ext>
            </a:extLst>
          </p:cNvPr>
          <p:cNvCxnSpPr>
            <a:cxnSpLocks/>
            <a:stCxn id="12" idx="3"/>
            <a:endCxn id="74" idx="0"/>
          </p:cNvCxnSpPr>
          <p:nvPr/>
        </p:nvCxnSpPr>
        <p:spPr>
          <a:xfrm flipV="1">
            <a:off x="3350964" y="1131590"/>
            <a:ext cx="5064476" cy="663408"/>
          </a:xfrm>
          <a:prstGeom prst="bentConnector4">
            <a:avLst>
              <a:gd name="adj1" fmla="val 2128"/>
              <a:gd name="adj2" fmla="val 195335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69BDB91B-C06D-4BD5-977F-5CA5961F22E3}"/>
              </a:ext>
            </a:extLst>
          </p:cNvPr>
          <p:cNvSpPr/>
          <p:nvPr/>
        </p:nvSpPr>
        <p:spPr>
          <a:xfrm>
            <a:off x="7864221" y="4594484"/>
            <a:ext cx="1102437" cy="2880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059F56AF-EEB2-4857-9013-DE6A4CCD6C19}"/>
              </a:ext>
            </a:extLst>
          </p:cNvPr>
          <p:cNvCxnSpPr>
            <a:cxnSpLocks/>
            <a:stCxn id="15" idx="3"/>
            <a:endCxn id="80" idx="2"/>
          </p:cNvCxnSpPr>
          <p:nvPr/>
        </p:nvCxnSpPr>
        <p:spPr>
          <a:xfrm>
            <a:off x="3350962" y="4443070"/>
            <a:ext cx="5064478" cy="439446"/>
          </a:xfrm>
          <a:prstGeom prst="bentConnector4">
            <a:avLst>
              <a:gd name="adj1" fmla="val 1433"/>
              <a:gd name="adj2" fmla="val 14752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060368E7-D2BA-4B5A-932E-ED7632608716}"/>
              </a:ext>
            </a:extLst>
          </p:cNvPr>
          <p:cNvSpPr txBox="1"/>
          <p:nvPr/>
        </p:nvSpPr>
        <p:spPr>
          <a:xfrm>
            <a:off x="5426667" y="642474"/>
            <a:ext cx="1928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/>
              <a:t>每个消费者的</a:t>
            </a:r>
            <a:r>
              <a:rPr lang="en-US" altLang="zh-CN" sz="1200" dirty="0"/>
              <a:t>offset</a:t>
            </a:r>
            <a:r>
              <a:rPr lang="zh-CN" altLang="en-US" sz="1200" dirty="0"/>
              <a:t>由消费者提交到系统主题保存</a:t>
            </a: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A1BC4C6E-2579-4D0E-A0D6-8F0E191ECD3C}"/>
              </a:ext>
            </a:extLst>
          </p:cNvPr>
          <p:cNvCxnSpPr>
            <a:stCxn id="14" idx="3"/>
            <a:endCxn id="80" idx="2"/>
          </p:cNvCxnSpPr>
          <p:nvPr/>
        </p:nvCxnSpPr>
        <p:spPr>
          <a:xfrm>
            <a:off x="3350964" y="3128741"/>
            <a:ext cx="5064476" cy="1753775"/>
          </a:xfrm>
          <a:prstGeom prst="bentConnector4">
            <a:avLst>
              <a:gd name="adj1" fmla="val 2732"/>
              <a:gd name="adj2" fmla="val 107034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E8E29C6-012C-45FF-A335-E51DC1C3A399}"/>
              </a:ext>
            </a:extLst>
          </p:cNvPr>
          <p:cNvSpPr txBox="1"/>
          <p:nvPr/>
        </p:nvSpPr>
        <p:spPr>
          <a:xfrm>
            <a:off x="7708918" y="4123925"/>
            <a:ext cx="1406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/>
              <a:t>一个消费者可以消费多个分区数据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9E9CA63-72CD-4438-AAB2-486DD74421BA}"/>
              </a:ext>
            </a:extLst>
          </p:cNvPr>
          <p:cNvSpPr txBox="1"/>
          <p:nvPr/>
        </p:nvSpPr>
        <p:spPr>
          <a:xfrm>
            <a:off x="7762641" y="1588309"/>
            <a:ext cx="140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/>
              <a:t>每个分区的数据只能由消费者组中一个消费者消费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34551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0" grpId="0" animBg="1"/>
      <p:bldP spid="71" grpId="0" animBg="1"/>
      <p:bldP spid="73" grpId="0" animBg="1"/>
      <p:bldP spid="75" grpId="0" animBg="1"/>
      <p:bldP spid="77" grpId="0" animBg="1"/>
      <p:bldP spid="82" grpId="0"/>
      <p:bldP spid="84" grpId="0"/>
      <p:bldP spid="8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68E16D-E19B-4B09-AA90-3BE5FE4F3E6D}"/>
              </a:ext>
            </a:extLst>
          </p:cNvPr>
          <p:cNvSpPr txBox="1"/>
          <p:nvPr/>
        </p:nvSpPr>
        <p:spPr>
          <a:xfrm>
            <a:off x="471965" y="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消费者组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BD71D2-56F6-4F4E-8097-C6B0EBF03CC1}"/>
              </a:ext>
            </a:extLst>
          </p:cNvPr>
          <p:cNvSpPr txBox="1"/>
          <p:nvPr/>
        </p:nvSpPr>
        <p:spPr>
          <a:xfrm>
            <a:off x="179511" y="412682"/>
            <a:ext cx="8492523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 Group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CG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）：消费者组，由多个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组成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。形成一个消费者组的条件，是所有消费者的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groupid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相同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B18E36-7037-4AF0-9916-6B3306C7DB9D}"/>
              </a:ext>
            </a:extLst>
          </p:cNvPr>
          <p:cNvSpPr txBox="1"/>
          <p:nvPr/>
        </p:nvSpPr>
        <p:spPr>
          <a:xfrm>
            <a:off x="471965" y="689116"/>
            <a:ext cx="6480720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消费者组内每个消费者负责消费不同分区的数据，一个分区只能由一个组内消费者消费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0E334C-C066-411C-933A-E6B87E69082F}"/>
              </a:ext>
            </a:extLst>
          </p:cNvPr>
          <p:cNvSpPr txBox="1"/>
          <p:nvPr/>
        </p:nvSpPr>
        <p:spPr>
          <a:xfrm>
            <a:off x="471965" y="974537"/>
            <a:ext cx="6984776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消费者组之间互不影响。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所有的消费者都属于某个消费者组，即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消费者组是逻辑上的一个订阅者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C7A79E-A8AF-447F-AF8C-05F61F1FA400}"/>
              </a:ext>
            </a:extLst>
          </p:cNvPr>
          <p:cNvSpPr/>
          <p:nvPr/>
        </p:nvSpPr>
        <p:spPr>
          <a:xfrm>
            <a:off x="273644" y="1508200"/>
            <a:ext cx="1296144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29F3DB-8AF8-4A17-BBB6-56DECFD0C451}"/>
              </a:ext>
            </a:extLst>
          </p:cNvPr>
          <p:cNvSpPr/>
          <p:nvPr/>
        </p:nvSpPr>
        <p:spPr>
          <a:xfrm>
            <a:off x="381122" y="1839546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F41063-6A73-4730-AD3E-488181D20CE1}"/>
              </a:ext>
            </a:extLst>
          </p:cNvPr>
          <p:cNvSpPr txBox="1"/>
          <p:nvPr/>
        </p:nvSpPr>
        <p:spPr>
          <a:xfrm>
            <a:off x="381123" y="1825031"/>
            <a:ext cx="662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broker0</a:t>
            </a:r>
            <a:endParaRPr lang="zh-CN" altLang="en-US" sz="1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624575-F5D2-462B-8ED7-D1ECC0665BE8}"/>
              </a:ext>
            </a:extLst>
          </p:cNvPr>
          <p:cNvSpPr txBox="1"/>
          <p:nvPr/>
        </p:nvSpPr>
        <p:spPr>
          <a:xfrm>
            <a:off x="353451" y="1493169"/>
            <a:ext cx="1216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Kafka cluster</a:t>
            </a:r>
            <a:endParaRPr lang="zh-CN" altLang="en-US" sz="1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10A9AE-BA17-4FD4-B175-9AE94A48C3A2}"/>
              </a:ext>
            </a:extLst>
          </p:cNvPr>
          <p:cNvSpPr/>
          <p:nvPr/>
        </p:nvSpPr>
        <p:spPr>
          <a:xfrm>
            <a:off x="379912" y="2558264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A8BF76-5551-47E8-A803-B7B33F858124}"/>
              </a:ext>
            </a:extLst>
          </p:cNvPr>
          <p:cNvSpPr/>
          <p:nvPr/>
        </p:nvSpPr>
        <p:spPr>
          <a:xfrm>
            <a:off x="484191" y="2075712"/>
            <a:ext cx="864558" cy="3364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860604-23BF-4D05-A067-DC89434F1018}"/>
              </a:ext>
            </a:extLst>
          </p:cNvPr>
          <p:cNvSpPr txBox="1"/>
          <p:nvPr/>
        </p:nvSpPr>
        <p:spPr>
          <a:xfrm>
            <a:off x="407772" y="2516312"/>
            <a:ext cx="699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broker1</a:t>
            </a:r>
            <a:endParaRPr lang="zh-CN" altLang="en-US" sz="1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4F12BF-1101-44E2-B6FB-412A41AB5855}"/>
              </a:ext>
            </a:extLst>
          </p:cNvPr>
          <p:cNvSpPr/>
          <p:nvPr/>
        </p:nvSpPr>
        <p:spPr>
          <a:xfrm>
            <a:off x="379912" y="3273446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86CEA2-5E4C-4AE1-8F8A-3B13BA6C9973}"/>
              </a:ext>
            </a:extLst>
          </p:cNvPr>
          <p:cNvSpPr txBox="1"/>
          <p:nvPr/>
        </p:nvSpPr>
        <p:spPr>
          <a:xfrm>
            <a:off x="407772" y="3258592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broker2</a:t>
            </a:r>
            <a:endParaRPr lang="zh-CN" altLang="en-US" sz="1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009E94-04FD-4F29-B4AF-180BA04B40A6}"/>
              </a:ext>
            </a:extLst>
          </p:cNvPr>
          <p:cNvSpPr/>
          <p:nvPr/>
        </p:nvSpPr>
        <p:spPr>
          <a:xfrm>
            <a:off x="483479" y="3506014"/>
            <a:ext cx="862551" cy="3440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2DCA76-390B-4998-9359-C60BBBBCAF97}"/>
              </a:ext>
            </a:extLst>
          </p:cNvPr>
          <p:cNvSpPr/>
          <p:nvPr/>
        </p:nvSpPr>
        <p:spPr>
          <a:xfrm>
            <a:off x="486197" y="2799803"/>
            <a:ext cx="862551" cy="3386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7264D6-9547-4B52-9E57-5636755DEF3A}"/>
              </a:ext>
            </a:extLst>
          </p:cNvPr>
          <p:cNvSpPr/>
          <p:nvPr/>
        </p:nvSpPr>
        <p:spPr>
          <a:xfrm>
            <a:off x="379912" y="3951533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135215-A7E9-4F5C-B62F-3095D6A96479}"/>
              </a:ext>
            </a:extLst>
          </p:cNvPr>
          <p:cNvSpPr txBox="1"/>
          <p:nvPr/>
        </p:nvSpPr>
        <p:spPr>
          <a:xfrm>
            <a:off x="407772" y="3936679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broker3</a:t>
            </a:r>
            <a:endParaRPr lang="zh-CN" altLang="en-US" sz="10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0638A2-7F19-4C11-817A-F91BB2E2871F}"/>
              </a:ext>
            </a:extLst>
          </p:cNvPr>
          <p:cNvSpPr/>
          <p:nvPr/>
        </p:nvSpPr>
        <p:spPr>
          <a:xfrm>
            <a:off x="483479" y="4184102"/>
            <a:ext cx="862551" cy="3484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1A9A43-6E1A-4FF8-9B4B-B15E5DF3245F}"/>
              </a:ext>
            </a:extLst>
          </p:cNvPr>
          <p:cNvSpPr/>
          <p:nvPr/>
        </p:nvSpPr>
        <p:spPr>
          <a:xfrm>
            <a:off x="1763688" y="1508200"/>
            <a:ext cx="1225018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A5E368-BC51-4279-80E4-C47D177FE5B9}"/>
              </a:ext>
            </a:extLst>
          </p:cNvPr>
          <p:cNvSpPr txBox="1"/>
          <p:nvPr/>
        </p:nvSpPr>
        <p:spPr>
          <a:xfrm>
            <a:off x="2067274" y="1491630"/>
            <a:ext cx="617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CG1</a:t>
            </a:r>
            <a:endParaRPr lang="zh-CN" altLang="en-US" sz="1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60B66B-40C7-410C-9DDA-8DDABB552C04}"/>
              </a:ext>
            </a:extLst>
          </p:cNvPr>
          <p:cNvSpPr/>
          <p:nvPr/>
        </p:nvSpPr>
        <p:spPr>
          <a:xfrm>
            <a:off x="1907912" y="2104611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consumer1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76551BA-0841-4161-B38A-1918FD2F2623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1348749" y="2243111"/>
            <a:ext cx="559163" cy="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CE79BD2-EE5D-459D-975A-86B04F05E048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 flipV="1">
            <a:off x="1348748" y="2243111"/>
            <a:ext cx="559164" cy="725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2F898C0-E2F0-4A8F-878D-E5C2D2F68C79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 flipV="1">
            <a:off x="1346030" y="2243111"/>
            <a:ext cx="561882" cy="143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A066776-5109-4F73-A724-0DD9E44709A4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 flipV="1">
            <a:off x="1346030" y="2243111"/>
            <a:ext cx="561882" cy="2115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A5277E84-F5D7-4039-A68C-9952A6E27875}"/>
              </a:ext>
            </a:extLst>
          </p:cNvPr>
          <p:cNvSpPr/>
          <p:nvPr/>
        </p:nvSpPr>
        <p:spPr>
          <a:xfrm>
            <a:off x="4759934" y="1508200"/>
            <a:ext cx="1225018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6E9557D-E531-446F-8A08-4437F41D8948}"/>
              </a:ext>
            </a:extLst>
          </p:cNvPr>
          <p:cNvSpPr txBox="1"/>
          <p:nvPr/>
        </p:nvSpPr>
        <p:spPr>
          <a:xfrm>
            <a:off x="5051832" y="1491630"/>
            <a:ext cx="553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CG1</a:t>
            </a:r>
            <a:endParaRPr lang="zh-CN" altLang="en-US" sz="1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3E1A4F8-5E54-4887-87B3-789EF678E95B}"/>
              </a:ext>
            </a:extLst>
          </p:cNvPr>
          <p:cNvSpPr/>
          <p:nvPr/>
        </p:nvSpPr>
        <p:spPr>
          <a:xfrm>
            <a:off x="4920103" y="2104611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174858F-F6CF-41B0-A2B5-BFD313EA939F}"/>
              </a:ext>
            </a:extLst>
          </p:cNvPr>
          <p:cNvSpPr/>
          <p:nvPr/>
        </p:nvSpPr>
        <p:spPr>
          <a:xfrm>
            <a:off x="4920103" y="2822489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6F263CD-6F71-4405-B011-BF74E46E18B3}"/>
              </a:ext>
            </a:extLst>
          </p:cNvPr>
          <p:cNvSpPr/>
          <p:nvPr/>
        </p:nvSpPr>
        <p:spPr>
          <a:xfrm>
            <a:off x="3280604" y="1508200"/>
            <a:ext cx="1296144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A3EF91F-54A6-4D62-93B5-2B6A034ADA60}"/>
              </a:ext>
            </a:extLst>
          </p:cNvPr>
          <p:cNvSpPr/>
          <p:nvPr/>
        </p:nvSpPr>
        <p:spPr>
          <a:xfrm>
            <a:off x="3388082" y="1839546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CA3EDE-6FCC-489C-A769-481C623D7035}"/>
              </a:ext>
            </a:extLst>
          </p:cNvPr>
          <p:cNvSpPr txBox="1"/>
          <p:nvPr/>
        </p:nvSpPr>
        <p:spPr>
          <a:xfrm>
            <a:off x="3388083" y="1825031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broker0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D4E0A6E-103B-46C1-B121-610163B2E040}"/>
              </a:ext>
            </a:extLst>
          </p:cNvPr>
          <p:cNvSpPr txBox="1"/>
          <p:nvPr/>
        </p:nvSpPr>
        <p:spPr>
          <a:xfrm>
            <a:off x="3360411" y="1493169"/>
            <a:ext cx="1216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Kafka cluster</a:t>
            </a:r>
            <a:endParaRPr lang="zh-CN" altLang="en-US" sz="10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CBD0B1B-3BD0-4544-AEE6-1B83CB5715D9}"/>
              </a:ext>
            </a:extLst>
          </p:cNvPr>
          <p:cNvSpPr/>
          <p:nvPr/>
        </p:nvSpPr>
        <p:spPr>
          <a:xfrm>
            <a:off x="3386872" y="2558264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7AD658-F0D7-41AA-B336-62BF585495F2}"/>
              </a:ext>
            </a:extLst>
          </p:cNvPr>
          <p:cNvSpPr/>
          <p:nvPr/>
        </p:nvSpPr>
        <p:spPr>
          <a:xfrm>
            <a:off x="3491151" y="2075712"/>
            <a:ext cx="864558" cy="3364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Partition0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963E8F5-4748-4730-BDC5-5B10DFFCDC42}"/>
              </a:ext>
            </a:extLst>
          </p:cNvPr>
          <p:cNvSpPr txBox="1"/>
          <p:nvPr/>
        </p:nvSpPr>
        <p:spPr>
          <a:xfrm>
            <a:off x="3414732" y="2516312"/>
            <a:ext cx="699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broker1</a:t>
            </a:r>
            <a:endParaRPr lang="zh-CN" altLang="en-US" sz="10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1651C64-DCCE-4033-BA6C-D7A23CD6FC88}"/>
              </a:ext>
            </a:extLst>
          </p:cNvPr>
          <p:cNvSpPr/>
          <p:nvPr/>
        </p:nvSpPr>
        <p:spPr>
          <a:xfrm>
            <a:off x="3386872" y="3273446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53AF2F2-D922-40AA-8198-CA0E9A6CF65D}"/>
              </a:ext>
            </a:extLst>
          </p:cNvPr>
          <p:cNvSpPr txBox="1"/>
          <p:nvPr/>
        </p:nvSpPr>
        <p:spPr>
          <a:xfrm>
            <a:off x="3414732" y="3258592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broker2</a:t>
            </a:r>
            <a:endParaRPr lang="zh-CN" altLang="en-US" sz="10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631CA18-D82A-4326-B48F-DE2A6898F104}"/>
              </a:ext>
            </a:extLst>
          </p:cNvPr>
          <p:cNvSpPr/>
          <p:nvPr/>
        </p:nvSpPr>
        <p:spPr>
          <a:xfrm>
            <a:off x="3490439" y="3506014"/>
            <a:ext cx="862551" cy="3440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CFFA015-DB32-4918-A6E3-337CFBA14DA0}"/>
              </a:ext>
            </a:extLst>
          </p:cNvPr>
          <p:cNvSpPr/>
          <p:nvPr/>
        </p:nvSpPr>
        <p:spPr>
          <a:xfrm>
            <a:off x="3493157" y="2799803"/>
            <a:ext cx="862551" cy="3386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Partition1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D2A9EA-063E-44AA-A47D-A0177A851C37}"/>
              </a:ext>
            </a:extLst>
          </p:cNvPr>
          <p:cNvSpPr/>
          <p:nvPr/>
        </p:nvSpPr>
        <p:spPr>
          <a:xfrm>
            <a:off x="3386872" y="3951533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F0E7643-5E09-40F8-9A2B-A9CDA03A6F95}"/>
              </a:ext>
            </a:extLst>
          </p:cNvPr>
          <p:cNvSpPr txBox="1"/>
          <p:nvPr/>
        </p:nvSpPr>
        <p:spPr>
          <a:xfrm>
            <a:off x="3414732" y="3936679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broker3</a:t>
            </a:r>
            <a:endParaRPr lang="zh-CN" altLang="en-US" sz="10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EBEFED6-B240-4A99-A2A0-9E598DEECE27}"/>
              </a:ext>
            </a:extLst>
          </p:cNvPr>
          <p:cNvSpPr/>
          <p:nvPr/>
        </p:nvSpPr>
        <p:spPr>
          <a:xfrm>
            <a:off x="3490439" y="4184102"/>
            <a:ext cx="862551" cy="3484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Partition3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7644746-F23B-4D4D-9154-A0D977354068}"/>
              </a:ext>
            </a:extLst>
          </p:cNvPr>
          <p:cNvCxnSpPr>
            <a:cxnSpLocks/>
            <a:stCxn id="36" idx="3"/>
            <a:endCxn id="29" idx="1"/>
          </p:cNvCxnSpPr>
          <p:nvPr/>
        </p:nvCxnSpPr>
        <p:spPr>
          <a:xfrm flipV="1">
            <a:off x="4355709" y="2243111"/>
            <a:ext cx="564394" cy="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FA445AFC-EF56-4DE6-B8E0-322210C124D3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 flipV="1">
            <a:off x="4355708" y="2243111"/>
            <a:ext cx="564395" cy="725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24110E9-3777-4B53-934D-16E88AA21873}"/>
              </a:ext>
            </a:extLst>
          </p:cNvPr>
          <p:cNvCxnSpPr>
            <a:cxnSpLocks/>
            <a:stCxn id="40" idx="3"/>
            <a:endCxn id="30" idx="1"/>
          </p:cNvCxnSpPr>
          <p:nvPr/>
        </p:nvCxnSpPr>
        <p:spPr>
          <a:xfrm flipV="1">
            <a:off x="4352990" y="2960989"/>
            <a:ext cx="567113" cy="717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0ECE56E-4622-44D3-AA32-50AEA4B3858E}"/>
              </a:ext>
            </a:extLst>
          </p:cNvPr>
          <p:cNvCxnSpPr>
            <a:cxnSpLocks/>
            <a:stCxn id="44" idx="3"/>
            <a:endCxn id="30" idx="1"/>
          </p:cNvCxnSpPr>
          <p:nvPr/>
        </p:nvCxnSpPr>
        <p:spPr>
          <a:xfrm flipV="1">
            <a:off x="4352990" y="2960989"/>
            <a:ext cx="567113" cy="1397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28CCF9C5-CCA9-466C-A3DB-5CAFE491F5A0}"/>
              </a:ext>
            </a:extLst>
          </p:cNvPr>
          <p:cNvSpPr/>
          <p:nvPr/>
        </p:nvSpPr>
        <p:spPr>
          <a:xfrm>
            <a:off x="7739156" y="1508200"/>
            <a:ext cx="1225018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1F11E7C-370F-4FF4-BC88-4B94F9A0CDFC}"/>
              </a:ext>
            </a:extLst>
          </p:cNvPr>
          <p:cNvSpPr txBox="1"/>
          <p:nvPr/>
        </p:nvSpPr>
        <p:spPr>
          <a:xfrm>
            <a:off x="8031054" y="1491630"/>
            <a:ext cx="553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CG1</a:t>
            </a:r>
            <a:endParaRPr lang="zh-CN" altLang="en-US" sz="10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BF3EE9B-96E8-4803-B14E-B579AA8747C3}"/>
              </a:ext>
            </a:extLst>
          </p:cNvPr>
          <p:cNvSpPr/>
          <p:nvPr/>
        </p:nvSpPr>
        <p:spPr>
          <a:xfrm>
            <a:off x="7899325" y="2104611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consumer1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357485C-AD81-4EA6-AAB1-9D2E67CC8AED}"/>
              </a:ext>
            </a:extLst>
          </p:cNvPr>
          <p:cNvSpPr/>
          <p:nvPr/>
        </p:nvSpPr>
        <p:spPr>
          <a:xfrm>
            <a:off x="7899325" y="2822489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833AEE7-68E4-4CD7-BC32-5E9488B871AD}"/>
              </a:ext>
            </a:extLst>
          </p:cNvPr>
          <p:cNvSpPr/>
          <p:nvPr/>
        </p:nvSpPr>
        <p:spPr>
          <a:xfrm>
            <a:off x="6259826" y="1508200"/>
            <a:ext cx="1296144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A58E137-6ADC-4997-A4A6-F0A4E935780E}"/>
              </a:ext>
            </a:extLst>
          </p:cNvPr>
          <p:cNvSpPr/>
          <p:nvPr/>
        </p:nvSpPr>
        <p:spPr>
          <a:xfrm>
            <a:off x="6367304" y="1839546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04F41B3-7E9D-4B96-B433-E1FB1D0A2226}"/>
              </a:ext>
            </a:extLst>
          </p:cNvPr>
          <p:cNvSpPr txBox="1"/>
          <p:nvPr/>
        </p:nvSpPr>
        <p:spPr>
          <a:xfrm>
            <a:off x="6367305" y="1825031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broker0</a:t>
            </a:r>
            <a:endParaRPr lang="zh-CN" altLang="en-US" sz="1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A19664B-8B4F-4FFA-99AE-FAD604216BD7}"/>
              </a:ext>
            </a:extLst>
          </p:cNvPr>
          <p:cNvSpPr txBox="1"/>
          <p:nvPr/>
        </p:nvSpPr>
        <p:spPr>
          <a:xfrm>
            <a:off x="6339633" y="1493169"/>
            <a:ext cx="1216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Kafka cluster</a:t>
            </a:r>
            <a:endParaRPr lang="zh-CN" altLang="en-US" sz="1000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24A4996-25C1-4EFC-BD6A-4F899EFF3BCC}"/>
              </a:ext>
            </a:extLst>
          </p:cNvPr>
          <p:cNvSpPr/>
          <p:nvPr/>
        </p:nvSpPr>
        <p:spPr>
          <a:xfrm>
            <a:off x="6366094" y="2558264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9EB6C64-745D-4D9B-AC51-24D16556C937}"/>
              </a:ext>
            </a:extLst>
          </p:cNvPr>
          <p:cNvSpPr/>
          <p:nvPr/>
        </p:nvSpPr>
        <p:spPr>
          <a:xfrm>
            <a:off x="6470373" y="2075712"/>
            <a:ext cx="864558" cy="3364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Partition0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16F2B7A-BDC2-4066-AF56-95105FA11058}"/>
              </a:ext>
            </a:extLst>
          </p:cNvPr>
          <p:cNvSpPr txBox="1"/>
          <p:nvPr/>
        </p:nvSpPr>
        <p:spPr>
          <a:xfrm>
            <a:off x="6393954" y="2516312"/>
            <a:ext cx="699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broker1</a:t>
            </a:r>
            <a:endParaRPr lang="zh-CN" altLang="en-US" sz="1000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D529B8D-C67F-4ACD-B9BC-0DE3B3D5BA73}"/>
              </a:ext>
            </a:extLst>
          </p:cNvPr>
          <p:cNvSpPr/>
          <p:nvPr/>
        </p:nvSpPr>
        <p:spPr>
          <a:xfrm>
            <a:off x="6366094" y="3273446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4FE42FB-B59A-46A2-B3A0-73D884FF1364}"/>
              </a:ext>
            </a:extLst>
          </p:cNvPr>
          <p:cNvSpPr txBox="1"/>
          <p:nvPr/>
        </p:nvSpPr>
        <p:spPr>
          <a:xfrm>
            <a:off x="6393954" y="3258592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broker2</a:t>
            </a:r>
            <a:endParaRPr lang="zh-CN" altLang="en-US" sz="10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937C665-FF75-4171-A7AB-EA3B53C3147A}"/>
              </a:ext>
            </a:extLst>
          </p:cNvPr>
          <p:cNvSpPr/>
          <p:nvPr/>
        </p:nvSpPr>
        <p:spPr>
          <a:xfrm>
            <a:off x="6469661" y="3506014"/>
            <a:ext cx="862551" cy="3440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Partition2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D7D69F5-4CAC-49EF-AD50-129FB2542E43}"/>
              </a:ext>
            </a:extLst>
          </p:cNvPr>
          <p:cNvSpPr/>
          <p:nvPr/>
        </p:nvSpPr>
        <p:spPr>
          <a:xfrm>
            <a:off x="6472379" y="2799803"/>
            <a:ext cx="862551" cy="3386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Partition1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97A5358-1C38-4B73-947C-D4EBBB2C0AE4}"/>
              </a:ext>
            </a:extLst>
          </p:cNvPr>
          <p:cNvSpPr/>
          <p:nvPr/>
        </p:nvSpPr>
        <p:spPr>
          <a:xfrm>
            <a:off x="6366094" y="3951533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7368384-68BE-432D-A71E-FC5FF133C2F7}"/>
              </a:ext>
            </a:extLst>
          </p:cNvPr>
          <p:cNvSpPr txBox="1"/>
          <p:nvPr/>
        </p:nvSpPr>
        <p:spPr>
          <a:xfrm>
            <a:off x="6393954" y="3936679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broker3</a:t>
            </a:r>
            <a:endParaRPr lang="zh-CN" altLang="en-US" sz="10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5F06837-F56D-4BEA-8C4C-474A5B5BB30D}"/>
              </a:ext>
            </a:extLst>
          </p:cNvPr>
          <p:cNvSpPr/>
          <p:nvPr/>
        </p:nvSpPr>
        <p:spPr>
          <a:xfrm>
            <a:off x="6469661" y="4184102"/>
            <a:ext cx="862551" cy="3484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Partition3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EF80911-4719-42EB-AF6E-0412E94A16BF}"/>
              </a:ext>
            </a:extLst>
          </p:cNvPr>
          <p:cNvCxnSpPr>
            <a:cxnSpLocks/>
            <a:stCxn id="58" idx="3"/>
            <a:endCxn id="51" idx="1"/>
          </p:cNvCxnSpPr>
          <p:nvPr/>
        </p:nvCxnSpPr>
        <p:spPr>
          <a:xfrm flipV="1">
            <a:off x="7334931" y="2243111"/>
            <a:ext cx="564394" cy="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C68AC34-22CA-47C7-98AF-CEABC7D11A8E}"/>
              </a:ext>
            </a:extLst>
          </p:cNvPr>
          <p:cNvCxnSpPr>
            <a:cxnSpLocks/>
            <a:stCxn id="62" idx="3"/>
            <a:endCxn id="71" idx="1"/>
          </p:cNvCxnSpPr>
          <p:nvPr/>
        </p:nvCxnSpPr>
        <p:spPr>
          <a:xfrm>
            <a:off x="7332212" y="3678049"/>
            <a:ext cx="567112" cy="12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A6398B8-3C12-4982-A9EB-C7ABC37F9B46}"/>
              </a:ext>
            </a:extLst>
          </p:cNvPr>
          <p:cNvCxnSpPr>
            <a:cxnSpLocks/>
            <a:stCxn id="63" idx="3"/>
            <a:endCxn id="52" idx="1"/>
          </p:cNvCxnSpPr>
          <p:nvPr/>
        </p:nvCxnSpPr>
        <p:spPr>
          <a:xfrm flipV="1">
            <a:off x="7334930" y="2960989"/>
            <a:ext cx="564395" cy="8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789D568-38AB-4F68-828C-E81C88D5AAB9}"/>
              </a:ext>
            </a:extLst>
          </p:cNvPr>
          <p:cNvCxnSpPr>
            <a:cxnSpLocks/>
            <a:stCxn id="66" idx="3"/>
            <a:endCxn id="72" idx="1"/>
          </p:cNvCxnSpPr>
          <p:nvPr/>
        </p:nvCxnSpPr>
        <p:spPr>
          <a:xfrm>
            <a:off x="7332212" y="4358319"/>
            <a:ext cx="5671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C2361C43-A6D3-459C-92E0-9F53F83AF25D}"/>
              </a:ext>
            </a:extLst>
          </p:cNvPr>
          <p:cNvSpPr/>
          <p:nvPr/>
        </p:nvSpPr>
        <p:spPr>
          <a:xfrm>
            <a:off x="7899324" y="3552463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consumer3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105FEF0-8156-42BF-8793-5C22692FB117}"/>
              </a:ext>
            </a:extLst>
          </p:cNvPr>
          <p:cNvSpPr/>
          <p:nvPr/>
        </p:nvSpPr>
        <p:spPr>
          <a:xfrm>
            <a:off x="7899323" y="4219819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3955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 animBg="1"/>
      <p:bldP spid="27" grpId="0" animBg="1"/>
      <p:bldP spid="28" grpId="0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 animBg="1"/>
      <p:bldP spid="39" grpId="0"/>
      <p:bldP spid="40" grpId="0" animBg="1"/>
      <p:bldP spid="41" grpId="0" animBg="1"/>
      <p:bldP spid="42" grpId="0" animBg="1"/>
      <p:bldP spid="43" grpId="0"/>
      <p:bldP spid="44" grpId="0" animBg="1"/>
      <p:bldP spid="49" grpId="0" animBg="1"/>
      <p:bldP spid="50" grpId="0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 animBg="1"/>
      <p:bldP spid="58" grpId="0" animBg="1"/>
      <p:bldP spid="59" grpId="0"/>
      <p:bldP spid="60" grpId="0" animBg="1"/>
      <p:bldP spid="61" grpId="0"/>
      <p:bldP spid="62" grpId="0" animBg="1"/>
      <p:bldP spid="63" grpId="0" animBg="1"/>
      <p:bldP spid="64" grpId="0" animBg="1"/>
      <p:bldP spid="65" grpId="0"/>
      <p:bldP spid="66" grpId="0" animBg="1"/>
      <p:bldP spid="71" grpId="0" animBg="1"/>
      <p:bldP spid="7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D417DDA-D38F-412B-9745-7E04499B33E6}"/>
              </a:ext>
            </a:extLst>
          </p:cNvPr>
          <p:cNvSpPr txBox="1"/>
          <p:nvPr/>
        </p:nvSpPr>
        <p:spPr>
          <a:xfrm>
            <a:off x="471965" y="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消费者组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021853-62F7-46A6-B2CE-8BA8E5B7BD66}"/>
              </a:ext>
            </a:extLst>
          </p:cNvPr>
          <p:cNvSpPr/>
          <p:nvPr/>
        </p:nvSpPr>
        <p:spPr>
          <a:xfrm>
            <a:off x="1978830" y="500088"/>
            <a:ext cx="1225018" cy="36573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4E6B90-57B4-455E-9C38-2BFA39BA06FA}"/>
              </a:ext>
            </a:extLst>
          </p:cNvPr>
          <p:cNvSpPr txBox="1"/>
          <p:nvPr/>
        </p:nvSpPr>
        <p:spPr>
          <a:xfrm>
            <a:off x="2270728" y="483518"/>
            <a:ext cx="553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CG1</a:t>
            </a:r>
            <a:endParaRPr lang="zh-CN" altLang="en-US" sz="1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744DB0-699E-4015-B074-831BBB98E84C}"/>
              </a:ext>
            </a:extLst>
          </p:cNvPr>
          <p:cNvSpPr/>
          <p:nvPr/>
        </p:nvSpPr>
        <p:spPr>
          <a:xfrm>
            <a:off x="2138999" y="1096499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F6D05F-732E-4ED7-BD37-9253AA2AFA14}"/>
              </a:ext>
            </a:extLst>
          </p:cNvPr>
          <p:cNvSpPr/>
          <p:nvPr/>
        </p:nvSpPr>
        <p:spPr>
          <a:xfrm>
            <a:off x="2138999" y="1814377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9CD27A-F6C8-4C11-BDA5-96445C24145E}"/>
              </a:ext>
            </a:extLst>
          </p:cNvPr>
          <p:cNvSpPr/>
          <p:nvPr/>
        </p:nvSpPr>
        <p:spPr>
          <a:xfrm>
            <a:off x="327948" y="500088"/>
            <a:ext cx="1296144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4D9129-0AD7-44B5-9B26-A36FD0202296}"/>
              </a:ext>
            </a:extLst>
          </p:cNvPr>
          <p:cNvSpPr/>
          <p:nvPr/>
        </p:nvSpPr>
        <p:spPr>
          <a:xfrm>
            <a:off x="435426" y="831434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E54549-0BAB-42E7-8018-0FBDF56C7621}"/>
              </a:ext>
            </a:extLst>
          </p:cNvPr>
          <p:cNvSpPr txBox="1"/>
          <p:nvPr/>
        </p:nvSpPr>
        <p:spPr>
          <a:xfrm>
            <a:off x="435427" y="816919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broker0</a:t>
            </a:r>
            <a:endParaRPr lang="zh-CN" altLang="en-US" sz="1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25855A-01E6-4A71-94A6-2F1B7DF53CB7}"/>
              </a:ext>
            </a:extLst>
          </p:cNvPr>
          <p:cNvSpPr txBox="1"/>
          <p:nvPr/>
        </p:nvSpPr>
        <p:spPr>
          <a:xfrm>
            <a:off x="407755" y="485057"/>
            <a:ext cx="1216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Kafka cluster</a:t>
            </a:r>
            <a:endParaRPr lang="zh-CN" altLang="en-US" sz="10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D2F15B-EE55-4C80-850D-3C60A090E3CF}"/>
              </a:ext>
            </a:extLst>
          </p:cNvPr>
          <p:cNvSpPr/>
          <p:nvPr/>
        </p:nvSpPr>
        <p:spPr>
          <a:xfrm>
            <a:off x="434216" y="1550152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B215A7-6CA7-4570-B15F-1ECE1E707CC9}"/>
              </a:ext>
            </a:extLst>
          </p:cNvPr>
          <p:cNvSpPr/>
          <p:nvPr/>
        </p:nvSpPr>
        <p:spPr>
          <a:xfrm>
            <a:off x="538495" y="1067600"/>
            <a:ext cx="864558" cy="3364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2D8AAD-AC8E-497A-8D29-39D0751B245D}"/>
              </a:ext>
            </a:extLst>
          </p:cNvPr>
          <p:cNvSpPr txBox="1"/>
          <p:nvPr/>
        </p:nvSpPr>
        <p:spPr>
          <a:xfrm>
            <a:off x="462076" y="1508200"/>
            <a:ext cx="699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broker1</a:t>
            </a:r>
            <a:endParaRPr lang="zh-CN" altLang="en-US" sz="1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8900F4-5FAC-4FB3-9FCD-AF156F302739}"/>
              </a:ext>
            </a:extLst>
          </p:cNvPr>
          <p:cNvSpPr/>
          <p:nvPr/>
        </p:nvSpPr>
        <p:spPr>
          <a:xfrm>
            <a:off x="434216" y="2265334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F53CFE-DAC5-4FE4-9E46-0A0814981369}"/>
              </a:ext>
            </a:extLst>
          </p:cNvPr>
          <p:cNvSpPr txBox="1"/>
          <p:nvPr/>
        </p:nvSpPr>
        <p:spPr>
          <a:xfrm>
            <a:off x="462076" y="2250480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broker2</a:t>
            </a:r>
            <a:endParaRPr lang="zh-CN" altLang="en-US" sz="1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E1D5FA-A1F1-41D9-90CD-905A28C54D53}"/>
              </a:ext>
            </a:extLst>
          </p:cNvPr>
          <p:cNvSpPr/>
          <p:nvPr/>
        </p:nvSpPr>
        <p:spPr>
          <a:xfrm>
            <a:off x="537783" y="2497902"/>
            <a:ext cx="862551" cy="3440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212B6A-AA0F-4944-8359-12CCEA3E9355}"/>
              </a:ext>
            </a:extLst>
          </p:cNvPr>
          <p:cNvSpPr/>
          <p:nvPr/>
        </p:nvSpPr>
        <p:spPr>
          <a:xfrm>
            <a:off x="540501" y="1791691"/>
            <a:ext cx="862551" cy="3386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FD2BB1-9254-47A0-BC23-7A31020B6600}"/>
              </a:ext>
            </a:extLst>
          </p:cNvPr>
          <p:cNvSpPr/>
          <p:nvPr/>
        </p:nvSpPr>
        <p:spPr>
          <a:xfrm>
            <a:off x="434216" y="2943421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A0B2D48-FE19-4F21-BDB0-8ED06A78F616}"/>
              </a:ext>
            </a:extLst>
          </p:cNvPr>
          <p:cNvSpPr txBox="1"/>
          <p:nvPr/>
        </p:nvSpPr>
        <p:spPr>
          <a:xfrm>
            <a:off x="462076" y="2928567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broker3</a:t>
            </a:r>
            <a:endParaRPr lang="zh-CN" altLang="en-US" sz="1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CBEC5C-E5FD-4389-BE81-4E2703E953CF}"/>
              </a:ext>
            </a:extLst>
          </p:cNvPr>
          <p:cNvSpPr/>
          <p:nvPr/>
        </p:nvSpPr>
        <p:spPr>
          <a:xfrm>
            <a:off x="537783" y="3175990"/>
            <a:ext cx="862551" cy="3484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Partition3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2A962BC-FE7F-4948-863C-B2C1C8AADAB6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>
          <a:xfrm flipV="1">
            <a:off x="1403053" y="1234999"/>
            <a:ext cx="735946" cy="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846F121-B83B-4939-9CBE-251B03C3EF5A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>
            <a:off x="1400334" y="2669937"/>
            <a:ext cx="738664" cy="12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93E9978-4E06-4AE7-B531-BDBECCE17023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>
          <a:xfrm flipV="1">
            <a:off x="1403052" y="1952877"/>
            <a:ext cx="735947" cy="8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452A13D-DB09-4C64-BE92-693AE18CCDB2}"/>
              </a:ext>
            </a:extLst>
          </p:cNvPr>
          <p:cNvCxnSpPr>
            <a:cxnSpLocks/>
            <a:stCxn id="20" idx="3"/>
            <a:endCxn id="26" idx="1"/>
          </p:cNvCxnSpPr>
          <p:nvPr/>
        </p:nvCxnSpPr>
        <p:spPr>
          <a:xfrm>
            <a:off x="1400334" y="3350207"/>
            <a:ext cx="7386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8C09AFE8-CC8B-474D-9585-2E9E6F89A97F}"/>
              </a:ext>
            </a:extLst>
          </p:cNvPr>
          <p:cNvSpPr/>
          <p:nvPr/>
        </p:nvSpPr>
        <p:spPr>
          <a:xfrm>
            <a:off x="2138998" y="2544351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55E9063-3008-4160-81F9-42EF9A585710}"/>
              </a:ext>
            </a:extLst>
          </p:cNvPr>
          <p:cNvSpPr/>
          <p:nvPr/>
        </p:nvSpPr>
        <p:spPr>
          <a:xfrm>
            <a:off x="2138997" y="3211707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312B52-8911-44E4-B99A-C14E6A84C8FC}"/>
              </a:ext>
            </a:extLst>
          </p:cNvPr>
          <p:cNvSpPr/>
          <p:nvPr/>
        </p:nvSpPr>
        <p:spPr>
          <a:xfrm>
            <a:off x="2142724" y="3684586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F5074A-E046-454E-BCDF-1614B6818C53}"/>
              </a:ext>
            </a:extLst>
          </p:cNvPr>
          <p:cNvSpPr/>
          <p:nvPr/>
        </p:nvSpPr>
        <p:spPr>
          <a:xfrm>
            <a:off x="6803366" y="500088"/>
            <a:ext cx="1225018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3ED5B4-31DB-4455-9E8D-5B2886A57FC3}"/>
              </a:ext>
            </a:extLst>
          </p:cNvPr>
          <p:cNvSpPr txBox="1"/>
          <p:nvPr/>
        </p:nvSpPr>
        <p:spPr>
          <a:xfrm>
            <a:off x="7095264" y="483518"/>
            <a:ext cx="553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CG1</a:t>
            </a:r>
            <a:endParaRPr lang="zh-CN" altLang="en-US" sz="10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A1A0E5-A5BE-48C7-B1FD-D9C2AADCC3E9}"/>
              </a:ext>
            </a:extLst>
          </p:cNvPr>
          <p:cNvSpPr/>
          <p:nvPr/>
        </p:nvSpPr>
        <p:spPr>
          <a:xfrm>
            <a:off x="6963535" y="1096499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D03EFA9-BB39-45F3-A50B-AE351C8AE9F1}"/>
              </a:ext>
            </a:extLst>
          </p:cNvPr>
          <p:cNvSpPr/>
          <p:nvPr/>
        </p:nvSpPr>
        <p:spPr>
          <a:xfrm>
            <a:off x="6963535" y="1814377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A7EFDF-DE8F-4E0D-AFEB-0A076290A545}"/>
              </a:ext>
            </a:extLst>
          </p:cNvPr>
          <p:cNvSpPr/>
          <p:nvPr/>
        </p:nvSpPr>
        <p:spPr>
          <a:xfrm>
            <a:off x="4067944" y="500088"/>
            <a:ext cx="1296144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6C349D-BC85-4974-9BCC-5D7A53DDBDE1}"/>
              </a:ext>
            </a:extLst>
          </p:cNvPr>
          <p:cNvSpPr/>
          <p:nvPr/>
        </p:nvSpPr>
        <p:spPr>
          <a:xfrm>
            <a:off x="4175422" y="831434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55BDE7E-0254-4FA6-B306-B3FD5BE5FF41}"/>
              </a:ext>
            </a:extLst>
          </p:cNvPr>
          <p:cNvSpPr txBox="1"/>
          <p:nvPr/>
        </p:nvSpPr>
        <p:spPr>
          <a:xfrm>
            <a:off x="4175423" y="816919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broker0</a:t>
            </a:r>
            <a:endParaRPr lang="zh-CN" altLang="en-US" sz="1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011916-355B-4CFB-B204-59BB651772D8}"/>
              </a:ext>
            </a:extLst>
          </p:cNvPr>
          <p:cNvSpPr txBox="1"/>
          <p:nvPr/>
        </p:nvSpPr>
        <p:spPr>
          <a:xfrm>
            <a:off x="4147751" y="485057"/>
            <a:ext cx="1216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Kafka cluster</a:t>
            </a:r>
            <a:endParaRPr lang="zh-CN" altLang="en-US" sz="10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68B327C-9235-4FD2-85B7-72500872F734}"/>
              </a:ext>
            </a:extLst>
          </p:cNvPr>
          <p:cNvSpPr/>
          <p:nvPr/>
        </p:nvSpPr>
        <p:spPr>
          <a:xfrm>
            <a:off x="4174212" y="1550152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3EFDC67-631B-4720-8F85-5207CA65FF06}"/>
              </a:ext>
            </a:extLst>
          </p:cNvPr>
          <p:cNvSpPr/>
          <p:nvPr/>
        </p:nvSpPr>
        <p:spPr>
          <a:xfrm>
            <a:off x="4278491" y="1067600"/>
            <a:ext cx="864558" cy="3364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Partition0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D4E5FC9-FB03-4D7D-B888-582173C61490}"/>
              </a:ext>
            </a:extLst>
          </p:cNvPr>
          <p:cNvSpPr txBox="1"/>
          <p:nvPr/>
        </p:nvSpPr>
        <p:spPr>
          <a:xfrm>
            <a:off x="4202072" y="1508200"/>
            <a:ext cx="699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broker1</a:t>
            </a:r>
            <a:endParaRPr lang="zh-CN" altLang="en-US" sz="10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733B467-0579-4BFF-90CA-C9091966B720}"/>
              </a:ext>
            </a:extLst>
          </p:cNvPr>
          <p:cNvSpPr/>
          <p:nvPr/>
        </p:nvSpPr>
        <p:spPr>
          <a:xfrm>
            <a:off x="4174212" y="2265334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35E0BAB-9B7C-4016-A8C2-3A4D14787F17}"/>
              </a:ext>
            </a:extLst>
          </p:cNvPr>
          <p:cNvSpPr txBox="1"/>
          <p:nvPr/>
        </p:nvSpPr>
        <p:spPr>
          <a:xfrm>
            <a:off x="4202072" y="2250480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broker2</a:t>
            </a:r>
            <a:endParaRPr lang="zh-CN" altLang="en-US" sz="1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0BA98F-C8B9-4A84-B697-B2F9E84D91AA}"/>
              </a:ext>
            </a:extLst>
          </p:cNvPr>
          <p:cNvSpPr/>
          <p:nvPr/>
        </p:nvSpPr>
        <p:spPr>
          <a:xfrm>
            <a:off x="4277779" y="2497902"/>
            <a:ext cx="862551" cy="3440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5DB2379-C4AC-47F3-8788-600C8648D33A}"/>
              </a:ext>
            </a:extLst>
          </p:cNvPr>
          <p:cNvSpPr/>
          <p:nvPr/>
        </p:nvSpPr>
        <p:spPr>
          <a:xfrm>
            <a:off x="4280497" y="1791691"/>
            <a:ext cx="862551" cy="3386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A6BA5A2-3FE4-4140-9F5F-D9808A56763E}"/>
              </a:ext>
            </a:extLst>
          </p:cNvPr>
          <p:cNvSpPr/>
          <p:nvPr/>
        </p:nvSpPr>
        <p:spPr>
          <a:xfrm>
            <a:off x="4174212" y="2943421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55D24AB-33D9-497E-83EA-4A6CBCAD272E}"/>
              </a:ext>
            </a:extLst>
          </p:cNvPr>
          <p:cNvSpPr txBox="1"/>
          <p:nvPr/>
        </p:nvSpPr>
        <p:spPr>
          <a:xfrm>
            <a:off x="4202072" y="2928567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broker3</a:t>
            </a:r>
            <a:endParaRPr lang="zh-CN" altLang="en-US" sz="1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020A2BE-05A5-44A6-AB78-ED8A9EF9458E}"/>
              </a:ext>
            </a:extLst>
          </p:cNvPr>
          <p:cNvSpPr/>
          <p:nvPr/>
        </p:nvSpPr>
        <p:spPr>
          <a:xfrm>
            <a:off x="4277779" y="3175990"/>
            <a:ext cx="862551" cy="3484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Partition3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803C7C2-1872-437B-991F-0EF5DBF5DAF9}"/>
              </a:ext>
            </a:extLst>
          </p:cNvPr>
          <p:cNvCxnSpPr>
            <a:cxnSpLocks/>
            <a:stCxn id="37" idx="3"/>
            <a:endCxn id="30" idx="1"/>
          </p:cNvCxnSpPr>
          <p:nvPr/>
        </p:nvCxnSpPr>
        <p:spPr>
          <a:xfrm flipV="1">
            <a:off x="5143049" y="1234999"/>
            <a:ext cx="1820486" cy="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1073B28-31E4-4D38-BC02-9A7000CD7986}"/>
              </a:ext>
            </a:extLst>
          </p:cNvPr>
          <p:cNvCxnSpPr>
            <a:cxnSpLocks/>
            <a:stCxn id="41" idx="3"/>
            <a:endCxn id="50" idx="1"/>
          </p:cNvCxnSpPr>
          <p:nvPr/>
        </p:nvCxnSpPr>
        <p:spPr>
          <a:xfrm>
            <a:off x="5140330" y="2669937"/>
            <a:ext cx="1823204" cy="12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BF24A89-7C1A-42B4-9CE9-4A6CAD88DEE5}"/>
              </a:ext>
            </a:extLst>
          </p:cNvPr>
          <p:cNvCxnSpPr>
            <a:cxnSpLocks/>
            <a:stCxn id="42" idx="3"/>
            <a:endCxn id="31" idx="1"/>
          </p:cNvCxnSpPr>
          <p:nvPr/>
        </p:nvCxnSpPr>
        <p:spPr>
          <a:xfrm flipV="1">
            <a:off x="5143048" y="1952877"/>
            <a:ext cx="1820487" cy="8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7CF7753-5EEC-4BA6-A998-188BB38CDF7B}"/>
              </a:ext>
            </a:extLst>
          </p:cNvPr>
          <p:cNvCxnSpPr>
            <a:cxnSpLocks/>
            <a:stCxn id="45" idx="3"/>
            <a:endCxn id="51" idx="1"/>
          </p:cNvCxnSpPr>
          <p:nvPr/>
        </p:nvCxnSpPr>
        <p:spPr>
          <a:xfrm>
            <a:off x="5140330" y="3350207"/>
            <a:ext cx="18232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E28BF55E-5E60-47DA-B0FE-5D3909EC66AA}"/>
              </a:ext>
            </a:extLst>
          </p:cNvPr>
          <p:cNvSpPr/>
          <p:nvPr/>
        </p:nvSpPr>
        <p:spPr>
          <a:xfrm>
            <a:off x="6963534" y="2544351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consumer3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23499D2-E3DD-4BF8-B581-21BDA72C8800}"/>
              </a:ext>
            </a:extLst>
          </p:cNvPr>
          <p:cNvSpPr/>
          <p:nvPr/>
        </p:nvSpPr>
        <p:spPr>
          <a:xfrm>
            <a:off x="6963533" y="3211707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consumer4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BA98261-B05E-4ADC-A0BB-1EE3E35C2DBE}"/>
              </a:ext>
            </a:extLst>
          </p:cNvPr>
          <p:cNvSpPr/>
          <p:nvPr/>
        </p:nvSpPr>
        <p:spPr>
          <a:xfrm>
            <a:off x="6803366" y="3854407"/>
            <a:ext cx="1225018" cy="1023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EE96FBF-4F63-4809-ACFC-E00FDD643200}"/>
              </a:ext>
            </a:extLst>
          </p:cNvPr>
          <p:cNvSpPr txBox="1"/>
          <p:nvPr/>
        </p:nvSpPr>
        <p:spPr>
          <a:xfrm>
            <a:off x="7095264" y="3837837"/>
            <a:ext cx="553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CG2</a:t>
            </a:r>
            <a:endParaRPr lang="zh-CN" altLang="en-US" sz="10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1C34423-BDF7-4DAA-A726-E5CDB4C75901}"/>
              </a:ext>
            </a:extLst>
          </p:cNvPr>
          <p:cNvSpPr/>
          <p:nvPr/>
        </p:nvSpPr>
        <p:spPr>
          <a:xfrm>
            <a:off x="6963532" y="4118798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consumer1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8C219C3-E0EF-42C3-BF4B-4BA0DF40DEF6}"/>
              </a:ext>
            </a:extLst>
          </p:cNvPr>
          <p:cNvSpPr/>
          <p:nvPr/>
        </p:nvSpPr>
        <p:spPr>
          <a:xfrm>
            <a:off x="6963532" y="4502474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consumer2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85E92F3-D850-4130-8482-72FD30626F66}"/>
              </a:ext>
            </a:extLst>
          </p:cNvPr>
          <p:cNvCxnSpPr>
            <a:stCxn id="37" idx="3"/>
            <a:endCxn id="54" idx="1"/>
          </p:cNvCxnSpPr>
          <p:nvPr/>
        </p:nvCxnSpPr>
        <p:spPr>
          <a:xfrm>
            <a:off x="5143049" y="1235818"/>
            <a:ext cx="1820483" cy="302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BD68DD0-FDC7-4412-817B-30D3E194CD08}"/>
              </a:ext>
            </a:extLst>
          </p:cNvPr>
          <p:cNvCxnSpPr>
            <a:stCxn id="42" idx="3"/>
            <a:endCxn id="54" idx="1"/>
          </p:cNvCxnSpPr>
          <p:nvPr/>
        </p:nvCxnSpPr>
        <p:spPr>
          <a:xfrm>
            <a:off x="5143048" y="1960996"/>
            <a:ext cx="1820484" cy="2296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9074ADB-7AF9-4913-A92E-8F778FC2750D}"/>
              </a:ext>
            </a:extLst>
          </p:cNvPr>
          <p:cNvCxnSpPr>
            <a:stCxn id="41" idx="3"/>
            <a:endCxn id="55" idx="1"/>
          </p:cNvCxnSpPr>
          <p:nvPr/>
        </p:nvCxnSpPr>
        <p:spPr>
          <a:xfrm>
            <a:off x="5140330" y="2669937"/>
            <a:ext cx="1823202" cy="1971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960A8DFC-8275-4087-8FF9-A418A6E4324E}"/>
              </a:ext>
            </a:extLst>
          </p:cNvPr>
          <p:cNvCxnSpPr>
            <a:cxnSpLocks/>
            <a:stCxn id="45" idx="3"/>
            <a:endCxn id="55" idx="1"/>
          </p:cNvCxnSpPr>
          <p:nvPr/>
        </p:nvCxnSpPr>
        <p:spPr>
          <a:xfrm>
            <a:off x="5140330" y="3350207"/>
            <a:ext cx="1823202" cy="1290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A20C7C67-8580-41D9-867E-884D2993D8D2}"/>
              </a:ext>
            </a:extLst>
          </p:cNvPr>
          <p:cNvSpPr txBox="1"/>
          <p:nvPr/>
        </p:nvSpPr>
        <p:spPr>
          <a:xfrm>
            <a:off x="3943599" y="3983414"/>
            <a:ext cx="2244273" cy="116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消费者组之间互不影响。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所有的消费者都属于某个消费者组，即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消费者组是逻辑上的一个订阅者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DFBFEB9-8216-48CE-8723-27E32D752078}"/>
              </a:ext>
            </a:extLst>
          </p:cNvPr>
          <p:cNvSpPr txBox="1"/>
          <p:nvPr/>
        </p:nvSpPr>
        <p:spPr>
          <a:xfrm>
            <a:off x="199486" y="4186933"/>
            <a:ext cx="3128619" cy="88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如果向消费组中添加更多的消费者，</a:t>
            </a:r>
            <a:r>
              <a:rPr lang="zh-CN" altLang="en-US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超过主题分区数量，则有一部分消费者就会闲置，不会接收任何消息。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04599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 animBg="1"/>
      <p:bldP spid="18" grpId="0" animBg="1"/>
      <p:bldP spid="19" grpId="0"/>
      <p:bldP spid="20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 animBg="1"/>
      <p:bldP spid="40" grpId="0"/>
      <p:bldP spid="41" grpId="0" animBg="1"/>
      <p:bldP spid="42" grpId="0" animBg="1"/>
      <p:bldP spid="43" grpId="0" animBg="1"/>
      <p:bldP spid="44" grpId="0"/>
      <p:bldP spid="45" grpId="0" animBg="1"/>
      <p:bldP spid="50" grpId="0" animBg="1"/>
      <p:bldP spid="51" grpId="0" animBg="1"/>
      <p:bldP spid="52" grpId="0" animBg="1"/>
      <p:bldP spid="53" grpId="0"/>
      <p:bldP spid="54" grpId="0" animBg="1"/>
      <p:bldP spid="55" grpId="0" animBg="1"/>
      <p:bldP spid="60" grpId="0"/>
      <p:bldP spid="6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934924-3AC1-44C6-AE48-2404E3D896A0}"/>
              </a:ext>
            </a:extLst>
          </p:cNvPr>
          <p:cNvSpPr/>
          <p:nvPr/>
        </p:nvSpPr>
        <p:spPr>
          <a:xfrm>
            <a:off x="1416040" y="1876379"/>
            <a:ext cx="3516000" cy="309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B016B-8145-4895-BEC9-FECF626A6F0A}"/>
              </a:ext>
            </a:extLst>
          </p:cNvPr>
          <p:cNvSpPr/>
          <p:nvPr/>
        </p:nvSpPr>
        <p:spPr>
          <a:xfrm>
            <a:off x="1551198" y="2190740"/>
            <a:ext cx="3236826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6B459C-2B26-45B7-8FF5-A3A5D8929602}"/>
              </a:ext>
            </a:extLst>
          </p:cNvPr>
          <p:cNvSpPr txBox="1"/>
          <p:nvPr/>
        </p:nvSpPr>
        <p:spPr>
          <a:xfrm>
            <a:off x="1632828" y="2176225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6120AE-2A65-4DF7-9BD0-BDBE7784E679}"/>
              </a:ext>
            </a:extLst>
          </p:cNvPr>
          <p:cNvSpPr txBox="1"/>
          <p:nvPr/>
        </p:nvSpPr>
        <p:spPr>
          <a:xfrm>
            <a:off x="2557293" y="1875705"/>
            <a:ext cx="1590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054A8C-8879-44B7-AFC4-F0A1CA0E7F86}"/>
              </a:ext>
            </a:extLst>
          </p:cNvPr>
          <p:cNvSpPr/>
          <p:nvPr/>
        </p:nvSpPr>
        <p:spPr>
          <a:xfrm>
            <a:off x="1549988" y="3113579"/>
            <a:ext cx="3236826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FA50D3-4AF3-4466-B91D-A9C76C27F271}"/>
              </a:ext>
            </a:extLst>
          </p:cNvPr>
          <p:cNvSpPr/>
          <p:nvPr/>
        </p:nvSpPr>
        <p:spPr>
          <a:xfrm>
            <a:off x="50167" y="3424802"/>
            <a:ext cx="1090460" cy="3856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8F8161-71A5-46F2-91E3-0AD6BE93DF59}"/>
              </a:ext>
            </a:extLst>
          </p:cNvPr>
          <p:cNvSpPr/>
          <p:nvPr/>
        </p:nvSpPr>
        <p:spPr>
          <a:xfrm>
            <a:off x="1693197" y="2497334"/>
            <a:ext cx="1728192" cy="38568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TopicA-Partition0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E53296-B7BC-4352-A055-EC4BBF04D620}"/>
              </a:ext>
            </a:extLst>
          </p:cNvPr>
          <p:cNvSpPr/>
          <p:nvPr/>
        </p:nvSpPr>
        <p:spPr>
          <a:xfrm>
            <a:off x="1693197" y="3424802"/>
            <a:ext cx="1728192" cy="38568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TopicA-Partition1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0344C4-2EF2-4EC4-B1E8-95CB44FBB669}"/>
              </a:ext>
            </a:extLst>
          </p:cNvPr>
          <p:cNvSpPr txBox="1"/>
          <p:nvPr/>
        </p:nvSpPr>
        <p:spPr>
          <a:xfrm>
            <a:off x="1632828" y="3095471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596480-A58F-419B-A68B-8EFC293A8AA5}"/>
              </a:ext>
            </a:extLst>
          </p:cNvPr>
          <p:cNvSpPr/>
          <p:nvPr/>
        </p:nvSpPr>
        <p:spPr>
          <a:xfrm>
            <a:off x="1549988" y="4042178"/>
            <a:ext cx="3236826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EE61F1-DFA2-4249-AEE3-A80DF017DDDB}"/>
              </a:ext>
            </a:extLst>
          </p:cNvPr>
          <p:cNvSpPr txBox="1"/>
          <p:nvPr/>
        </p:nvSpPr>
        <p:spPr>
          <a:xfrm>
            <a:off x="1632828" y="402407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83043B-23E1-45FE-9754-429BA4D98E80}"/>
              </a:ext>
            </a:extLst>
          </p:cNvPr>
          <p:cNvSpPr/>
          <p:nvPr/>
        </p:nvSpPr>
        <p:spPr>
          <a:xfrm>
            <a:off x="1715709" y="4319177"/>
            <a:ext cx="1728192" cy="3856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TopicA-Partition2</a:t>
            </a:r>
            <a:endParaRPr lang="zh-CN" altLang="en-US" sz="140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E952D4E-A44E-42C2-800F-BE3C2DD5BD2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140627" y="2690177"/>
            <a:ext cx="552570" cy="9274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10AF966-6F5E-4130-B583-0A7A92B66C4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140627" y="3617645"/>
            <a:ext cx="552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84B6617-EF16-4CE4-BE16-195527DB0111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140627" y="3617645"/>
            <a:ext cx="575082" cy="8943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04F3B9E-60D3-4675-8848-843481351883}"/>
              </a:ext>
            </a:extLst>
          </p:cNvPr>
          <p:cNvSpPr txBox="1"/>
          <p:nvPr/>
        </p:nvSpPr>
        <p:spPr>
          <a:xfrm>
            <a:off x="471964" y="0"/>
            <a:ext cx="245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消费者组初始化流程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CA355E-6AA6-4204-9318-47D6E0ED7A2D}"/>
              </a:ext>
            </a:extLst>
          </p:cNvPr>
          <p:cNvSpPr/>
          <p:nvPr/>
        </p:nvSpPr>
        <p:spPr>
          <a:xfrm>
            <a:off x="35496" y="2668067"/>
            <a:ext cx="1105131" cy="6381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400" dirty="0"/>
              <a:t>数据</a:t>
            </a:r>
            <a:r>
              <a:rPr lang="en-US" altLang="zh-CN" sz="1400" dirty="0"/>
              <a:t>100T</a:t>
            </a:r>
            <a:endParaRPr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40BF5A-8740-4A23-8A56-EF93F3A3AD1F}"/>
              </a:ext>
            </a:extLst>
          </p:cNvPr>
          <p:cNvSpPr/>
          <p:nvPr/>
        </p:nvSpPr>
        <p:spPr>
          <a:xfrm>
            <a:off x="179513" y="3040252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EE384B-AA99-4700-86B0-904C4B546B49}"/>
              </a:ext>
            </a:extLst>
          </p:cNvPr>
          <p:cNvSpPr/>
          <p:nvPr/>
        </p:nvSpPr>
        <p:spPr>
          <a:xfrm>
            <a:off x="484673" y="3044028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964E0E-A487-453D-83BE-7A67E08EBEA3}"/>
              </a:ext>
            </a:extLst>
          </p:cNvPr>
          <p:cNvSpPr/>
          <p:nvPr/>
        </p:nvSpPr>
        <p:spPr>
          <a:xfrm>
            <a:off x="789832" y="3047804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A2F83CE-D431-4EDF-A748-69C4C4876D25}"/>
              </a:ext>
            </a:extLst>
          </p:cNvPr>
          <p:cNvGrpSpPr/>
          <p:nvPr/>
        </p:nvGrpSpPr>
        <p:grpSpPr>
          <a:xfrm>
            <a:off x="7619821" y="1851670"/>
            <a:ext cx="1264683" cy="3147598"/>
            <a:chOff x="7798493" y="2748222"/>
            <a:chExt cx="1264683" cy="132652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2113404-62B7-4CAC-B1C6-D76E50C3D52C}"/>
                </a:ext>
              </a:extLst>
            </p:cNvPr>
            <p:cNvSpPr/>
            <p:nvPr/>
          </p:nvSpPr>
          <p:spPr>
            <a:xfrm>
              <a:off x="7798493" y="2767698"/>
              <a:ext cx="1264683" cy="13070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A001968-D893-4B38-A073-51A56F2A3727}"/>
                </a:ext>
              </a:extLst>
            </p:cNvPr>
            <p:cNvSpPr/>
            <p:nvPr/>
          </p:nvSpPr>
          <p:spPr>
            <a:xfrm>
              <a:off x="7890914" y="2957216"/>
              <a:ext cx="1102437" cy="14794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9743457-0A8A-402E-8499-6DDCF0BCB1DF}"/>
                </a:ext>
              </a:extLst>
            </p:cNvPr>
            <p:cNvSpPr/>
            <p:nvPr/>
          </p:nvSpPr>
          <p:spPr>
            <a:xfrm>
              <a:off x="7890914" y="3407192"/>
              <a:ext cx="1102437" cy="15183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FA22380-61DA-4D7C-98DA-43359801BD71}"/>
                </a:ext>
              </a:extLst>
            </p:cNvPr>
            <p:cNvSpPr/>
            <p:nvPr/>
          </p:nvSpPr>
          <p:spPr>
            <a:xfrm>
              <a:off x="7879615" y="3889909"/>
              <a:ext cx="1102437" cy="12973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03B8E1F-3E75-421B-AA2D-CC14E5527C8B}"/>
                </a:ext>
              </a:extLst>
            </p:cNvPr>
            <p:cNvSpPr txBox="1"/>
            <p:nvPr/>
          </p:nvSpPr>
          <p:spPr>
            <a:xfrm>
              <a:off x="7871180" y="2748222"/>
              <a:ext cx="1043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group</a:t>
              </a:r>
              <a:endParaRPr lang="zh-CN" altLang="en-US" sz="1400" dirty="0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659C9749-5B8D-4B13-8B9F-56838D41E3D4}"/>
              </a:ext>
            </a:extLst>
          </p:cNvPr>
          <p:cNvSpPr txBox="1"/>
          <p:nvPr/>
        </p:nvSpPr>
        <p:spPr>
          <a:xfrm>
            <a:off x="2267744" y="2241968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07F67D7-74C1-4BF0-848E-3E30FCB1A4CF}"/>
              </a:ext>
            </a:extLst>
          </p:cNvPr>
          <p:cNvSpPr txBox="1"/>
          <p:nvPr/>
        </p:nvSpPr>
        <p:spPr>
          <a:xfrm>
            <a:off x="2279070" y="3152322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3230CBC-0821-43AB-A77D-2488314B3898}"/>
              </a:ext>
            </a:extLst>
          </p:cNvPr>
          <p:cNvSpPr txBox="1"/>
          <p:nvPr/>
        </p:nvSpPr>
        <p:spPr>
          <a:xfrm>
            <a:off x="2291355" y="4051485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1948F2-B5F0-4A6C-B3E7-B5927D465CBA}"/>
              </a:ext>
            </a:extLst>
          </p:cNvPr>
          <p:cNvSpPr/>
          <p:nvPr/>
        </p:nvSpPr>
        <p:spPr>
          <a:xfrm>
            <a:off x="3573102" y="2495338"/>
            <a:ext cx="1070906" cy="3856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coordinator</a:t>
            </a:r>
            <a:endParaRPr lang="zh-CN" altLang="en-US" sz="1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F0AAC31-C94A-4E57-9F3F-AAE7384C3A6C}"/>
              </a:ext>
            </a:extLst>
          </p:cNvPr>
          <p:cNvSpPr/>
          <p:nvPr/>
        </p:nvSpPr>
        <p:spPr>
          <a:xfrm>
            <a:off x="3569552" y="3422783"/>
            <a:ext cx="1070906" cy="3856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coordinator</a:t>
            </a:r>
            <a:endParaRPr lang="zh-CN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C6FDBD-B8BC-4D0F-B763-779B39954FF9}"/>
              </a:ext>
            </a:extLst>
          </p:cNvPr>
          <p:cNvSpPr/>
          <p:nvPr/>
        </p:nvSpPr>
        <p:spPr>
          <a:xfrm>
            <a:off x="3569552" y="4319175"/>
            <a:ext cx="1070906" cy="3856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coordinator</a:t>
            </a:r>
            <a:endParaRPr lang="zh-CN" altLang="en-US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67E000F-035B-4037-BE90-513FB221BCEE}"/>
              </a:ext>
            </a:extLst>
          </p:cNvPr>
          <p:cNvSpPr txBox="1"/>
          <p:nvPr/>
        </p:nvSpPr>
        <p:spPr>
          <a:xfrm>
            <a:off x="179513" y="405349"/>
            <a:ext cx="8928991" cy="919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100" dirty="0"/>
              <a:t>1</a:t>
            </a:r>
            <a:r>
              <a:rPr lang="zh-CN" altLang="en-US" sz="1100" dirty="0"/>
              <a:t>、coordinator：辅助实现消费者组的初始化和分区的分配。</a:t>
            </a:r>
            <a:endParaRPr lang="en-US" altLang="zh-CN" sz="1100" dirty="0"/>
          </a:p>
          <a:p>
            <a:pPr>
              <a:lnSpc>
                <a:spcPct val="125000"/>
              </a:lnSpc>
            </a:pPr>
            <a:r>
              <a:rPr lang="en-US" altLang="zh-CN" sz="1100" dirty="0"/>
              <a:t>      </a:t>
            </a:r>
            <a:r>
              <a:rPr lang="zh-CN" altLang="en-US" sz="1100" dirty="0"/>
              <a:t>coordinator节点选择 </a:t>
            </a:r>
            <a:r>
              <a:rPr lang="en-US" altLang="zh-CN" sz="1100" dirty="0"/>
              <a:t>= </a:t>
            </a:r>
            <a:r>
              <a:rPr lang="en-US" altLang="zh-CN" sz="1100" dirty="0" err="1">
                <a:solidFill>
                  <a:srgbClr val="FF0000"/>
                </a:solidFill>
              </a:rPr>
              <a:t>groupid</a:t>
            </a:r>
            <a:r>
              <a:rPr lang="zh-CN" altLang="en-US" sz="1100" dirty="0">
                <a:solidFill>
                  <a:srgbClr val="FF0000"/>
                </a:solidFill>
              </a:rPr>
              <a:t>的</a:t>
            </a:r>
            <a:r>
              <a:rPr lang="en-US" altLang="zh-CN" sz="1100" dirty="0" err="1">
                <a:solidFill>
                  <a:srgbClr val="FF0000"/>
                </a:solidFill>
              </a:rPr>
              <a:t>hashcode</a:t>
            </a:r>
            <a:r>
              <a:rPr lang="zh-CN" altLang="en-US" sz="1100" dirty="0">
                <a:solidFill>
                  <a:srgbClr val="FF0000"/>
                </a:solidFill>
              </a:rPr>
              <a:t>值</a:t>
            </a:r>
            <a:r>
              <a:rPr lang="en-US" altLang="zh-CN" sz="1100" dirty="0">
                <a:solidFill>
                  <a:srgbClr val="FF0000"/>
                </a:solidFill>
              </a:rPr>
              <a:t> % 50</a:t>
            </a:r>
            <a:r>
              <a:rPr lang="zh-CN" altLang="en-US" sz="1100" dirty="0">
                <a:solidFill>
                  <a:srgbClr val="FF0000"/>
                </a:solidFill>
              </a:rPr>
              <a:t>（</a:t>
            </a:r>
            <a:r>
              <a:rPr lang="en-US" altLang="zh-CN" sz="1100" dirty="0">
                <a:solidFill>
                  <a:srgbClr val="FF0000"/>
                </a:solidFill>
              </a:rPr>
              <a:t> __</a:t>
            </a:r>
            <a:r>
              <a:rPr lang="en-US" altLang="zh-CN" sz="1100" dirty="0" err="1">
                <a:solidFill>
                  <a:srgbClr val="FF0000"/>
                </a:solidFill>
              </a:rPr>
              <a:t>consumer_offsets</a:t>
            </a:r>
            <a:r>
              <a:rPr lang="zh-CN" altLang="en-US" sz="1100" dirty="0">
                <a:solidFill>
                  <a:srgbClr val="FF0000"/>
                </a:solidFill>
              </a:rPr>
              <a:t>的分区数量）</a:t>
            </a:r>
            <a:endParaRPr lang="en-US" altLang="zh-CN" sz="11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100" dirty="0"/>
              <a:t>      </a:t>
            </a:r>
            <a:r>
              <a:rPr lang="zh-CN" altLang="en-US" sz="1100" dirty="0"/>
              <a:t>例如：</a:t>
            </a:r>
            <a:r>
              <a:rPr lang="en-US" altLang="zh-CN" sz="1100" dirty="0"/>
              <a:t> </a:t>
            </a:r>
            <a:r>
              <a:rPr lang="en-US" altLang="zh-CN" sz="1100" dirty="0" err="1"/>
              <a:t>groupid</a:t>
            </a:r>
            <a:r>
              <a:rPr lang="zh-CN" altLang="en-US" sz="1100" dirty="0"/>
              <a:t>的</a:t>
            </a:r>
            <a:r>
              <a:rPr lang="en-US" altLang="zh-CN" sz="1100" dirty="0" err="1"/>
              <a:t>hashcode</a:t>
            </a:r>
            <a:r>
              <a:rPr lang="zh-CN" altLang="en-US" sz="1100" dirty="0"/>
              <a:t>值</a:t>
            </a:r>
            <a:r>
              <a:rPr lang="en-US" altLang="zh-CN" sz="1100" dirty="0"/>
              <a:t> = 1</a:t>
            </a:r>
            <a:r>
              <a:rPr lang="zh-CN" altLang="en-US" sz="1100" dirty="0"/>
              <a:t>，</a:t>
            </a:r>
            <a:r>
              <a:rPr lang="en-US" altLang="zh-CN" sz="1100" dirty="0"/>
              <a:t>1% 50 = 1</a:t>
            </a:r>
            <a:r>
              <a:rPr lang="zh-CN" altLang="en-US" sz="1100" dirty="0"/>
              <a:t>，那么</a:t>
            </a:r>
            <a:r>
              <a:rPr lang="en-US" altLang="zh-CN" sz="1100" dirty="0"/>
              <a:t>__</a:t>
            </a:r>
            <a:r>
              <a:rPr lang="en-US" altLang="zh-CN" sz="1100" dirty="0" err="1"/>
              <a:t>consumer_offsets</a:t>
            </a:r>
            <a:r>
              <a:rPr lang="en-US" altLang="zh-CN" sz="1100" dirty="0"/>
              <a:t> </a:t>
            </a:r>
            <a:r>
              <a:rPr lang="zh-CN" altLang="en-US" sz="1100" dirty="0"/>
              <a:t>主题的</a:t>
            </a:r>
            <a:r>
              <a:rPr lang="en-US" altLang="zh-CN" sz="1100" dirty="0"/>
              <a:t>1</a:t>
            </a:r>
            <a:r>
              <a:rPr lang="zh-CN" altLang="en-US" sz="1100" dirty="0"/>
              <a:t>号分区，在哪个</a:t>
            </a:r>
            <a:r>
              <a:rPr lang="en-US" altLang="zh-CN" sz="1100" dirty="0"/>
              <a:t>broker</a:t>
            </a:r>
            <a:r>
              <a:rPr lang="zh-CN" altLang="en-US" sz="1100" dirty="0"/>
              <a:t>上，就选择这个节点的</a:t>
            </a:r>
            <a:r>
              <a:rPr lang="en-US" altLang="zh-CN" sz="1100" dirty="0"/>
              <a:t>coordinator</a:t>
            </a:r>
            <a:r>
              <a:rPr lang="zh-CN" altLang="en-US" sz="1100" dirty="0"/>
              <a:t>作为这个消费者组的老大。消费者组下的所有的消费者提交</a:t>
            </a:r>
            <a:r>
              <a:rPr lang="en-US" altLang="zh-CN" sz="1100" dirty="0"/>
              <a:t>offset</a:t>
            </a:r>
            <a:r>
              <a:rPr lang="zh-CN" altLang="en-US" sz="1100" dirty="0"/>
              <a:t>的时候就往这个分区去提交</a:t>
            </a:r>
            <a:r>
              <a:rPr lang="en-US" altLang="zh-CN" sz="1100" dirty="0"/>
              <a:t>offset</a:t>
            </a:r>
            <a:r>
              <a:rPr lang="zh-CN" altLang="en-US" sz="1100" dirty="0"/>
              <a:t>。</a:t>
            </a:r>
            <a:endParaRPr lang="en-US" altLang="zh-CN" sz="11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347044B-0438-4EC6-882A-6D27FFAD3FE7}"/>
              </a:ext>
            </a:extLst>
          </p:cNvPr>
          <p:cNvCxnSpPr>
            <a:cxnSpLocks/>
            <a:stCxn id="24" idx="1"/>
            <a:endCxn id="32" idx="3"/>
          </p:cNvCxnSpPr>
          <p:nvPr/>
        </p:nvCxnSpPr>
        <p:spPr>
          <a:xfrm flipH="1">
            <a:off x="4640458" y="2523101"/>
            <a:ext cx="3071784" cy="1092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A958F58-3B53-4ED8-855A-6FCE93D46982}"/>
              </a:ext>
            </a:extLst>
          </p:cNvPr>
          <p:cNvCxnSpPr>
            <a:cxnSpLocks/>
            <a:stCxn id="25" idx="1"/>
            <a:endCxn id="32" idx="3"/>
          </p:cNvCxnSpPr>
          <p:nvPr/>
        </p:nvCxnSpPr>
        <p:spPr>
          <a:xfrm flipH="1">
            <a:off x="4640458" y="3595428"/>
            <a:ext cx="3071784" cy="2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BD1FE3F-7F3A-4392-BD9B-E464B1C31B84}"/>
              </a:ext>
            </a:extLst>
          </p:cNvPr>
          <p:cNvCxnSpPr>
            <a:cxnSpLocks/>
            <a:stCxn id="26" idx="1"/>
            <a:endCxn id="32" idx="3"/>
          </p:cNvCxnSpPr>
          <p:nvPr/>
        </p:nvCxnSpPr>
        <p:spPr>
          <a:xfrm flipH="1" flipV="1">
            <a:off x="4640458" y="3615626"/>
            <a:ext cx="3060485" cy="1098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33681D65-D0FA-4112-A608-64B06A9B5471}"/>
              </a:ext>
            </a:extLst>
          </p:cNvPr>
          <p:cNvSpPr txBox="1"/>
          <p:nvPr/>
        </p:nvSpPr>
        <p:spPr>
          <a:xfrm>
            <a:off x="6469891" y="2201714"/>
            <a:ext cx="1236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1）每个consumer都发送JoinGroup请求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668CE72-AEA5-4DA1-9A59-F7BF4DF85857}"/>
              </a:ext>
            </a:extLst>
          </p:cNvPr>
          <p:cNvSpPr txBox="1"/>
          <p:nvPr/>
        </p:nvSpPr>
        <p:spPr>
          <a:xfrm>
            <a:off x="4891599" y="4090343"/>
            <a:ext cx="1264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2）选出一个consumer作为leader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5904D37E-8DE0-4DB5-866B-8E1E28A372BA}"/>
              </a:ext>
            </a:extLst>
          </p:cNvPr>
          <p:cNvCxnSpPr>
            <a:cxnSpLocks/>
            <a:stCxn id="32" idx="2"/>
            <a:endCxn id="25" idx="2"/>
          </p:cNvCxnSpPr>
          <p:nvPr/>
        </p:nvCxnSpPr>
        <p:spPr>
          <a:xfrm rot="5400000" flipH="1" flipV="1">
            <a:off x="6167784" y="1712791"/>
            <a:ext cx="32898" cy="4158456"/>
          </a:xfrm>
          <a:prstGeom prst="bentConnector3">
            <a:avLst>
              <a:gd name="adj1" fmla="val -6948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13AEDC79-0936-429B-A5AB-1B847ECB6D34}"/>
              </a:ext>
            </a:extLst>
          </p:cNvPr>
          <p:cNvSpPr txBox="1"/>
          <p:nvPr/>
        </p:nvSpPr>
        <p:spPr>
          <a:xfrm>
            <a:off x="8252164" y="3769439"/>
            <a:ext cx="5992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Leader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FF2AB72-C1CE-426C-9E6A-4A8CDBE761E2}"/>
              </a:ext>
            </a:extLst>
          </p:cNvPr>
          <p:cNvSpPr txBox="1"/>
          <p:nvPr/>
        </p:nvSpPr>
        <p:spPr>
          <a:xfrm>
            <a:off x="6011479" y="3846507"/>
            <a:ext cx="151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3）把要消费的</a:t>
            </a:r>
            <a:r>
              <a:rPr lang="en-US" altLang="zh-CN" sz="900" dirty="0"/>
              <a:t>topic</a:t>
            </a:r>
            <a:r>
              <a:rPr lang="zh-CN" altLang="en-US" sz="900" dirty="0"/>
              <a:t>情况发送给leader 消费者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A04DFF9-1950-4039-B933-7D2B5EBDC65A}"/>
              </a:ext>
            </a:extLst>
          </p:cNvPr>
          <p:cNvSpPr txBox="1"/>
          <p:nvPr/>
        </p:nvSpPr>
        <p:spPr>
          <a:xfrm>
            <a:off x="7665274" y="2805999"/>
            <a:ext cx="1095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4）leader会负责制定消费方案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DBE3696-1DB3-47D3-A7EF-9DAD4796EC9A}"/>
              </a:ext>
            </a:extLst>
          </p:cNvPr>
          <p:cNvSpPr txBox="1"/>
          <p:nvPr/>
        </p:nvSpPr>
        <p:spPr>
          <a:xfrm>
            <a:off x="5752935" y="3199141"/>
            <a:ext cx="1948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5）把消费方案发给</a:t>
            </a:r>
            <a:r>
              <a:rPr lang="en-US" altLang="zh-CN" sz="1000" dirty="0"/>
              <a:t>coordinator</a:t>
            </a:r>
            <a:endParaRPr lang="zh-CN" altLang="en-US" sz="1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275576E-8A31-49F2-A2BB-DB089A9B0EBE}"/>
              </a:ext>
            </a:extLst>
          </p:cNvPr>
          <p:cNvSpPr txBox="1"/>
          <p:nvPr/>
        </p:nvSpPr>
        <p:spPr>
          <a:xfrm>
            <a:off x="4880445" y="2218105"/>
            <a:ext cx="1692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6）Coordinator就把消费方案下发给各个consumer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7DD9841-FDD5-49E9-A32E-D4BFE658F755}"/>
              </a:ext>
            </a:extLst>
          </p:cNvPr>
          <p:cNvCxnSpPr>
            <a:cxnSpLocks/>
          </p:cNvCxnSpPr>
          <p:nvPr/>
        </p:nvCxnSpPr>
        <p:spPr>
          <a:xfrm>
            <a:off x="4651757" y="3761306"/>
            <a:ext cx="3083945" cy="1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0F25D530-A890-464A-8823-AD4190116C8B}"/>
              </a:ext>
            </a:extLst>
          </p:cNvPr>
          <p:cNvCxnSpPr>
            <a:cxnSpLocks/>
            <a:stCxn id="25" idx="0"/>
            <a:endCxn id="32" idx="0"/>
          </p:cNvCxnSpPr>
          <p:nvPr/>
        </p:nvCxnSpPr>
        <p:spPr>
          <a:xfrm rot="16200000" flipH="1" flipV="1">
            <a:off x="6180484" y="1339806"/>
            <a:ext cx="7497" cy="4158456"/>
          </a:xfrm>
          <a:prstGeom prst="bentConnector3">
            <a:avLst>
              <a:gd name="adj1" fmla="val -288214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250F346-17DE-4211-ABAC-DA67BD7764F7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629159" y="3807335"/>
            <a:ext cx="3071784" cy="907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3EF4239-39CE-4696-9779-02C6ED197CDE}"/>
              </a:ext>
            </a:extLst>
          </p:cNvPr>
          <p:cNvCxnSpPr>
            <a:cxnSpLocks/>
          </p:cNvCxnSpPr>
          <p:nvPr/>
        </p:nvCxnSpPr>
        <p:spPr>
          <a:xfrm>
            <a:off x="4645800" y="3517257"/>
            <a:ext cx="3079760" cy="13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2134576-B146-47F8-AE1F-91A0D0AA77D2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4626674" y="2523101"/>
            <a:ext cx="3085568" cy="947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8B09BCCD-3BFC-4075-BE9F-A75F45B32BDD}"/>
              </a:ext>
            </a:extLst>
          </p:cNvPr>
          <p:cNvSpPr txBox="1"/>
          <p:nvPr/>
        </p:nvSpPr>
        <p:spPr>
          <a:xfrm>
            <a:off x="4891600" y="1356684"/>
            <a:ext cx="3992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7</a:t>
            </a:r>
            <a:r>
              <a:rPr lang="zh-CN" altLang="en-US" sz="1000" dirty="0"/>
              <a:t>）每个消费者都会和</a:t>
            </a:r>
            <a:r>
              <a:rPr lang="en-US" altLang="zh-CN" sz="1000" dirty="0"/>
              <a:t>coordinator</a:t>
            </a:r>
            <a:r>
              <a:rPr lang="zh-CN" altLang="en-US" sz="1000" dirty="0"/>
              <a:t>保持心跳（</a:t>
            </a:r>
            <a:r>
              <a:rPr lang="zh-CN" altLang="en-US" sz="1000" dirty="0">
                <a:solidFill>
                  <a:srgbClr val="FF0000"/>
                </a:solidFill>
              </a:rPr>
              <a:t>默认</a:t>
            </a:r>
            <a:r>
              <a:rPr lang="en-US" altLang="zh-CN" sz="1000" dirty="0">
                <a:solidFill>
                  <a:srgbClr val="FF0000"/>
                </a:solidFill>
              </a:rPr>
              <a:t>3s</a:t>
            </a:r>
            <a:r>
              <a:rPr lang="zh-CN" altLang="en-US" sz="1000" dirty="0"/>
              <a:t>），一旦超时（</a:t>
            </a:r>
            <a:r>
              <a:rPr lang="en-US" altLang="zh-CN" sz="1000" dirty="0"/>
              <a:t>session.timeout.ms=</a:t>
            </a:r>
            <a:r>
              <a:rPr lang="en-US" altLang="zh-CN" sz="1000" dirty="0">
                <a:solidFill>
                  <a:srgbClr val="FF0000"/>
                </a:solidFill>
              </a:rPr>
              <a:t>45s</a:t>
            </a:r>
            <a:r>
              <a:rPr lang="zh-CN" altLang="en-US" sz="1000" dirty="0"/>
              <a:t>），该消费者会被移除，并触发再平衡；</a:t>
            </a:r>
            <a:endParaRPr lang="en-US" altLang="zh-CN" sz="1000" dirty="0"/>
          </a:p>
          <a:p>
            <a:r>
              <a:rPr lang="zh-CN" altLang="en-US" sz="1000" dirty="0"/>
              <a:t>或者消费者处理消息的时间过长（</a:t>
            </a:r>
            <a:r>
              <a:rPr lang="en-US" altLang="zh-CN" sz="1000" dirty="0"/>
              <a:t>max.poll.interval.ms</a:t>
            </a:r>
            <a:r>
              <a:rPr lang="en-US" altLang="zh-CN" sz="1000" dirty="0">
                <a:solidFill>
                  <a:srgbClr val="FF0000"/>
                </a:solidFill>
              </a:rPr>
              <a:t>5</a:t>
            </a:r>
            <a:r>
              <a:rPr lang="zh-CN" altLang="en-US" sz="1000" dirty="0">
                <a:solidFill>
                  <a:srgbClr val="FF0000"/>
                </a:solidFill>
              </a:rPr>
              <a:t>分钟</a:t>
            </a:r>
            <a:r>
              <a:rPr lang="zh-CN" altLang="en-US" sz="1000" dirty="0"/>
              <a:t>），也会触发再平衡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F34FCD9-1029-4BBB-B406-3BFBE702129A}"/>
              </a:ext>
            </a:extLst>
          </p:cNvPr>
          <p:cNvSpPr/>
          <p:nvPr/>
        </p:nvSpPr>
        <p:spPr>
          <a:xfrm>
            <a:off x="3573102" y="2219045"/>
            <a:ext cx="1078654" cy="2359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__consumer_offsets-partition0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50004D1-9A05-4D68-85A5-001AD2BACACF}"/>
              </a:ext>
            </a:extLst>
          </p:cNvPr>
          <p:cNvSpPr/>
          <p:nvPr/>
        </p:nvSpPr>
        <p:spPr>
          <a:xfrm>
            <a:off x="2931430" y="3136526"/>
            <a:ext cx="1015096" cy="2359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__consumer_offsets-partition1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ED54DCF-A895-4773-813F-EF4707825131}"/>
              </a:ext>
            </a:extLst>
          </p:cNvPr>
          <p:cNvSpPr/>
          <p:nvPr/>
        </p:nvSpPr>
        <p:spPr>
          <a:xfrm>
            <a:off x="3569551" y="4051568"/>
            <a:ext cx="1082205" cy="2359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__consumer_offsets-partition2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9741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46914E-6 L 0.10417 -0.08488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-4259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60494E-6 L 0.13472 0.09352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36" y="466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32099E-6 L 0.17292 0.26451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3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8" grpId="0"/>
      <p:bldP spid="29" grpId="0"/>
      <p:bldP spid="30" grpId="0"/>
      <p:bldP spid="31" grpId="0" animBg="1"/>
      <p:bldP spid="32" grpId="0" animBg="1"/>
      <p:bldP spid="33" grpId="0" animBg="1"/>
      <p:bldP spid="34" grpId="0"/>
      <p:bldP spid="38" grpId="0"/>
      <p:bldP spid="39" grpId="0"/>
      <p:bldP spid="41" grpId="0"/>
      <p:bldP spid="42" grpId="0"/>
      <p:bldP spid="43" grpId="0"/>
      <p:bldP spid="44" grpId="0"/>
      <p:bldP spid="45" grpId="0"/>
      <p:bldP spid="51" grpId="0"/>
      <p:bldP spid="52" grpId="0" animBg="1"/>
      <p:bldP spid="53" grpId="0" animBg="1"/>
      <p:bldP spid="5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94C91A-5889-457F-943B-615481600667}"/>
              </a:ext>
            </a:extLst>
          </p:cNvPr>
          <p:cNvSpPr txBox="1"/>
          <p:nvPr/>
        </p:nvSpPr>
        <p:spPr>
          <a:xfrm>
            <a:off x="467544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消费者组详细消费流程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6F6851-DEAF-4C2E-B2FE-A2675F2BA236}"/>
              </a:ext>
            </a:extLst>
          </p:cNvPr>
          <p:cNvSpPr/>
          <p:nvPr/>
        </p:nvSpPr>
        <p:spPr>
          <a:xfrm>
            <a:off x="107504" y="483518"/>
            <a:ext cx="1725757" cy="3740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5A8410-4783-4A0D-8322-681C0BBB131F}"/>
              </a:ext>
            </a:extLst>
          </p:cNvPr>
          <p:cNvSpPr/>
          <p:nvPr/>
        </p:nvSpPr>
        <p:spPr>
          <a:xfrm>
            <a:off x="242662" y="797878"/>
            <a:ext cx="1450667" cy="9366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20C70D-004A-4BB1-8408-2C44EB773347}"/>
              </a:ext>
            </a:extLst>
          </p:cNvPr>
          <p:cNvSpPr txBox="1"/>
          <p:nvPr/>
        </p:nvSpPr>
        <p:spPr>
          <a:xfrm>
            <a:off x="324292" y="78336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E14833-7EDB-4F8A-B586-6C9630D2BFDF}"/>
              </a:ext>
            </a:extLst>
          </p:cNvPr>
          <p:cNvSpPr txBox="1"/>
          <p:nvPr/>
        </p:nvSpPr>
        <p:spPr>
          <a:xfrm>
            <a:off x="330927" y="490101"/>
            <a:ext cx="12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F20D6D-BC31-42B5-919C-F738E50E6C81}"/>
              </a:ext>
            </a:extLst>
          </p:cNvPr>
          <p:cNvSpPr/>
          <p:nvPr/>
        </p:nvSpPr>
        <p:spPr>
          <a:xfrm>
            <a:off x="241452" y="1930642"/>
            <a:ext cx="1450667" cy="9366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959E45-9465-44EF-9B11-45E2947374EC}"/>
              </a:ext>
            </a:extLst>
          </p:cNvPr>
          <p:cNvSpPr/>
          <p:nvPr/>
        </p:nvSpPr>
        <p:spPr>
          <a:xfrm>
            <a:off x="384661" y="1104473"/>
            <a:ext cx="1163442" cy="54586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/>
              <a:t>TopicA</a:t>
            </a:r>
            <a:endParaRPr lang="en-US" altLang="zh-CN" sz="1400" dirty="0"/>
          </a:p>
          <a:p>
            <a:r>
              <a:rPr lang="en-US" altLang="zh-CN" sz="1400" dirty="0"/>
              <a:t>-Partition0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EDCFE7-7729-451F-8BA8-2B9073427843}"/>
              </a:ext>
            </a:extLst>
          </p:cNvPr>
          <p:cNvSpPr/>
          <p:nvPr/>
        </p:nvSpPr>
        <p:spPr>
          <a:xfrm>
            <a:off x="384661" y="2241866"/>
            <a:ext cx="1163442" cy="54586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/>
              <a:t>TopicA</a:t>
            </a:r>
            <a:endParaRPr lang="en-US" altLang="zh-CN" sz="1400" dirty="0"/>
          </a:p>
          <a:p>
            <a:r>
              <a:rPr lang="en-US" altLang="zh-CN" sz="1400" dirty="0"/>
              <a:t>-Partition1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BC15D0-CCE7-45BD-8392-51B57E749835}"/>
              </a:ext>
            </a:extLst>
          </p:cNvPr>
          <p:cNvSpPr txBox="1"/>
          <p:nvPr/>
        </p:nvSpPr>
        <p:spPr>
          <a:xfrm>
            <a:off x="324292" y="1912535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2B82CA-861E-44B9-8473-4C631073C3A6}"/>
              </a:ext>
            </a:extLst>
          </p:cNvPr>
          <p:cNvSpPr/>
          <p:nvPr/>
        </p:nvSpPr>
        <p:spPr>
          <a:xfrm>
            <a:off x="241452" y="3093913"/>
            <a:ext cx="1450667" cy="9366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8323CB-7746-4708-ACFC-730575D5DF1D}"/>
              </a:ext>
            </a:extLst>
          </p:cNvPr>
          <p:cNvSpPr txBox="1"/>
          <p:nvPr/>
        </p:nvSpPr>
        <p:spPr>
          <a:xfrm>
            <a:off x="324292" y="307580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664AC6-B536-44BE-9731-965603BEA508}"/>
              </a:ext>
            </a:extLst>
          </p:cNvPr>
          <p:cNvSpPr/>
          <p:nvPr/>
        </p:nvSpPr>
        <p:spPr>
          <a:xfrm>
            <a:off x="407173" y="3370913"/>
            <a:ext cx="1163442" cy="5458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/>
              <a:t>TopicA</a:t>
            </a:r>
            <a:endParaRPr lang="en-US" altLang="zh-CN" sz="1400" dirty="0"/>
          </a:p>
          <a:p>
            <a:r>
              <a:rPr lang="en-US" altLang="zh-CN" sz="1400" dirty="0"/>
              <a:t>-Partition2</a:t>
            </a:r>
            <a:endParaRPr lang="zh-CN" altLang="en-US" sz="14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A2F2997-424D-4268-B780-2730D30046E5}"/>
              </a:ext>
            </a:extLst>
          </p:cNvPr>
          <p:cNvGrpSpPr/>
          <p:nvPr/>
        </p:nvGrpSpPr>
        <p:grpSpPr>
          <a:xfrm>
            <a:off x="7843821" y="716502"/>
            <a:ext cx="1264683" cy="3147598"/>
            <a:chOff x="7798493" y="2748222"/>
            <a:chExt cx="1264683" cy="132652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449C4C9-B4CD-4EB9-914E-FD0F23DF79BF}"/>
                </a:ext>
              </a:extLst>
            </p:cNvPr>
            <p:cNvSpPr/>
            <p:nvPr/>
          </p:nvSpPr>
          <p:spPr>
            <a:xfrm>
              <a:off x="7798493" y="2767698"/>
              <a:ext cx="1264683" cy="13070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1F0192-3C8F-4B62-A31E-14D59BD855EF}"/>
                </a:ext>
              </a:extLst>
            </p:cNvPr>
            <p:cNvSpPr/>
            <p:nvPr/>
          </p:nvSpPr>
          <p:spPr>
            <a:xfrm>
              <a:off x="7890914" y="2957216"/>
              <a:ext cx="1102437" cy="14794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4266E5B-FEF8-42EC-AD2C-FAC05C68F719}"/>
                </a:ext>
              </a:extLst>
            </p:cNvPr>
            <p:cNvSpPr/>
            <p:nvPr/>
          </p:nvSpPr>
          <p:spPr>
            <a:xfrm>
              <a:off x="7890914" y="3407192"/>
              <a:ext cx="1102437" cy="15183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29D12CE-36BD-477E-8541-D03220188DDC}"/>
                </a:ext>
              </a:extLst>
            </p:cNvPr>
            <p:cNvSpPr/>
            <p:nvPr/>
          </p:nvSpPr>
          <p:spPr>
            <a:xfrm>
              <a:off x="7879615" y="3889909"/>
              <a:ext cx="1102437" cy="12973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CD4D389-AD97-4984-AECD-2BA8AD4F3179}"/>
                </a:ext>
              </a:extLst>
            </p:cNvPr>
            <p:cNvSpPr txBox="1"/>
            <p:nvPr/>
          </p:nvSpPr>
          <p:spPr>
            <a:xfrm>
              <a:off x="7871180" y="2748222"/>
              <a:ext cx="1043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group</a:t>
              </a:r>
              <a:endParaRPr lang="zh-CN" altLang="en-US" sz="1400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EFE0F0C-8CC8-4A74-A5D4-B421409038F5}"/>
              </a:ext>
            </a:extLst>
          </p:cNvPr>
          <p:cNvSpPr txBox="1"/>
          <p:nvPr/>
        </p:nvSpPr>
        <p:spPr>
          <a:xfrm>
            <a:off x="900031" y="849107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80B3F3-6CF9-4143-B6AF-52A4ED911418}"/>
              </a:ext>
            </a:extLst>
          </p:cNvPr>
          <p:cNvSpPr txBox="1"/>
          <p:nvPr/>
        </p:nvSpPr>
        <p:spPr>
          <a:xfrm>
            <a:off x="911357" y="1969386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80787A8-4841-4673-A84D-363F16B17741}"/>
              </a:ext>
            </a:extLst>
          </p:cNvPr>
          <p:cNvSpPr txBox="1"/>
          <p:nvPr/>
        </p:nvSpPr>
        <p:spPr>
          <a:xfrm>
            <a:off x="923642" y="3103221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4F40DD-ADEF-435A-A713-C929677ABF69}"/>
              </a:ext>
            </a:extLst>
          </p:cNvPr>
          <p:cNvSpPr/>
          <p:nvPr/>
        </p:nvSpPr>
        <p:spPr>
          <a:xfrm>
            <a:off x="3160668" y="1033547"/>
            <a:ext cx="2232248" cy="6922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ConsumerNetworkClient</a:t>
            </a:r>
            <a:endParaRPr lang="zh-CN" altLang="en-US" sz="1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C31A1D-0931-4E9F-9C6B-4250770B8C74}"/>
              </a:ext>
            </a:extLst>
          </p:cNvPr>
          <p:cNvSpPr txBox="1"/>
          <p:nvPr/>
        </p:nvSpPr>
        <p:spPr>
          <a:xfrm>
            <a:off x="5527838" y="83515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 err="1"/>
              <a:t>sendFetches</a:t>
            </a:r>
            <a:endParaRPr lang="en-US" altLang="zh-CN" sz="1200" dirty="0"/>
          </a:p>
          <a:p>
            <a:pPr algn="l"/>
            <a:r>
              <a:rPr lang="zh-CN" altLang="en-US" sz="1200" dirty="0"/>
              <a:t>发送消费请求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CE770BD-8F16-48CA-8697-AC7AFFD70359}"/>
              </a:ext>
            </a:extLst>
          </p:cNvPr>
          <p:cNvCxnSpPr>
            <a:cxnSpLocks/>
            <a:stCxn id="16" idx="1"/>
            <a:endCxn id="23" idx="3"/>
          </p:cNvCxnSpPr>
          <p:nvPr/>
        </p:nvCxnSpPr>
        <p:spPr>
          <a:xfrm flipH="1" flipV="1">
            <a:off x="5392916" y="1379687"/>
            <a:ext cx="2543326" cy="8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642FC10-1F97-49D1-8FF2-D0D1A66F97E5}"/>
              </a:ext>
            </a:extLst>
          </p:cNvPr>
          <p:cNvCxnSpPr>
            <a:cxnSpLocks/>
            <a:stCxn id="23" idx="1"/>
            <a:endCxn id="8" idx="3"/>
          </p:cNvCxnSpPr>
          <p:nvPr/>
        </p:nvCxnSpPr>
        <p:spPr>
          <a:xfrm flipH="1" flipV="1">
            <a:off x="1548103" y="1377406"/>
            <a:ext cx="1612565" cy="2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96CB10F-9C02-47FE-B4BA-CA53E228A7A9}"/>
              </a:ext>
            </a:extLst>
          </p:cNvPr>
          <p:cNvSpPr txBox="1"/>
          <p:nvPr/>
        </p:nvSpPr>
        <p:spPr>
          <a:xfrm>
            <a:off x="1975260" y="1046088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/>
              <a:t>send</a:t>
            </a:r>
            <a:endParaRPr lang="zh-CN" altLang="en-US" sz="14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BE936AE-F3B8-4FA1-A30C-7809F5450D93}"/>
              </a:ext>
            </a:extLst>
          </p:cNvPr>
          <p:cNvSpPr/>
          <p:nvPr/>
        </p:nvSpPr>
        <p:spPr>
          <a:xfrm>
            <a:off x="3160668" y="3208252"/>
            <a:ext cx="2232248" cy="9476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dirty="0" err="1"/>
              <a:t>completedFetches</a:t>
            </a:r>
            <a:endParaRPr lang="en-US" altLang="zh-CN" sz="1400" dirty="0"/>
          </a:p>
          <a:p>
            <a:pPr algn="ctr"/>
            <a:r>
              <a:rPr lang="zh-CN" altLang="en-US" sz="1400" dirty="0"/>
              <a:t>（</a:t>
            </a:r>
            <a:r>
              <a:rPr lang="en-US" altLang="zh-CN" sz="1400" dirty="0"/>
              <a:t>queue</a:t>
            </a:r>
            <a:r>
              <a:rPr lang="zh-CN" altLang="en-US" sz="1400" dirty="0"/>
              <a:t>）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EAB28C9-86E8-425E-8CB6-81536790E8CC}"/>
              </a:ext>
            </a:extLst>
          </p:cNvPr>
          <p:cNvCxnSpPr>
            <a:cxnSpLocks/>
            <a:stCxn id="8" idx="3"/>
            <a:endCxn id="28" idx="1"/>
          </p:cNvCxnSpPr>
          <p:nvPr/>
        </p:nvCxnSpPr>
        <p:spPr>
          <a:xfrm>
            <a:off x="1548103" y="1377406"/>
            <a:ext cx="1612565" cy="2304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E27E864-0F7D-4D40-9D96-5AFDDB58DAAF}"/>
              </a:ext>
            </a:extLst>
          </p:cNvPr>
          <p:cNvSpPr txBox="1"/>
          <p:nvPr/>
        </p:nvSpPr>
        <p:spPr>
          <a:xfrm>
            <a:off x="1863189" y="3089807"/>
            <a:ext cx="1061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/>
              <a:t>onSuccess</a:t>
            </a:r>
            <a:endParaRPr lang="zh-CN" altLang="en-US" sz="1400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DBE3ADE-0C58-4E23-9B04-BD741D8D87B4}"/>
              </a:ext>
            </a:extLst>
          </p:cNvPr>
          <p:cNvSpPr/>
          <p:nvPr/>
        </p:nvSpPr>
        <p:spPr>
          <a:xfrm>
            <a:off x="4564824" y="3764574"/>
            <a:ext cx="828092" cy="3461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/>
              <a:t>completedFetch</a:t>
            </a:r>
            <a:endParaRPr lang="zh-CN" altLang="en-US" sz="1000" dirty="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3AC5480-00D7-4F05-8361-54502BD6DF64}"/>
              </a:ext>
            </a:extLst>
          </p:cNvPr>
          <p:cNvSpPr/>
          <p:nvPr/>
        </p:nvSpPr>
        <p:spPr>
          <a:xfrm>
            <a:off x="3160668" y="3757892"/>
            <a:ext cx="828092" cy="3461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/>
              <a:t>completedFetch</a:t>
            </a:r>
            <a:endParaRPr lang="zh-CN" altLang="en-US" sz="1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52247E-2568-49DA-8A92-A2D0C3216050}"/>
              </a:ext>
            </a:extLst>
          </p:cNvPr>
          <p:cNvSpPr txBox="1"/>
          <p:nvPr/>
        </p:nvSpPr>
        <p:spPr>
          <a:xfrm>
            <a:off x="4019426" y="3789312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dirty="0"/>
              <a:t>。。。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2B07B01-3F57-4262-8FC4-0727808DFB48}"/>
              </a:ext>
            </a:extLst>
          </p:cNvPr>
          <p:cNvCxnSpPr>
            <a:cxnSpLocks/>
            <a:stCxn id="16" idx="2"/>
            <a:endCxn id="28" idx="3"/>
          </p:cNvCxnSpPr>
          <p:nvPr/>
        </p:nvCxnSpPr>
        <p:spPr>
          <a:xfrm flipH="1">
            <a:off x="5392916" y="1563458"/>
            <a:ext cx="3094545" cy="2118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01211AD-7510-483B-85F2-CA9A334A44C7}"/>
              </a:ext>
            </a:extLst>
          </p:cNvPr>
          <p:cNvSpPr txBox="1"/>
          <p:nvPr/>
        </p:nvSpPr>
        <p:spPr>
          <a:xfrm>
            <a:off x="5463125" y="1517600"/>
            <a:ext cx="1484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 err="1"/>
              <a:t>FetchedRecords</a:t>
            </a:r>
            <a:endParaRPr lang="en-US" altLang="zh-CN" sz="1200" dirty="0"/>
          </a:p>
          <a:p>
            <a:pPr algn="l"/>
            <a:r>
              <a:rPr lang="zh-CN" altLang="en-US" sz="1200" dirty="0"/>
              <a:t>从队列中抓取数据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A6DA3D2-8F59-47AB-AACD-E7AD95E5E492}"/>
              </a:ext>
            </a:extLst>
          </p:cNvPr>
          <p:cNvCxnSpPr>
            <a:cxnSpLocks/>
            <a:stCxn id="28" idx="3"/>
            <a:endCxn id="42" idx="1"/>
          </p:cNvCxnSpPr>
          <p:nvPr/>
        </p:nvCxnSpPr>
        <p:spPr>
          <a:xfrm>
            <a:off x="5392916" y="3682089"/>
            <a:ext cx="631012" cy="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2C59750-D892-4B15-B9E5-9AE5006C92DF}"/>
              </a:ext>
            </a:extLst>
          </p:cNvPr>
          <p:cNvSpPr/>
          <p:nvPr/>
        </p:nvSpPr>
        <p:spPr>
          <a:xfrm>
            <a:off x="6023928" y="4021067"/>
            <a:ext cx="1223811" cy="35088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Interceptors</a:t>
            </a:r>
          </a:p>
          <a:p>
            <a:pPr algn="ctr"/>
            <a:r>
              <a:rPr lang="zh-CN" altLang="en-US" sz="1200" dirty="0"/>
              <a:t>（拦截器）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0564411-1D1E-49AC-A174-28B48E5B0AFF}"/>
              </a:ext>
            </a:extLst>
          </p:cNvPr>
          <p:cNvCxnSpPr>
            <a:cxnSpLocks/>
            <a:stCxn id="42" idx="2"/>
            <a:endCxn id="37" idx="0"/>
          </p:cNvCxnSpPr>
          <p:nvPr/>
        </p:nvCxnSpPr>
        <p:spPr>
          <a:xfrm>
            <a:off x="6635834" y="3857614"/>
            <a:ext cx="0" cy="163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673CD88-9AD7-4A3F-BEBC-7519DECD48B5}"/>
              </a:ext>
            </a:extLst>
          </p:cNvPr>
          <p:cNvSpPr/>
          <p:nvPr/>
        </p:nvSpPr>
        <p:spPr>
          <a:xfrm>
            <a:off x="6021936" y="4548394"/>
            <a:ext cx="1223811" cy="3508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处理数据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450E971-D348-49D4-9DFA-67F30A86A786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 flipH="1">
            <a:off x="6633842" y="4371950"/>
            <a:ext cx="1992" cy="176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559CC29D-BBD4-4861-94DE-F11F47631AA1}"/>
              </a:ext>
            </a:extLst>
          </p:cNvPr>
          <p:cNvSpPr/>
          <p:nvPr/>
        </p:nvSpPr>
        <p:spPr>
          <a:xfrm>
            <a:off x="2987825" y="716502"/>
            <a:ext cx="4464496" cy="4231512"/>
          </a:xfrm>
          <a:prstGeom prst="rect">
            <a:avLst/>
          </a:prstGeom>
          <a:noFill/>
          <a:ln w="19050">
            <a:prstDash val="lgDashDot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8893D0A-4A46-43AD-8D70-DD05998964BD}"/>
              </a:ext>
            </a:extLst>
          </p:cNvPr>
          <p:cNvSpPr/>
          <p:nvPr/>
        </p:nvSpPr>
        <p:spPr>
          <a:xfrm>
            <a:off x="6023928" y="3506731"/>
            <a:ext cx="1223811" cy="35088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/>
              <a:t>parseRecord</a:t>
            </a:r>
            <a:r>
              <a:rPr lang="zh-CN" altLang="en-US" sz="1200" dirty="0"/>
              <a:t>（反序列化）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8C95041-0124-4C05-BBE2-1A5E0F47DA10}"/>
              </a:ext>
            </a:extLst>
          </p:cNvPr>
          <p:cNvSpPr txBox="1"/>
          <p:nvPr/>
        </p:nvSpPr>
        <p:spPr>
          <a:xfrm>
            <a:off x="4813717" y="422405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/>
              <a:t>Consumer</a:t>
            </a:r>
            <a:endParaRPr lang="zh-CN" altLang="en-US" sz="14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2B0250F-D8C7-40A0-92F8-DDC8CC33D0D1}"/>
              </a:ext>
            </a:extLst>
          </p:cNvPr>
          <p:cNvSpPr txBox="1"/>
          <p:nvPr/>
        </p:nvSpPr>
        <p:spPr>
          <a:xfrm>
            <a:off x="3075038" y="2686149"/>
            <a:ext cx="194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 err="1"/>
              <a:t>Fetch.max.bytes</a:t>
            </a:r>
            <a:r>
              <a:rPr lang="zh-CN" altLang="en-US" sz="1200" dirty="0"/>
              <a:t>每批次最大抓取大小，</a:t>
            </a:r>
            <a:r>
              <a:rPr lang="zh-CN" altLang="en-US" sz="1200" dirty="0">
                <a:solidFill>
                  <a:srgbClr val="FF0000"/>
                </a:solidFill>
              </a:rPr>
              <a:t>默认</a:t>
            </a:r>
            <a:r>
              <a:rPr lang="en-US" altLang="zh-CN" sz="1200" dirty="0">
                <a:solidFill>
                  <a:srgbClr val="FF0000"/>
                </a:solidFill>
              </a:rPr>
              <a:t>50m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1513B10-85D1-4B6D-9B0E-45388E1F77B7}"/>
              </a:ext>
            </a:extLst>
          </p:cNvPr>
          <p:cNvSpPr txBox="1"/>
          <p:nvPr/>
        </p:nvSpPr>
        <p:spPr>
          <a:xfrm>
            <a:off x="5463125" y="1997427"/>
            <a:ext cx="1680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Max.poll.records</a:t>
            </a:r>
            <a:r>
              <a:rPr lang="zh-CN" altLang="en-US" sz="1200" dirty="0"/>
              <a:t>一次拉取数据返回消息的最大条数，</a:t>
            </a:r>
            <a:r>
              <a:rPr lang="zh-CN" altLang="en-US" sz="1200" dirty="0">
                <a:solidFill>
                  <a:srgbClr val="FF0000"/>
                </a:solidFill>
              </a:rPr>
              <a:t>默认</a:t>
            </a:r>
            <a:r>
              <a:rPr lang="en-US" altLang="zh-CN" sz="1200" dirty="0">
                <a:solidFill>
                  <a:srgbClr val="FF0000"/>
                </a:solidFill>
              </a:rPr>
              <a:t>500</a:t>
            </a:r>
            <a:r>
              <a:rPr lang="zh-CN" altLang="en-US" sz="1200" dirty="0">
                <a:solidFill>
                  <a:srgbClr val="FF0000"/>
                </a:solidFill>
              </a:rPr>
              <a:t>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333DC77-D976-4997-8A6D-C36974218F97}"/>
              </a:ext>
            </a:extLst>
          </p:cNvPr>
          <p:cNvSpPr txBox="1"/>
          <p:nvPr/>
        </p:nvSpPr>
        <p:spPr>
          <a:xfrm>
            <a:off x="3075038" y="1698494"/>
            <a:ext cx="194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 err="1"/>
              <a:t>Fetch.min.bytes</a:t>
            </a:r>
            <a:r>
              <a:rPr lang="zh-CN" altLang="en-US" sz="1200" dirty="0"/>
              <a:t>每批次最小抓取大小，</a:t>
            </a:r>
            <a:r>
              <a:rPr lang="zh-CN" altLang="en-US" sz="1200" dirty="0">
                <a:solidFill>
                  <a:srgbClr val="FF0000"/>
                </a:solidFill>
              </a:rPr>
              <a:t>默认</a:t>
            </a:r>
            <a:r>
              <a:rPr lang="en-US" altLang="zh-CN" sz="1200" dirty="0">
                <a:solidFill>
                  <a:srgbClr val="FF0000"/>
                </a:solidFill>
              </a:rPr>
              <a:t>1</a:t>
            </a:r>
            <a:r>
              <a:rPr lang="zh-CN" altLang="en-US" sz="1200" dirty="0">
                <a:solidFill>
                  <a:srgbClr val="FF0000"/>
                </a:solidFill>
              </a:rPr>
              <a:t>字节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DBED3DF-F44A-432D-B54B-97E36FB431EE}"/>
              </a:ext>
            </a:extLst>
          </p:cNvPr>
          <p:cNvSpPr txBox="1"/>
          <p:nvPr/>
        </p:nvSpPr>
        <p:spPr>
          <a:xfrm>
            <a:off x="3059832" y="2182093"/>
            <a:ext cx="2477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fetch.max.wait.ms</a:t>
            </a:r>
            <a:r>
              <a:rPr lang="zh-CN" altLang="en-US" sz="1200" dirty="0"/>
              <a:t>一批数据最小值未达到的超时时间，</a:t>
            </a:r>
            <a:r>
              <a:rPr lang="zh-CN" altLang="en-US" sz="1200" dirty="0">
                <a:solidFill>
                  <a:srgbClr val="FF0000"/>
                </a:solidFill>
              </a:rPr>
              <a:t>默认</a:t>
            </a:r>
            <a:r>
              <a:rPr lang="en-US" altLang="zh-CN" sz="1200" dirty="0">
                <a:solidFill>
                  <a:srgbClr val="FF0000"/>
                </a:solidFill>
              </a:rPr>
              <a:t>500ms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33591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20" grpId="0"/>
      <p:bldP spid="21" grpId="0"/>
      <p:bldP spid="22" grpId="0"/>
      <p:bldP spid="23" grpId="0" animBg="1"/>
      <p:bldP spid="24" grpId="0"/>
      <p:bldP spid="27" grpId="0"/>
      <p:bldP spid="28" grpId="0" animBg="1"/>
      <p:bldP spid="30" grpId="0"/>
      <p:bldP spid="31" grpId="0" animBg="1"/>
      <p:bldP spid="32" grpId="0" animBg="1"/>
      <p:bldP spid="33" grpId="0"/>
      <p:bldP spid="35" grpId="0"/>
      <p:bldP spid="37" grpId="0" animBg="1"/>
      <p:bldP spid="39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048B602-84EB-4B3F-BB19-F6CFE8A3B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" y="582294"/>
            <a:ext cx="3510915" cy="195643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3BE4652-FFA9-477F-BBF1-4CB652078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485" y="582294"/>
            <a:ext cx="3567430" cy="202247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3524C16-3B24-4E94-A17F-EC09C8C15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" y="2787967"/>
            <a:ext cx="4097020" cy="21583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1773758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F6151F-52B2-4597-B558-3DB3B4F226AF}"/>
              </a:ext>
            </a:extLst>
          </p:cNvPr>
          <p:cNvSpPr/>
          <p:nvPr/>
        </p:nvSpPr>
        <p:spPr>
          <a:xfrm>
            <a:off x="1416040" y="1876379"/>
            <a:ext cx="3516000" cy="309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2E328B-DD87-4A00-9772-ADEC4CA85E11}"/>
              </a:ext>
            </a:extLst>
          </p:cNvPr>
          <p:cNvSpPr/>
          <p:nvPr/>
        </p:nvSpPr>
        <p:spPr>
          <a:xfrm>
            <a:off x="1551198" y="2190740"/>
            <a:ext cx="3236826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D816B9-230F-4323-80DF-35B3E0DAB4BE}"/>
              </a:ext>
            </a:extLst>
          </p:cNvPr>
          <p:cNvSpPr txBox="1"/>
          <p:nvPr/>
        </p:nvSpPr>
        <p:spPr>
          <a:xfrm>
            <a:off x="1632828" y="2176225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F4039B-5C65-41E1-A9B6-BADCAD459AA3}"/>
              </a:ext>
            </a:extLst>
          </p:cNvPr>
          <p:cNvSpPr txBox="1"/>
          <p:nvPr/>
        </p:nvSpPr>
        <p:spPr>
          <a:xfrm>
            <a:off x="2557293" y="1875705"/>
            <a:ext cx="1590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3F70ED-5E44-4B75-A91E-F0DAE4A2A3F0}"/>
              </a:ext>
            </a:extLst>
          </p:cNvPr>
          <p:cNvSpPr/>
          <p:nvPr/>
        </p:nvSpPr>
        <p:spPr>
          <a:xfrm>
            <a:off x="1549988" y="3113579"/>
            <a:ext cx="3236826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9AE600-DFDD-4216-812F-9955686C63B9}"/>
              </a:ext>
            </a:extLst>
          </p:cNvPr>
          <p:cNvSpPr/>
          <p:nvPr/>
        </p:nvSpPr>
        <p:spPr>
          <a:xfrm>
            <a:off x="50167" y="3424802"/>
            <a:ext cx="1090460" cy="3856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E94626-ED04-475E-BEAE-EDD7112A233E}"/>
              </a:ext>
            </a:extLst>
          </p:cNvPr>
          <p:cNvSpPr/>
          <p:nvPr/>
        </p:nvSpPr>
        <p:spPr>
          <a:xfrm>
            <a:off x="1693197" y="2497334"/>
            <a:ext cx="1728192" cy="38568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TopicA-Partition0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A4371D-4FAC-469D-94BF-CCEA02BEEBF8}"/>
              </a:ext>
            </a:extLst>
          </p:cNvPr>
          <p:cNvSpPr/>
          <p:nvPr/>
        </p:nvSpPr>
        <p:spPr>
          <a:xfrm>
            <a:off x="1693197" y="3424802"/>
            <a:ext cx="1728192" cy="38568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TopicA-Partition1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2DF46F-F4FB-40C6-BBA5-1FE1F0241C9E}"/>
              </a:ext>
            </a:extLst>
          </p:cNvPr>
          <p:cNvSpPr txBox="1"/>
          <p:nvPr/>
        </p:nvSpPr>
        <p:spPr>
          <a:xfrm>
            <a:off x="1632828" y="3095471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FA21E5-96DB-4CE3-BEC0-73A73044CC37}"/>
              </a:ext>
            </a:extLst>
          </p:cNvPr>
          <p:cNvSpPr/>
          <p:nvPr/>
        </p:nvSpPr>
        <p:spPr>
          <a:xfrm>
            <a:off x="1549988" y="4042178"/>
            <a:ext cx="3236826" cy="796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D0BACA-100A-48CB-BCF1-EB577E28C7A9}"/>
              </a:ext>
            </a:extLst>
          </p:cNvPr>
          <p:cNvSpPr txBox="1"/>
          <p:nvPr/>
        </p:nvSpPr>
        <p:spPr>
          <a:xfrm>
            <a:off x="1632828" y="402407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B1981A-0E6A-4ADC-8AC2-6A31D4F79698}"/>
              </a:ext>
            </a:extLst>
          </p:cNvPr>
          <p:cNvSpPr/>
          <p:nvPr/>
        </p:nvSpPr>
        <p:spPr>
          <a:xfrm>
            <a:off x="1715709" y="4319177"/>
            <a:ext cx="1728192" cy="3856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CN" sz="1400" dirty="0"/>
              <a:t>TopicA-Partition2</a:t>
            </a:r>
            <a:endParaRPr lang="zh-CN" altLang="en-US" sz="140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CCF3A60-C265-4085-BCAE-3E74477D46E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140627" y="2690177"/>
            <a:ext cx="552570" cy="9274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E4D73C1-4F82-4185-9EF3-86529B5C2587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140627" y="3617645"/>
            <a:ext cx="552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BB5F764-9B91-4C66-AE4F-EFBE91E753F3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140627" y="3617645"/>
            <a:ext cx="575082" cy="8943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6890906-83C4-4ABC-A61F-2283B7419917}"/>
              </a:ext>
            </a:extLst>
          </p:cNvPr>
          <p:cNvSpPr txBox="1"/>
          <p:nvPr/>
        </p:nvSpPr>
        <p:spPr>
          <a:xfrm>
            <a:off x="471964" y="0"/>
            <a:ext cx="402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生产经验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分区的分配以及再平衡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86CED5-0A86-4014-90A3-8778E0488FA2}"/>
              </a:ext>
            </a:extLst>
          </p:cNvPr>
          <p:cNvSpPr/>
          <p:nvPr/>
        </p:nvSpPr>
        <p:spPr>
          <a:xfrm>
            <a:off x="35496" y="2668067"/>
            <a:ext cx="1105131" cy="6381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400" dirty="0"/>
              <a:t>数据</a:t>
            </a:r>
            <a:r>
              <a:rPr lang="en-US" altLang="zh-CN" sz="1400" dirty="0"/>
              <a:t>100T</a:t>
            </a:r>
            <a:endParaRPr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0EEBDC-360A-441E-9C8B-59AA9153447D}"/>
              </a:ext>
            </a:extLst>
          </p:cNvPr>
          <p:cNvSpPr/>
          <p:nvPr/>
        </p:nvSpPr>
        <p:spPr>
          <a:xfrm>
            <a:off x="179513" y="3040252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7997645-6A19-4E88-98D8-70A473684FA5}"/>
              </a:ext>
            </a:extLst>
          </p:cNvPr>
          <p:cNvSpPr/>
          <p:nvPr/>
        </p:nvSpPr>
        <p:spPr>
          <a:xfrm>
            <a:off x="484673" y="3044028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0D5DA98-ACFB-4A1A-AACB-A316BC212DBA}"/>
              </a:ext>
            </a:extLst>
          </p:cNvPr>
          <p:cNvSpPr/>
          <p:nvPr/>
        </p:nvSpPr>
        <p:spPr>
          <a:xfrm>
            <a:off x="789832" y="3047804"/>
            <a:ext cx="216024" cy="2218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151F0E1-89CE-4B1E-AD27-70B94DE60031}"/>
              </a:ext>
            </a:extLst>
          </p:cNvPr>
          <p:cNvGrpSpPr/>
          <p:nvPr/>
        </p:nvGrpSpPr>
        <p:grpSpPr>
          <a:xfrm>
            <a:off x="7619821" y="1851670"/>
            <a:ext cx="1264683" cy="3147598"/>
            <a:chOff x="7798493" y="2748222"/>
            <a:chExt cx="1264683" cy="132652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A0F138F-360F-4E49-86C4-16B9ABC86519}"/>
                </a:ext>
              </a:extLst>
            </p:cNvPr>
            <p:cNvSpPr/>
            <p:nvPr/>
          </p:nvSpPr>
          <p:spPr>
            <a:xfrm>
              <a:off x="7798493" y="2767698"/>
              <a:ext cx="1264683" cy="13070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0CF261F-7298-45DF-8B2B-B3F64D9F2FF3}"/>
                </a:ext>
              </a:extLst>
            </p:cNvPr>
            <p:cNvSpPr/>
            <p:nvPr/>
          </p:nvSpPr>
          <p:spPr>
            <a:xfrm>
              <a:off x="7890914" y="2957216"/>
              <a:ext cx="1102437" cy="14794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136A37B-7040-416D-B75C-EF9C84E7984A}"/>
                </a:ext>
              </a:extLst>
            </p:cNvPr>
            <p:cNvSpPr/>
            <p:nvPr/>
          </p:nvSpPr>
          <p:spPr>
            <a:xfrm>
              <a:off x="7890914" y="3407192"/>
              <a:ext cx="1102437" cy="15183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71478C9-D42C-43FE-B98E-A48F19A47339}"/>
                </a:ext>
              </a:extLst>
            </p:cNvPr>
            <p:cNvSpPr/>
            <p:nvPr/>
          </p:nvSpPr>
          <p:spPr>
            <a:xfrm>
              <a:off x="7879615" y="3889909"/>
              <a:ext cx="1102437" cy="12973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Consumer</a:t>
              </a:r>
              <a:endParaRPr lang="zh-CN" altLang="en-US" sz="14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B1F0A59-E18E-40AB-BAE0-2D35378F453A}"/>
                </a:ext>
              </a:extLst>
            </p:cNvPr>
            <p:cNvSpPr txBox="1"/>
            <p:nvPr/>
          </p:nvSpPr>
          <p:spPr>
            <a:xfrm>
              <a:off x="7871180" y="2748222"/>
              <a:ext cx="10439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group</a:t>
              </a:r>
              <a:endParaRPr lang="zh-CN" altLang="en-US" sz="1400" dirty="0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BED08115-237C-46DF-9AC0-69279DC306EF}"/>
              </a:ext>
            </a:extLst>
          </p:cNvPr>
          <p:cNvSpPr txBox="1"/>
          <p:nvPr/>
        </p:nvSpPr>
        <p:spPr>
          <a:xfrm>
            <a:off x="2435854" y="2241968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30640A4-3BD8-41EF-9C45-ADF5A95D3500}"/>
              </a:ext>
            </a:extLst>
          </p:cNvPr>
          <p:cNvSpPr txBox="1"/>
          <p:nvPr/>
        </p:nvSpPr>
        <p:spPr>
          <a:xfrm>
            <a:off x="2447180" y="3152322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04DA03E-549A-429D-8AA7-5559AB291E47}"/>
              </a:ext>
            </a:extLst>
          </p:cNvPr>
          <p:cNvSpPr txBox="1"/>
          <p:nvPr/>
        </p:nvSpPr>
        <p:spPr>
          <a:xfrm>
            <a:off x="2459465" y="4051485"/>
            <a:ext cx="71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Leader</a:t>
            </a:r>
            <a:endParaRPr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3660A1-1C78-43FF-8E86-92D0BC4D7CF9}"/>
              </a:ext>
            </a:extLst>
          </p:cNvPr>
          <p:cNvSpPr/>
          <p:nvPr/>
        </p:nvSpPr>
        <p:spPr>
          <a:xfrm>
            <a:off x="3573102" y="2495338"/>
            <a:ext cx="1070906" cy="3856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coordinator</a:t>
            </a:r>
            <a:endParaRPr lang="zh-CN" altLang="en-US" sz="1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BA09AD-0245-4B53-81B0-E6135D9DA2AA}"/>
              </a:ext>
            </a:extLst>
          </p:cNvPr>
          <p:cNvSpPr/>
          <p:nvPr/>
        </p:nvSpPr>
        <p:spPr>
          <a:xfrm>
            <a:off x="3569552" y="3422783"/>
            <a:ext cx="1070906" cy="3856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coordinator</a:t>
            </a:r>
            <a:endParaRPr lang="zh-CN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0DA6DE9-D216-4DD2-9CBE-8B73AC742492}"/>
              </a:ext>
            </a:extLst>
          </p:cNvPr>
          <p:cNvSpPr/>
          <p:nvPr/>
        </p:nvSpPr>
        <p:spPr>
          <a:xfrm>
            <a:off x="3569552" y="4319175"/>
            <a:ext cx="1070906" cy="3856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coordinator</a:t>
            </a:r>
            <a:endParaRPr lang="zh-CN" altLang="en-US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2DFA8E1-80EC-45A7-9AD7-0763F3FFFF7F}"/>
              </a:ext>
            </a:extLst>
          </p:cNvPr>
          <p:cNvSpPr txBox="1"/>
          <p:nvPr/>
        </p:nvSpPr>
        <p:spPr>
          <a:xfrm>
            <a:off x="1" y="40534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、一个</a:t>
            </a:r>
            <a:r>
              <a:rPr lang="en-US" altLang="zh-CN" sz="1200" dirty="0"/>
              <a:t>consumer group</a:t>
            </a:r>
            <a:r>
              <a:rPr lang="zh-CN" altLang="en-US" sz="1200" dirty="0"/>
              <a:t>中有多个</a:t>
            </a:r>
            <a:r>
              <a:rPr lang="en-US" altLang="zh-CN" sz="1200" dirty="0"/>
              <a:t>consumer</a:t>
            </a:r>
            <a:r>
              <a:rPr lang="zh-CN" altLang="en-US" sz="1200" dirty="0"/>
              <a:t>组成，一个 </a:t>
            </a:r>
            <a:r>
              <a:rPr lang="en-US" altLang="zh-CN" sz="1200" dirty="0"/>
              <a:t>topic</a:t>
            </a:r>
            <a:r>
              <a:rPr lang="zh-CN" altLang="en-US" sz="1200" dirty="0"/>
              <a:t>有多个</a:t>
            </a:r>
            <a:r>
              <a:rPr lang="en-US" altLang="zh-CN" sz="1200" dirty="0"/>
              <a:t>partition</a:t>
            </a:r>
            <a:r>
              <a:rPr lang="zh-CN" altLang="en-US" sz="1200" dirty="0"/>
              <a:t>组成，现在的问题是，</a:t>
            </a:r>
            <a:r>
              <a:rPr lang="zh-CN" altLang="en-US" sz="1200" dirty="0">
                <a:solidFill>
                  <a:srgbClr val="FF0000"/>
                </a:solidFill>
              </a:rPr>
              <a:t>到底由哪个</a:t>
            </a:r>
            <a:r>
              <a:rPr lang="en-US" altLang="zh-CN" sz="1200" dirty="0">
                <a:solidFill>
                  <a:srgbClr val="FF0000"/>
                </a:solidFill>
              </a:rPr>
              <a:t>consumer</a:t>
            </a:r>
            <a:r>
              <a:rPr lang="zh-CN" altLang="en-US" sz="1200" dirty="0">
                <a:solidFill>
                  <a:srgbClr val="FF0000"/>
                </a:solidFill>
              </a:rPr>
              <a:t>来消费哪个</a:t>
            </a:r>
            <a:r>
              <a:rPr lang="en-US" altLang="zh-CN" sz="1200" dirty="0">
                <a:solidFill>
                  <a:srgbClr val="FF0000"/>
                </a:solidFill>
              </a:rPr>
              <a:t>partition</a:t>
            </a:r>
            <a:r>
              <a:rPr lang="zh-CN" altLang="en-US" sz="1200" dirty="0">
                <a:solidFill>
                  <a:srgbClr val="FF0000"/>
                </a:solidFill>
              </a:rPr>
              <a:t>的数据</a:t>
            </a:r>
            <a:r>
              <a:rPr lang="zh-CN" altLang="en-US" sz="1200" dirty="0"/>
              <a:t>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737D06A-856F-445C-8123-E21E32AE6E22}"/>
              </a:ext>
            </a:extLst>
          </p:cNvPr>
          <p:cNvSpPr txBox="1"/>
          <p:nvPr/>
        </p:nvSpPr>
        <p:spPr>
          <a:xfrm>
            <a:off x="1" y="865235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2、</a:t>
            </a:r>
            <a:r>
              <a:rPr lang="en-US" altLang="zh-CN" sz="1200" dirty="0"/>
              <a:t>Kafka</a:t>
            </a:r>
            <a:r>
              <a:rPr lang="zh-CN" altLang="en-US" sz="1200" dirty="0"/>
              <a:t>有四种主流的分区分配策略： </a:t>
            </a:r>
            <a:r>
              <a:rPr lang="en-US" altLang="zh-CN" sz="1200" dirty="0">
                <a:solidFill>
                  <a:srgbClr val="FF0000"/>
                </a:solidFill>
              </a:rPr>
              <a:t>Range</a:t>
            </a:r>
            <a:r>
              <a:rPr lang="zh-CN" altLang="en-US" sz="1200" dirty="0">
                <a:solidFill>
                  <a:srgbClr val="FF0000"/>
                </a:solidFill>
              </a:rPr>
              <a:t>、</a:t>
            </a:r>
            <a:r>
              <a:rPr lang="en-US" altLang="zh-CN" sz="1200" dirty="0" err="1">
                <a:solidFill>
                  <a:srgbClr val="FF0000"/>
                </a:solidFill>
              </a:rPr>
              <a:t>RoundRobin</a:t>
            </a:r>
            <a:r>
              <a:rPr lang="zh-CN" altLang="en-US" sz="1200" dirty="0">
                <a:solidFill>
                  <a:srgbClr val="FF0000"/>
                </a:solidFill>
              </a:rPr>
              <a:t>、</a:t>
            </a:r>
            <a:r>
              <a:rPr lang="en-US" altLang="zh-CN" sz="1200" dirty="0">
                <a:solidFill>
                  <a:srgbClr val="FF0000"/>
                </a:solidFill>
              </a:rPr>
              <a:t>Sticky</a:t>
            </a:r>
            <a:r>
              <a:rPr lang="zh-CN" altLang="en-US" sz="1200" dirty="0">
                <a:solidFill>
                  <a:srgbClr val="FF0000"/>
                </a:solidFill>
              </a:rPr>
              <a:t>、</a:t>
            </a:r>
            <a:r>
              <a:rPr lang="en-US" altLang="zh-CN" sz="1200" dirty="0" err="1">
                <a:solidFill>
                  <a:srgbClr val="FF0000"/>
                </a:solidFill>
              </a:rPr>
              <a:t>CooperativeSticky</a:t>
            </a:r>
            <a:r>
              <a:rPr lang="zh-CN" altLang="en-US" sz="1200" dirty="0"/>
              <a:t>。</a:t>
            </a:r>
          </a:p>
          <a:p>
            <a:r>
              <a:rPr lang="zh-CN" altLang="en-US" sz="1200" dirty="0"/>
              <a:t>可以通过配置参数</a:t>
            </a:r>
            <a:r>
              <a:rPr lang="en-US" altLang="zh-CN" sz="1200" dirty="0" err="1">
                <a:solidFill>
                  <a:srgbClr val="FF0000"/>
                </a:solidFill>
              </a:rPr>
              <a:t>partition.assignment.strategy</a:t>
            </a:r>
            <a:r>
              <a:rPr lang="zh-CN" altLang="en-US" sz="1200" dirty="0"/>
              <a:t>，修改分区的分配策略。默认策略是</a:t>
            </a:r>
            <a:r>
              <a:rPr lang="en-US" altLang="zh-CN" sz="1200" dirty="0"/>
              <a:t>Range +  </a:t>
            </a:r>
            <a:r>
              <a:rPr lang="en-US" altLang="zh-CN" sz="1200" dirty="0" err="1"/>
              <a:t>CooperativeSticky</a:t>
            </a:r>
            <a:r>
              <a:rPr lang="zh-CN" altLang="en-US" sz="1200" dirty="0"/>
              <a:t>。</a:t>
            </a:r>
            <a:r>
              <a:rPr lang="en-US" altLang="zh-CN" sz="1200" dirty="0"/>
              <a:t>Kafka</a:t>
            </a:r>
            <a:r>
              <a:rPr lang="zh-CN" altLang="en-US" sz="1200" dirty="0"/>
              <a:t>可以同时使用多个分区分配策略。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523CB29-C558-4D5A-9FDD-635FDE7A67B1}"/>
              </a:ext>
            </a:extLst>
          </p:cNvPr>
          <p:cNvCxnSpPr>
            <a:cxnSpLocks/>
            <a:stCxn id="24" idx="1"/>
            <a:endCxn id="32" idx="3"/>
          </p:cNvCxnSpPr>
          <p:nvPr/>
        </p:nvCxnSpPr>
        <p:spPr>
          <a:xfrm flipH="1">
            <a:off x="4640458" y="2523101"/>
            <a:ext cx="3071784" cy="1092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8406528-A504-4F48-9A1E-9A856B2EB3CB}"/>
              </a:ext>
            </a:extLst>
          </p:cNvPr>
          <p:cNvCxnSpPr>
            <a:cxnSpLocks/>
            <a:stCxn id="25" idx="1"/>
            <a:endCxn id="32" idx="3"/>
          </p:cNvCxnSpPr>
          <p:nvPr/>
        </p:nvCxnSpPr>
        <p:spPr>
          <a:xfrm flipH="1">
            <a:off x="4640458" y="3595428"/>
            <a:ext cx="3071784" cy="2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BC2BCBE-58D1-4AAE-B4D9-AAD71EEE7E89}"/>
              </a:ext>
            </a:extLst>
          </p:cNvPr>
          <p:cNvCxnSpPr>
            <a:cxnSpLocks/>
            <a:stCxn id="26" idx="1"/>
            <a:endCxn id="32" idx="3"/>
          </p:cNvCxnSpPr>
          <p:nvPr/>
        </p:nvCxnSpPr>
        <p:spPr>
          <a:xfrm flipH="1" flipV="1">
            <a:off x="4640458" y="3615626"/>
            <a:ext cx="3060485" cy="1098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3E4E45A-C46B-431D-9F08-199BB4595EE8}"/>
              </a:ext>
            </a:extLst>
          </p:cNvPr>
          <p:cNvSpPr txBox="1"/>
          <p:nvPr/>
        </p:nvSpPr>
        <p:spPr>
          <a:xfrm>
            <a:off x="6469891" y="2201714"/>
            <a:ext cx="1236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1）每个consumer都发送JoinGroup请求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57F2F2E-F547-41C7-95E2-D77922FDC242}"/>
              </a:ext>
            </a:extLst>
          </p:cNvPr>
          <p:cNvSpPr txBox="1"/>
          <p:nvPr/>
        </p:nvSpPr>
        <p:spPr>
          <a:xfrm>
            <a:off x="4891599" y="4090343"/>
            <a:ext cx="1264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2）选出一个consumer作为leader</a:t>
            </a: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95812922-40F8-435E-8A1C-88544B271684}"/>
              </a:ext>
            </a:extLst>
          </p:cNvPr>
          <p:cNvCxnSpPr>
            <a:cxnSpLocks/>
            <a:stCxn id="32" idx="2"/>
            <a:endCxn id="25" idx="2"/>
          </p:cNvCxnSpPr>
          <p:nvPr/>
        </p:nvCxnSpPr>
        <p:spPr>
          <a:xfrm rot="5400000" flipH="1" flipV="1">
            <a:off x="6167784" y="1712791"/>
            <a:ext cx="32898" cy="4158456"/>
          </a:xfrm>
          <a:prstGeom prst="bentConnector3">
            <a:avLst>
              <a:gd name="adj1" fmla="val -6948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40A92D3-572B-46C9-97EB-3400045DAC75}"/>
              </a:ext>
            </a:extLst>
          </p:cNvPr>
          <p:cNvSpPr txBox="1"/>
          <p:nvPr/>
        </p:nvSpPr>
        <p:spPr>
          <a:xfrm>
            <a:off x="8252164" y="3769439"/>
            <a:ext cx="5992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Leader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D6B9F5-CEAB-427A-9868-02AE43D4A792}"/>
              </a:ext>
            </a:extLst>
          </p:cNvPr>
          <p:cNvSpPr txBox="1"/>
          <p:nvPr/>
        </p:nvSpPr>
        <p:spPr>
          <a:xfrm>
            <a:off x="6011479" y="3846507"/>
            <a:ext cx="151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3）把要消费的</a:t>
            </a:r>
            <a:r>
              <a:rPr lang="en-US" altLang="zh-CN" sz="900" dirty="0"/>
              <a:t>topic</a:t>
            </a:r>
            <a:r>
              <a:rPr lang="zh-CN" altLang="en-US" sz="900" dirty="0"/>
              <a:t>情况发送给leader 消费者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4AF9E5E-2814-4D3E-BCA9-649F356EE9B1}"/>
              </a:ext>
            </a:extLst>
          </p:cNvPr>
          <p:cNvSpPr txBox="1"/>
          <p:nvPr/>
        </p:nvSpPr>
        <p:spPr>
          <a:xfrm>
            <a:off x="7665274" y="2805999"/>
            <a:ext cx="1095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4）</a:t>
            </a:r>
            <a:r>
              <a:rPr lang="zh-CN" altLang="en-US" sz="1000" dirty="0">
                <a:solidFill>
                  <a:srgbClr val="FF0000"/>
                </a:solidFill>
              </a:rPr>
              <a:t>leader会负责制定消费方案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5694397-123D-44DA-9DD9-48290D15FE39}"/>
              </a:ext>
            </a:extLst>
          </p:cNvPr>
          <p:cNvSpPr txBox="1"/>
          <p:nvPr/>
        </p:nvSpPr>
        <p:spPr>
          <a:xfrm>
            <a:off x="5752935" y="3199141"/>
            <a:ext cx="1948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5）把消费方案发给</a:t>
            </a:r>
            <a:r>
              <a:rPr lang="en-US" altLang="zh-CN" sz="1000" dirty="0"/>
              <a:t>coordinator</a:t>
            </a:r>
            <a:endParaRPr lang="zh-CN" altLang="en-US" sz="1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8DDA06A-1299-4F4C-8F46-D8D4AD318EA5}"/>
              </a:ext>
            </a:extLst>
          </p:cNvPr>
          <p:cNvSpPr txBox="1"/>
          <p:nvPr/>
        </p:nvSpPr>
        <p:spPr>
          <a:xfrm>
            <a:off x="4861549" y="2187606"/>
            <a:ext cx="164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6）Coordinator就把消费方案下发给各个consumer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CB4EBA9-A8EB-4723-9E05-91EF3F6D4456}"/>
              </a:ext>
            </a:extLst>
          </p:cNvPr>
          <p:cNvCxnSpPr>
            <a:cxnSpLocks/>
          </p:cNvCxnSpPr>
          <p:nvPr/>
        </p:nvCxnSpPr>
        <p:spPr>
          <a:xfrm>
            <a:off x="4651757" y="3761306"/>
            <a:ext cx="3083945" cy="1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1726D9ED-5A1D-45B7-9FB2-C85E897A5560}"/>
              </a:ext>
            </a:extLst>
          </p:cNvPr>
          <p:cNvCxnSpPr>
            <a:cxnSpLocks/>
            <a:stCxn id="25" idx="0"/>
            <a:endCxn id="32" idx="0"/>
          </p:cNvCxnSpPr>
          <p:nvPr/>
        </p:nvCxnSpPr>
        <p:spPr>
          <a:xfrm rot="16200000" flipH="1" flipV="1">
            <a:off x="6180484" y="1339806"/>
            <a:ext cx="7497" cy="4158456"/>
          </a:xfrm>
          <a:prstGeom prst="bentConnector3">
            <a:avLst>
              <a:gd name="adj1" fmla="val -288214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7ED4C46-7A9D-49A6-B11A-C5A1FC6BAA31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629159" y="3807335"/>
            <a:ext cx="3071784" cy="907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81CF88F-C815-4BB7-8A9E-C81B145C3389}"/>
              </a:ext>
            </a:extLst>
          </p:cNvPr>
          <p:cNvCxnSpPr>
            <a:cxnSpLocks/>
          </p:cNvCxnSpPr>
          <p:nvPr/>
        </p:nvCxnSpPr>
        <p:spPr>
          <a:xfrm>
            <a:off x="4645800" y="3517257"/>
            <a:ext cx="3079760" cy="13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F97FB79-230D-46F3-93C9-D669C30DA9F2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4626674" y="2523101"/>
            <a:ext cx="3085568" cy="947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820F4F9A-B159-430A-9184-1B6A1070628D}"/>
              </a:ext>
            </a:extLst>
          </p:cNvPr>
          <p:cNvSpPr txBox="1"/>
          <p:nvPr/>
        </p:nvSpPr>
        <p:spPr>
          <a:xfrm>
            <a:off x="4891599" y="1330004"/>
            <a:ext cx="42523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7</a:t>
            </a:r>
            <a:r>
              <a:rPr lang="zh-CN" altLang="en-US" sz="1000" dirty="0"/>
              <a:t>）每个消费者都会和</a:t>
            </a:r>
            <a:r>
              <a:rPr lang="en-US" altLang="zh-CN" sz="1000" dirty="0"/>
              <a:t>coordinator</a:t>
            </a:r>
            <a:r>
              <a:rPr lang="zh-CN" altLang="en-US" sz="1000" dirty="0"/>
              <a:t>保持心跳（</a:t>
            </a:r>
            <a:r>
              <a:rPr lang="zh-CN" altLang="en-US" sz="1000" dirty="0">
                <a:solidFill>
                  <a:srgbClr val="FF0000"/>
                </a:solidFill>
              </a:rPr>
              <a:t>默认</a:t>
            </a:r>
            <a:r>
              <a:rPr lang="en-US" altLang="zh-CN" sz="1000" dirty="0">
                <a:solidFill>
                  <a:srgbClr val="FF0000"/>
                </a:solidFill>
              </a:rPr>
              <a:t>3s</a:t>
            </a:r>
            <a:r>
              <a:rPr lang="zh-CN" altLang="en-US" sz="1000" dirty="0"/>
              <a:t>），一旦超时（</a:t>
            </a:r>
            <a:r>
              <a:rPr lang="en-US" altLang="zh-CN" sz="1000" dirty="0"/>
              <a:t>session.timeout.ms=</a:t>
            </a:r>
            <a:r>
              <a:rPr lang="en-US" altLang="zh-CN" sz="1000" dirty="0">
                <a:solidFill>
                  <a:srgbClr val="FF0000"/>
                </a:solidFill>
              </a:rPr>
              <a:t>45s</a:t>
            </a:r>
            <a:r>
              <a:rPr lang="zh-CN" altLang="en-US" sz="1000" dirty="0"/>
              <a:t>），该消费者会被移除，并触发再平衡；</a:t>
            </a:r>
            <a:endParaRPr lang="en-US" altLang="zh-CN" sz="1000" dirty="0"/>
          </a:p>
          <a:p>
            <a:r>
              <a:rPr lang="zh-CN" altLang="en-US" sz="1000" dirty="0"/>
              <a:t>或者消费者处理消息的过长（</a:t>
            </a:r>
            <a:r>
              <a:rPr lang="en-US" altLang="zh-CN" sz="1000" dirty="0"/>
              <a:t>max.poll.interval.ms</a:t>
            </a:r>
            <a:r>
              <a:rPr lang="en-US" altLang="zh-CN" sz="1000" dirty="0">
                <a:solidFill>
                  <a:srgbClr val="FF0000"/>
                </a:solidFill>
              </a:rPr>
              <a:t>5</a:t>
            </a:r>
            <a:r>
              <a:rPr lang="zh-CN" altLang="en-US" sz="1000" dirty="0">
                <a:solidFill>
                  <a:srgbClr val="FF0000"/>
                </a:solidFill>
              </a:rPr>
              <a:t>分钟</a:t>
            </a:r>
            <a:r>
              <a:rPr lang="zh-CN" altLang="en-US" sz="1000" dirty="0"/>
              <a:t>），也会触发再平衡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30875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46914E-6 L 0.10417 -0.08488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-4259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60494E-6 L 0.13472 0.09352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36" y="466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32099E-6 L 0.17292 0.26451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3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8" grpId="0"/>
      <p:bldP spid="29" grpId="0"/>
      <p:bldP spid="30" grpId="0"/>
      <p:bldP spid="31" grpId="0" animBg="1"/>
      <p:bldP spid="32" grpId="0" animBg="1"/>
      <p:bldP spid="33" grpId="0" animBg="1"/>
      <p:bldP spid="34" grpId="0"/>
      <p:bldP spid="35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5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8872FE-4EA2-4FC1-9216-14CEDF8EB803}"/>
              </a:ext>
            </a:extLst>
          </p:cNvPr>
          <p:cNvSpPr/>
          <p:nvPr/>
        </p:nvSpPr>
        <p:spPr>
          <a:xfrm>
            <a:off x="4572000" y="583621"/>
            <a:ext cx="1512168" cy="45365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Kafka cluster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12C649-7FDA-4333-84B9-E927B79B883F}"/>
              </a:ext>
            </a:extLst>
          </p:cNvPr>
          <p:cNvSpPr/>
          <p:nvPr/>
        </p:nvSpPr>
        <p:spPr>
          <a:xfrm>
            <a:off x="4773998" y="1057945"/>
            <a:ext cx="1172415" cy="4100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D3D785-A0B2-4886-85CC-325DA455F56C}"/>
              </a:ext>
            </a:extLst>
          </p:cNvPr>
          <p:cNvSpPr/>
          <p:nvPr/>
        </p:nvSpPr>
        <p:spPr>
          <a:xfrm>
            <a:off x="4860032" y="1088326"/>
            <a:ext cx="1014373" cy="3552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Partition-0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105BFE-2083-48CB-B42A-B14008B5D174}"/>
              </a:ext>
            </a:extLst>
          </p:cNvPr>
          <p:cNvSpPr txBox="1"/>
          <p:nvPr/>
        </p:nvSpPr>
        <p:spPr>
          <a:xfrm>
            <a:off x="4716016" y="800979"/>
            <a:ext cx="773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broker-0</a:t>
            </a:r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68AD32-0BFE-4D01-8EB4-CE3A9A7AC4C2}"/>
              </a:ext>
            </a:extLst>
          </p:cNvPr>
          <p:cNvSpPr/>
          <p:nvPr/>
        </p:nvSpPr>
        <p:spPr>
          <a:xfrm>
            <a:off x="4773998" y="1663741"/>
            <a:ext cx="1172415" cy="4100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B7EE5F-7F60-4C5D-B883-7603265978C9}"/>
              </a:ext>
            </a:extLst>
          </p:cNvPr>
          <p:cNvSpPr/>
          <p:nvPr/>
        </p:nvSpPr>
        <p:spPr>
          <a:xfrm>
            <a:off x="4860032" y="1694122"/>
            <a:ext cx="1014373" cy="3552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Partition-1</a:t>
            </a: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0EBE06-CD38-443C-AD36-049E18454C14}"/>
              </a:ext>
            </a:extLst>
          </p:cNvPr>
          <p:cNvSpPr txBox="1"/>
          <p:nvPr/>
        </p:nvSpPr>
        <p:spPr>
          <a:xfrm>
            <a:off x="4716016" y="1406775"/>
            <a:ext cx="773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broker-1</a:t>
            </a:r>
            <a:endParaRPr lang="zh-CN" altLang="en-US" sz="1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E9F4FB-7B86-4DB5-9314-099416A456CC}"/>
              </a:ext>
            </a:extLst>
          </p:cNvPr>
          <p:cNvSpPr/>
          <p:nvPr/>
        </p:nvSpPr>
        <p:spPr>
          <a:xfrm>
            <a:off x="4767737" y="2272008"/>
            <a:ext cx="1172415" cy="4100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237766-E71B-40FE-8921-4158F4F122B7}"/>
              </a:ext>
            </a:extLst>
          </p:cNvPr>
          <p:cNvSpPr/>
          <p:nvPr/>
        </p:nvSpPr>
        <p:spPr>
          <a:xfrm>
            <a:off x="4853771" y="2302389"/>
            <a:ext cx="1014373" cy="3552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Partition-2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A87028-C406-4D05-8A50-EDA2CDA06D90}"/>
              </a:ext>
            </a:extLst>
          </p:cNvPr>
          <p:cNvSpPr txBox="1"/>
          <p:nvPr/>
        </p:nvSpPr>
        <p:spPr>
          <a:xfrm>
            <a:off x="4709755" y="2015042"/>
            <a:ext cx="773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broker-2</a:t>
            </a:r>
            <a:endParaRPr lang="zh-CN" altLang="en-US" sz="1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2D1244-A73A-4AE5-AE5C-D01F4C329FD4}"/>
              </a:ext>
            </a:extLst>
          </p:cNvPr>
          <p:cNvSpPr/>
          <p:nvPr/>
        </p:nvSpPr>
        <p:spPr>
          <a:xfrm>
            <a:off x="4752964" y="2869000"/>
            <a:ext cx="1172415" cy="4100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1EF4C9-D097-46C4-9870-06A78C68C8CB}"/>
              </a:ext>
            </a:extLst>
          </p:cNvPr>
          <p:cNvSpPr/>
          <p:nvPr/>
        </p:nvSpPr>
        <p:spPr>
          <a:xfrm>
            <a:off x="4838998" y="2899381"/>
            <a:ext cx="1014373" cy="3552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Partition-3</a:t>
            </a:r>
            <a:endParaRPr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C4FB08-3470-4D01-A329-4FB0A3EEB8AB}"/>
              </a:ext>
            </a:extLst>
          </p:cNvPr>
          <p:cNvSpPr txBox="1"/>
          <p:nvPr/>
        </p:nvSpPr>
        <p:spPr>
          <a:xfrm>
            <a:off x="4694982" y="2612034"/>
            <a:ext cx="773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broker-3</a:t>
            </a:r>
            <a:endParaRPr lang="zh-CN" altLang="en-US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789A61-0F18-422B-A454-7A74529965DC}"/>
              </a:ext>
            </a:extLst>
          </p:cNvPr>
          <p:cNvSpPr/>
          <p:nvPr/>
        </p:nvSpPr>
        <p:spPr>
          <a:xfrm>
            <a:off x="4738668" y="3463074"/>
            <a:ext cx="1172415" cy="4100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4EB1E5-98F3-499E-ADE8-5C9E1010F47D}"/>
              </a:ext>
            </a:extLst>
          </p:cNvPr>
          <p:cNvSpPr/>
          <p:nvPr/>
        </p:nvSpPr>
        <p:spPr>
          <a:xfrm>
            <a:off x="4824702" y="3493455"/>
            <a:ext cx="1014373" cy="3552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Partition-4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EC51C82-9888-4685-9C96-4F1F3935B9BE}"/>
              </a:ext>
            </a:extLst>
          </p:cNvPr>
          <p:cNvSpPr txBox="1"/>
          <p:nvPr/>
        </p:nvSpPr>
        <p:spPr>
          <a:xfrm>
            <a:off x="4680686" y="3206108"/>
            <a:ext cx="773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broker-4</a:t>
            </a:r>
            <a:endParaRPr lang="zh-CN" altLang="en-US" sz="1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BDBD06-3647-4EC4-9872-FEA7DDDBF9B8}"/>
              </a:ext>
            </a:extLst>
          </p:cNvPr>
          <p:cNvSpPr/>
          <p:nvPr/>
        </p:nvSpPr>
        <p:spPr>
          <a:xfrm>
            <a:off x="4737726" y="4080983"/>
            <a:ext cx="1172415" cy="4100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375B57-9845-48F2-BE8F-87408F0A78C2}"/>
              </a:ext>
            </a:extLst>
          </p:cNvPr>
          <p:cNvSpPr/>
          <p:nvPr/>
        </p:nvSpPr>
        <p:spPr>
          <a:xfrm>
            <a:off x="4823760" y="4111364"/>
            <a:ext cx="1014373" cy="3552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Partition-5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8E4575-6C92-4B84-9917-25D85C54D88D}"/>
              </a:ext>
            </a:extLst>
          </p:cNvPr>
          <p:cNvSpPr txBox="1"/>
          <p:nvPr/>
        </p:nvSpPr>
        <p:spPr>
          <a:xfrm>
            <a:off x="4679744" y="3824017"/>
            <a:ext cx="773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broker-5</a:t>
            </a:r>
            <a:endParaRPr lang="zh-CN" alt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D3918D-CC57-4340-A2B0-240417217EB0}"/>
              </a:ext>
            </a:extLst>
          </p:cNvPr>
          <p:cNvSpPr/>
          <p:nvPr/>
        </p:nvSpPr>
        <p:spPr>
          <a:xfrm>
            <a:off x="4732536" y="4682802"/>
            <a:ext cx="1172415" cy="4100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E03C43-6949-4BAD-86F6-91D66E214F5A}"/>
              </a:ext>
            </a:extLst>
          </p:cNvPr>
          <p:cNvSpPr/>
          <p:nvPr/>
        </p:nvSpPr>
        <p:spPr>
          <a:xfrm>
            <a:off x="4818570" y="4713183"/>
            <a:ext cx="1014373" cy="3552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Partition-6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5D015B-ABAA-46C4-B884-807C4C190ABB}"/>
              </a:ext>
            </a:extLst>
          </p:cNvPr>
          <p:cNvSpPr txBox="1"/>
          <p:nvPr/>
        </p:nvSpPr>
        <p:spPr>
          <a:xfrm>
            <a:off x="4674554" y="4425836"/>
            <a:ext cx="773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broker-6</a:t>
            </a:r>
            <a:endParaRPr lang="zh-CN" altLang="en-US" sz="12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BD8835-3796-4C3C-9084-A996278AF480}"/>
              </a:ext>
            </a:extLst>
          </p:cNvPr>
          <p:cNvSpPr/>
          <p:nvPr/>
        </p:nvSpPr>
        <p:spPr>
          <a:xfrm>
            <a:off x="7092280" y="4345155"/>
            <a:ext cx="1800200" cy="4348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Consumer3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0395053-D818-43A5-907F-DD36C238A82E}"/>
              </a:ext>
            </a:extLst>
          </p:cNvPr>
          <p:cNvSpPr/>
          <p:nvPr/>
        </p:nvSpPr>
        <p:spPr>
          <a:xfrm>
            <a:off x="7092280" y="2906329"/>
            <a:ext cx="1800200" cy="4751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Consumer2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C75B12-1A63-4D45-B7FB-598665E5E6A3}"/>
              </a:ext>
            </a:extLst>
          </p:cNvPr>
          <p:cNvSpPr/>
          <p:nvPr/>
        </p:nvSpPr>
        <p:spPr>
          <a:xfrm>
            <a:off x="7092280" y="1622237"/>
            <a:ext cx="1800200" cy="493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Consumer1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BF722DF-A573-41F8-8D0D-C1DAA8486E34}"/>
              </a:ext>
            </a:extLst>
          </p:cNvPr>
          <p:cNvCxnSpPr>
            <a:cxnSpLocks/>
            <a:stCxn id="3" idx="3"/>
            <a:endCxn id="26" idx="1"/>
          </p:cNvCxnSpPr>
          <p:nvPr/>
        </p:nvCxnSpPr>
        <p:spPr>
          <a:xfrm>
            <a:off x="5946413" y="1262953"/>
            <a:ext cx="1145867" cy="6057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F0080F4-E870-49DB-8400-2B4D6D95DF27}"/>
              </a:ext>
            </a:extLst>
          </p:cNvPr>
          <p:cNvCxnSpPr>
            <a:cxnSpLocks/>
            <a:stCxn id="6" idx="3"/>
            <a:endCxn id="25" idx="1"/>
          </p:cNvCxnSpPr>
          <p:nvPr/>
        </p:nvCxnSpPr>
        <p:spPr>
          <a:xfrm>
            <a:off x="5946413" y="1868749"/>
            <a:ext cx="1145867" cy="1275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698D05C-8251-4C6A-9080-D24FCA146FCE}"/>
              </a:ext>
            </a:extLst>
          </p:cNvPr>
          <p:cNvCxnSpPr>
            <a:cxnSpLocks/>
            <a:stCxn id="9" idx="3"/>
            <a:endCxn id="24" idx="1"/>
          </p:cNvCxnSpPr>
          <p:nvPr/>
        </p:nvCxnSpPr>
        <p:spPr>
          <a:xfrm>
            <a:off x="5940152" y="2477016"/>
            <a:ext cx="1152128" cy="2085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C9F6E00-945F-4CA0-8E4A-5EE7BC107CF8}"/>
              </a:ext>
            </a:extLst>
          </p:cNvPr>
          <p:cNvCxnSpPr>
            <a:cxnSpLocks/>
            <a:stCxn id="12" idx="3"/>
            <a:endCxn id="26" idx="1"/>
          </p:cNvCxnSpPr>
          <p:nvPr/>
        </p:nvCxnSpPr>
        <p:spPr>
          <a:xfrm flipV="1">
            <a:off x="5925379" y="1868748"/>
            <a:ext cx="1166901" cy="12052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8F050F5-4CFE-4071-AE10-DBFC9810D720}"/>
              </a:ext>
            </a:extLst>
          </p:cNvPr>
          <p:cNvCxnSpPr>
            <a:cxnSpLocks/>
            <a:stCxn id="15" idx="3"/>
            <a:endCxn id="25" idx="1"/>
          </p:cNvCxnSpPr>
          <p:nvPr/>
        </p:nvCxnSpPr>
        <p:spPr>
          <a:xfrm flipV="1">
            <a:off x="5911083" y="3143916"/>
            <a:ext cx="1181197" cy="5241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4C1BEB9-7FCC-4564-BDD5-F2AEFCC1F4DC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5910141" y="4285991"/>
            <a:ext cx="1182139" cy="276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62537D9-1447-4B1C-83B7-064555E6DC55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 flipV="1">
            <a:off x="5904951" y="1868748"/>
            <a:ext cx="1187329" cy="30190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EEDE25E-306E-4FB6-A344-C2F057973E38}"/>
              </a:ext>
            </a:extLst>
          </p:cNvPr>
          <p:cNvSpPr txBox="1"/>
          <p:nvPr/>
        </p:nvSpPr>
        <p:spPr>
          <a:xfrm>
            <a:off x="504944" y="20067"/>
            <a:ext cx="313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分区分配策略之</a:t>
            </a:r>
            <a:r>
              <a:rPr lang="en-US" altLang="zh-CN" dirty="0" err="1">
                <a:solidFill>
                  <a:srgbClr val="FF0000"/>
                </a:solidFill>
              </a:rPr>
              <a:t>RoundRobin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A73AFB2-8125-4591-9FFD-DEA1DEC9CA70}"/>
              </a:ext>
            </a:extLst>
          </p:cNvPr>
          <p:cNvSpPr txBox="1"/>
          <p:nvPr/>
        </p:nvSpPr>
        <p:spPr>
          <a:xfrm>
            <a:off x="72008" y="555526"/>
            <a:ext cx="4187443" cy="144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/>
              <a:t>RoundRobin</a:t>
            </a:r>
            <a:r>
              <a:rPr lang="en-US" altLang="zh-CN" sz="1200" dirty="0"/>
              <a:t> </a:t>
            </a:r>
            <a:r>
              <a:rPr lang="zh-CN" altLang="en-US" sz="1200" dirty="0"/>
              <a:t>针对集群中</a:t>
            </a:r>
            <a:r>
              <a:rPr lang="zh-CN" altLang="en-US" sz="1200" dirty="0">
                <a:solidFill>
                  <a:srgbClr val="FF0000"/>
                </a:solidFill>
              </a:rPr>
              <a:t>所有</a:t>
            </a:r>
            <a:r>
              <a:rPr lang="en-US" altLang="zh-CN" sz="1200" dirty="0">
                <a:solidFill>
                  <a:srgbClr val="FF0000"/>
                </a:solidFill>
              </a:rPr>
              <a:t>Topic</a:t>
            </a:r>
            <a:r>
              <a:rPr lang="zh-CN" altLang="en-US" sz="1200" dirty="0">
                <a:solidFill>
                  <a:srgbClr val="FF0000"/>
                </a:solidFill>
              </a:rPr>
              <a:t>而言</a:t>
            </a:r>
            <a:r>
              <a:rPr lang="zh-CN" altLang="en-US" sz="1200" dirty="0"/>
              <a:t>。</a:t>
            </a:r>
            <a:r>
              <a:rPr lang="en-US" altLang="zh-CN" sz="1200" dirty="0"/>
              <a:t> </a:t>
            </a:r>
          </a:p>
          <a:p>
            <a:pPr>
              <a:lnSpc>
                <a:spcPct val="150000"/>
              </a:lnSpc>
            </a:pP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en-US" altLang="zh-CN" sz="1200" dirty="0" err="1"/>
              <a:t>RoundRobin</a:t>
            </a:r>
            <a:r>
              <a:rPr lang="en-US" altLang="zh-CN" sz="1200" dirty="0"/>
              <a:t> </a:t>
            </a:r>
            <a:r>
              <a:rPr lang="zh-CN" altLang="en-US" sz="1200" dirty="0"/>
              <a:t>轮询分区策略，是把</a:t>
            </a:r>
            <a:r>
              <a:rPr lang="zh-CN" altLang="en-US" sz="1200" dirty="0">
                <a:solidFill>
                  <a:srgbClr val="FF0000"/>
                </a:solidFill>
              </a:rPr>
              <a:t>所有的 </a:t>
            </a:r>
            <a:r>
              <a:rPr lang="en-US" altLang="zh-CN" sz="1200" dirty="0">
                <a:solidFill>
                  <a:srgbClr val="FF0000"/>
                </a:solidFill>
              </a:rPr>
              <a:t>partition </a:t>
            </a:r>
            <a:r>
              <a:rPr lang="zh-CN" altLang="en-US" sz="1200" dirty="0">
                <a:solidFill>
                  <a:srgbClr val="FF0000"/>
                </a:solidFill>
              </a:rPr>
              <a:t>和所有的 </a:t>
            </a:r>
            <a:r>
              <a:rPr lang="en-US" altLang="zh-CN" sz="1200" dirty="0">
                <a:solidFill>
                  <a:srgbClr val="FF0000"/>
                </a:solidFill>
              </a:rPr>
              <a:t>consumer </a:t>
            </a:r>
            <a:r>
              <a:rPr lang="zh-CN" altLang="en-US" sz="1200" dirty="0">
                <a:solidFill>
                  <a:srgbClr val="FF0000"/>
                </a:solidFill>
              </a:rPr>
              <a:t>都列出来</a:t>
            </a:r>
            <a:r>
              <a:rPr lang="zh-CN" altLang="en-US" sz="1200" dirty="0"/>
              <a:t>，然后</a:t>
            </a:r>
            <a:r>
              <a:rPr lang="zh-CN" altLang="en-US" sz="1200" dirty="0">
                <a:solidFill>
                  <a:srgbClr val="FF0000"/>
                </a:solidFill>
              </a:rPr>
              <a:t>按照 </a:t>
            </a:r>
            <a:r>
              <a:rPr lang="en-US" altLang="zh-CN" sz="1200" dirty="0" err="1">
                <a:solidFill>
                  <a:srgbClr val="FF0000"/>
                </a:solidFill>
              </a:rPr>
              <a:t>hashcode</a:t>
            </a:r>
            <a:r>
              <a:rPr lang="en-US" altLang="zh-CN" sz="1200" dirty="0">
                <a:solidFill>
                  <a:srgbClr val="FF0000"/>
                </a:solidFill>
              </a:rPr>
              <a:t> </a:t>
            </a:r>
            <a:r>
              <a:rPr lang="zh-CN" altLang="en-US" sz="1200" dirty="0">
                <a:solidFill>
                  <a:srgbClr val="FF0000"/>
                </a:solidFill>
              </a:rPr>
              <a:t>进行排序</a:t>
            </a:r>
            <a:r>
              <a:rPr lang="zh-CN" altLang="en-US" sz="1200" dirty="0"/>
              <a:t>，最后通过</a:t>
            </a:r>
            <a:r>
              <a:rPr lang="zh-CN" altLang="en-US" sz="1200" dirty="0">
                <a:solidFill>
                  <a:srgbClr val="FF0000"/>
                </a:solidFill>
              </a:rPr>
              <a:t>轮询算法</a:t>
            </a:r>
            <a:r>
              <a:rPr lang="zh-CN" altLang="en-US" sz="1200" dirty="0"/>
              <a:t>来分配 </a:t>
            </a:r>
            <a:r>
              <a:rPr lang="en-US" altLang="zh-CN" sz="1200" dirty="0"/>
              <a:t>partition </a:t>
            </a:r>
            <a:r>
              <a:rPr lang="zh-CN" altLang="en-US" sz="1200" dirty="0"/>
              <a:t>给到各个消费者。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D187A84-DB9C-440D-8FFD-B97D82D96CAB}"/>
              </a:ext>
            </a:extLst>
          </p:cNvPr>
          <p:cNvSpPr txBox="1"/>
          <p:nvPr/>
        </p:nvSpPr>
        <p:spPr>
          <a:xfrm>
            <a:off x="7549719" y="1314460"/>
            <a:ext cx="835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r>
              <a:rPr lang="zh-CN" altLang="en-US" sz="1400" dirty="0"/>
              <a:t>，</a:t>
            </a:r>
            <a:r>
              <a:rPr lang="en-US" altLang="zh-CN" sz="1400" dirty="0"/>
              <a:t>3</a:t>
            </a:r>
            <a:r>
              <a:rPr lang="zh-CN" altLang="en-US" sz="1400" dirty="0"/>
              <a:t>，</a:t>
            </a:r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4D99EAD-BD73-48F8-BCAB-1D882F1F1040}"/>
              </a:ext>
            </a:extLst>
          </p:cNvPr>
          <p:cNvSpPr txBox="1"/>
          <p:nvPr/>
        </p:nvSpPr>
        <p:spPr>
          <a:xfrm>
            <a:off x="7533705" y="2581256"/>
            <a:ext cx="710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1</a:t>
            </a:r>
            <a:r>
              <a:rPr lang="zh-CN" altLang="en-US" sz="1400" dirty="0"/>
              <a:t>，</a:t>
            </a:r>
            <a:r>
              <a:rPr lang="en-US" altLang="zh-CN" sz="1400" dirty="0"/>
              <a:t>4</a:t>
            </a:r>
            <a:endParaRPr lang="zh-CN" altLang="en-US" sz="1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9E58401-CEE0-46CE-B23F-599C3380EA70}"/>
              </a:ext>
            </a:extLst>
          </p:cNvPr>
          <p:cNvSpPr txBox="1"/>
          <p:nvPr/>
        </p:nvSpPr>
        <p:spPr>
          <a:xfrm>
            <a:off x="7556766" y="3978213"/>
            <a:ext cx="7017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2</a:t>
            </a:r>
            <a:r>
              <a:rPr lang="zh-CN" altLang="en-US" sz="1400" dirty="0"/>
              <a:t>，</a:t>
            </a:r>
            <a:r>
              <a:rPr lang="en-US" altLang="zh-CN" sz="1400" dirty="0"/>
              <a:t>5</a:t>
            </a:r>
            <a:endParaRPr lang="zh-CN" alt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4791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/>
      <p:bldP spid="21" grpId="0" animBg="1"/>
      <p:bldP spid="22" grpId="0" animBg="1"/>
      <p:bldP spid="23" grpId="0"/>
      <p:bldP spid="24" grpId="0" animBg="1"/>
      <p:bldP spid="25" grpId="0" animBg="1"/>
      <p:bldP spid="26" grpId="0" animBg="1"/>
      <p:bldP spid="35" grpId="0"/>
      <p:bldP spid="36" grpId="0"/>
      <p:bldP spid="37" grpId="0"/>
      <p:bldP spid="3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F2A3DA-9F57-42C6-A066-AFFA91F64AD8}"/>
              </a:ext>
            </a:extLst>
          </p:cNvPr>
          <p:cNvSpPr txBox="1"/>
          <p:nvPr/>
        </p:nvSpPr>
        <p:spPr>
          <a:xfrm>
            <a:off x="467543" y="0"/>
            <a:ext cx="243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offset</a:t>
            </a:r>
            <a:r>
              <a:rPr lang="zh-CN" altLang="en-US" dirty="0">
                <a:solidFill>
                  <a:srgbClr val="FF0000"/>
                </a:solidFill>
              </a:rPr>
              <a:t>的默认维护位置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1B0314-48EB-49A3-AC22-BAF75BA25114}"/>
              </a:ext>
            </a:extLst>
          </p:cNvPr>
          <p:cNvSpPr/>
          <p:nvPr/>
        </p:nvSpPr>
        <p:spPr>
          <a:xfrm>
            <a:off x="58133" y="3100666"/>
            <a:ext cx="82352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CA7C97-79C5-4C13-8F1D-70A90F481B76}"/>
              </a:ext>
            </a:extLst>
          </p:cNvPr>
          <p:cNvSpPr/>
          <p:nvPr/>
        </p:nvSpPr>
        <p:spPr>
          <a:xfrm>
            <a:off x="1210261" y="843557"/>
            <a:ext cx="4896544" cy="42924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867D80-1358-4A1F-8A7F-FDC7277C1BC4}"/>
              </a:ext>
            </a:extLst>
          </p:cNvPr>
          <p:cNvSpPr/>
          <p:nvPr/>
        </p:nvSpPr>
        <p:spPr>
          <a:xfrm>
            <a:off x="1344777" y="1247531"/>
            <a:ext cx="4618012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08C4A6-88DB-4700-8331-94566380BFDC}"/>
              </a:ext>
            </a:extLst>
          </p:cNvPr>
          <p:cNvSpPr/>
          <p:nvPr/>
        </p:nvSpPr>
        <p:spPr>
          <a:xfrm>
            <a:off x="1344777" y="2543675"/>
            <a:ext cx="4618012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DD5578-F4B9-4707-8147-CE1E5B0ACA1B}"/>
              </a:ext>
            </a:extLst>
          </p:cNvPr>
          <p:cNvSpPr/>
          <p:nvPr/>
        </p:nvSpPr>
        <p:spPr>
          <a:xfrm>
            <a:off x="1344777" y="3839819"/>
            <a:ext cx="4618012" cy="1152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2ED103-92A6-4200-817A-443934A05458}"/>
              </a:ext>
            </a:extLst>
          </p:cNvPr>
          <p:cNvSpPr txBox="1"/>
          <p:nvPr/>
        </p:nvSpPr>
        <p:spPr>
          <a:xfrm>
            <a:off x="1302988" y="914245"/>
            <a:ext cx="1259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16D932-94CC-4C6B-983B-878BA49A7A54}"/>
              </a:ext>
            </a:extLst>
          </p:cNvPr>
          <p:cNvSpPr txBox="1"/>
          <p:nvPr/>
        </p:nvSpPr>
        <p:spPr>
          <a:xfrm>
            <a:off x="1344778" y="1241993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27E0B2-A3B0-497A-99F6-ECCE0F94D58D}"/>
              </a:ext>
            </a:extLst>
          </p:cNvPr>
          <p:cNvSpPr txBox="1"/>
          <p:nvPr/>
        </p:nvSpPr>
        <p:spPr>
          <a:xfrm>
            <a:off x="1344777" y="2541941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812685-CF0B-40C4-858D-86E5CCBE3491}"/>
              </a:ext>
            </a:extLst>
          </p:cNvPr>
          <p:cNvSpPr txBox="1"/>
          <p:nvPr/>
        </p:nvSpPr>
        <p:spPr>
          <a:xfrm>
            <a:off x="1344777" y="3856391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broker2</a:t>
            </a:r>
            <a:endParaRPr lang="zh-CN" altLang="en-US" sz="1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631AB9-2DE3-4101-A9ED-66C49D43374F}"/>
              </a:ext>
            </a:extLst>
          </p:cNvPr>
          <p:cNvSpPr/>
          <p:nvPr/>
        </p:nvSpPr>
        <p:spPr>
          <a:xfrm>
            <a:off x="1416785" y="1542614"/>
            <a:ext cx="1956816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5DC0B9-AC99-4674-8743-CC71B98C6637}"/>
              </a:ext>
            </a:extLst>
          </p:cNvPr>
          <p:cNvSpPr txBox="1"/>
          <p:nvPr/>
        </p:nvSpPr>
        <p:spPr>
          <a:xfrm>
            <a:off x="1429381" y="1603771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TopicA-partition0-leader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4D4147-174B-4945-8F0B-C65DC16681F4}"/>
              </a:ext>
            </a:extLst>
          </p:cNvPr>
          <p:cNvSpPr/>
          <p:nvPr/>
        </p:nvSpPr>
        <p:spPr>
          <a:xfrm>
            <a:off x="1416785" y="2876357"/>
            <a:ext cx="1956816" cy="736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12129E-0B81-422B-897B-13A5D581D7C8}"/>
              </a:ext>
            </a:extLst>
          </p:cNvPr>
          <p:cNvSpPr/>
          <p:nvPr/>
        </p:nvSpPr>
        <p:spPr>
          <a:xfrm>
            <a:off x="1416783" y="4190686"/>
            <a:ext cx="1956816" cy="736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9039E5-D9F1-4089-B569-6CD68B86EB89}"/>
              </a:ext>
            </a:extLst>
          </p:cNvPr>
          <p:cNvSpPr txBox="1"/>
          <p:nvPr/>
        </p:nvSpPr>
        <p:spPr>
          <a:xfrm>
            <a:off x="1429381" y="2903715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TopicA-partition1-leader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422E716-57AE-4205-AFD3-8B942F81687C}"/>
              </a:ext>
            </a:extLst>
          </p:cNvPr>
          <p:cNvSpPr txBox="1"/>
          <p:nvPr/>
        </p:nvSpPr>
        <p:spPr>
          <a:xfrm>
            <a:off x="1429381" y="4203780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TopicA-partition2-leader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C59E25A-D27B-45C9-8891-DCDCC1C8F700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881655" y="1910939"/>
            <a:ext cx="535130" cy="13337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9CEF6DC-AEB4-4151-A934-9F02CB883185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881655" y="3244682"/>
            <a:ext cx="53513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280A47E-CEAE-481A-AF5E-5947B2D3C6C8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>
            <a:off x="881655" y="3244682"/>
            <a:ext cx="535128" cy="13143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9BB8979-A6D4-4E59-A552-7FA178731C07}"/>
              </a:ext>
            </a:extLst>
          </p:cNvPr>
          <p:cNvSpPr/>
          <p:nvPr/>
        </p:nvSpPr>
        <p:spPr>
          <a:xfrm>
            <a:off x="1565551" y="1910939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B92391D-5AA3-4D60-BB38-F288E5862B1D}"/>
              </a:ext>
            </a:extLst>
          </p:cNvPr>
          <p:cNvSpPr/>
          <p:nvPr/>
        </p:nvSpPr>
        <p:spPr>
          <a:xfrm>
            <a:off x="1863083" y="1915039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A2B30E-C7F9-4F23-AA4D-BB0810AC3B10}"/>
              </a:ext>
            </a:extLst>
          </p:cNvPr>
          <p:cNvSpPr/>
          <p:nvPr/>
        </p:nvSpPr>
        <p:spPr>
          <a:xfrm>
            <a:off x="2160615" y="1916964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6A89DC7-5C26-4F55-A6D5-F1545D53D0F4}"/>
              </a:ext>
            </a:extLst>
          </p:cNvPr>
          <p:cNvSpPr/>
          <p:nvPr/>
        </p:nvSpPr>
        <p:spPr>
          <a:xfrm>
            <a:off x="2453776" y="1915204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6DD0D6-A6B3-4251-9DFF-CC6F46140BE9}"/>
              </a:ext>
            </a:extLst>
          </p:cNvPr>
          <p:cNvSpPr/>
          <p:nvPr/>
        </p:nvSpPr>
        <p:spPr>
          <a:xfrm>
            <a:off x="2751308" y="191918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95956C2-DA58-4F09-AA31-6F74F9E53178}"/>
              </a:ext>
            </a:extLst>
          </p:cNvPr>
          <p:cNvSpPr/>
          <p:nvPr/>
        </p:nvSpPr>
        <p:spPr>
          <a:xfrm>
            <a:off x="3047885" y="192396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8F0F98-800E-4230-A119-D9F58AFFD547}"/>
              </a:ext>
            </a:extLst>
          </p:cNvPr>
          <p:cNvSpPr/>
          <p:nvPr/>
        </p:nvSpPr>
        <p:spPr>
          <a:xfrm>
            <a:off x="1568510" y="322874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AB03A5-709B-48AF-91F0-B3C7898769DD}"/>
              </a:ext>
            </a:extLst>
          </p:cNvPr>
          <p:cNvSpPr/>
          <p:nvPr/>
        </p:nvSpPr>
        <p:spPr>
          <a:xfrm>
            <a:off x="1866042" y="323284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01732B-DA4E-4E87-B938-990343300400}"/>
              </a:ext>
            </a:extLst>
          </p:cNvPr>
          <p:cNvSpPr/>
          <p:nvPr/>
        </p:nvSpPr>
        <p:spPr>
          <a:xfrm>
            <a:off x="2163574" y="323477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3CC1A8-0891-46BC-8011-7B70A8D8F26C}"/>
              </a:ext>
            </a:extLst>
          </p:cNvPr>
          <p:cNvSpPr/>
          <p:nvPr/>
        </p:nvSpPr>
        <p:spPr>
          <a:xfrm>
            <a:off x="2456735" y="323301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42E633-0C58-4815-B32E-D2414A9E43D6}"/>
              </a:ext>
            </a:extLst>
          </p:cNvPr>
          <p:cNvSpPr/>
          <p:nvPr/>
        </p:nvSpPr>
        <p:spPr>
          <a:xfrm>
            <a:off x="1598654" y="453911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01160C-170D-4D39-926F-8B8E70C3DE7C}"/>
              </a:ext>
            </a:extLst>
          </p:cNvPr>
          <p:cNvSpPr/>
          <p:nvPr/>
        </p:nvSpPr>
        <p:spPr>
          <a:xfrm>
            <a:off x="1896186" y="454321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D0D4E5-C81B-4629-9EA1-237280FA238B}"/>
              </a:ext>
            </a:extLst>
          </p:cNvPr>
          <p:cNvSpPr/>
          <p:nvPr/>
        </p:nvSpPr>
        <p:spPr>
          <a:xfrm>
            <a:off x="2193718" y="454514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314BAF7-4764-4276-859B-36E29CC19A41}"/>
              </a:ext>
            </a:extLst>
          </p:cNvPr>
          <p:cNvSpPr/>
          <p:nvPr/>
        </p:nvSpPr>
        <p:spPr>
          <a:xfrm>
            <a:off x="2486879" y="454338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C6A42D-DF4B-4AC3-8D99-7E16D6B4099C}"/>
              </a:ext>
            </a:extLst>
          </p:cNvPr>
          <p:cNvSpPr/>
          <p:nvPr/>
        </p:nvSpPr>
        <p:spPr>
          <a:xfrm>
            <a:off x="2784411" y="4547364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A59BD01-04D5-405E-B325-C8CD2FB090AB}"/>
              </a:ext>
            </a:extLst>
          </p:cNvPr>
          <p:cNvGrpSpPr/>
          <p:nvPr/>
        </p:nvGrpSpPr>
        <p:grpSpPr>
          <a:xfrm>
            <a:off x="7834997" y="2346145"/>
            <a:ext cx="1264683" cy="1648745"/>
            <a:chOff x="7798493" y="2426000"/>
            <a:chExt cx="1264683" cy="1648745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C356A3A-15F0-4D6A-8D19-37AC20F643A6}"/>
                </a:ext>
              </a:extLst>
            </p:cNvPr>
            <p:cNvSpPr/>
            <p:nvPr/>
          </p:nvSpPr>
          <p:spPr>
            <a:xfrm>
              <a:off x="7798493" y="2426000"/>
              <a:ext cx="1264683" cy="164874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A50807C-C2A3-4B7F-B825-72C6C80CBCD3}"/>
                </a:ext>
              </a:extLst>
            </p:cNvPr>
            <p:cNvSpPr/>
            <p:nvPr/>
          </p:nvSpPr>
          <p:spPr>
            <a:xfrm>
              <a:off x="7879618" y="2840709"/>
              <a:ext cx="1102437" cy="2880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Consumer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D77044C-6166-4D9C-82D4-A4C28F7D00CE}"/>
                </a:ext>
              </a:extLst>
            </p:cNvPr>
            <p:cNvSpPr/>
            <p:nvPr/>
          </p:nvSpPr>
          <p:spPr>
            <a:xfrm>
              <a:off x="7879618" y="3259552"/>
              <a:ext cx="1102437" cy="2880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Consumer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73C01E6-0206-4B1C-8051-C358DD497D8C}"/>
                </a:ext>
              </a:extLst>
            </p:cNvPr>
            <p:cNvSpPr/>
            <p:nvPr/>
          </p:nvSpPr>
          <p:spPr>
            <a:xfrm>
              <a:off x="7879617" y="3678395"/>
              <a:ext cx="1102437" cy="2880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Consumer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9870746-247F-4A14-A615-DDC81E51DDC8}"/>
                </a:ext>
              </a:extLst>
            </p:cNvPr>
            <p:cNvSpPr txBox="1"/>
            <p:nvPr/>
          </p:nvSpPr>
          <p:spPr>
            <a:xfrm>
              <a:off x="7879617" y="2426000"/>
              <a:ext cx="1043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group</a:t>
              </a:r>
              <a:endParaRPr lang="zh-CN" altLang="en-US" sz="1200" dirty="0"/>
            </a:p>
          </p:txBody>
        </p:sp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A33484A-8032-4665-A007-376FA57FE585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>
            <a:off x="3373601" y="1910939"/>
            <a:ext cx="4542521" cy="9939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B616DE3-90B8-41BD-83A0-45A7E78F1D35}"/>
              </a:ext>
            </a:extLst>
          </p:cNvPr>
          <p:cNvCxnSpPr>
            <a:cxnSpLocks/>
            <a:stCxn id="15" idx="3"/>
            <a:endCxn id="40" idx="1"/>
          </p:cNvCxnSpPr>
          <p:nvPr/>
        </p:nvCxnSpPr>
        <p:spPr>
          <a:xfrm flipV="1">
            <a:off x="3373599" y="3742556"/>
            <a:ext cx="4542522" cy="8164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图片 43">
            <a:extLst>
              <a:ext uri="{FF2B5EF4-FFF2-40B4-BE49-F238E27FC236}">
                <a16:creationId xmlns:a16="http://schemas.microsoft.com/office/drawing/2014/main" id="{97E42728-6DEB-4704-9501-74F47102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09" y="667867"/>
            <a:ext cx="752475" cy="1066800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EA193508-277B-4392-9BEF-DF8187C6CC8E}"/>
              </a:ext>
            </a:extLst>
          </p:cNvPr>
          <p:cNvSpPr txBox="1"/>
          <p:nvPr/>
        </p:nvSpPr>
        <p:spPr>
          <a:xfrm>
            <a:off x="6311366" y="1693815"/>
            <a:ext cx="94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Zookeeper</a:t>
            </a:r>
            <a:endParaRPr lang="zh-CN" altLang="en-US" sz="12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9E2C6CD-8E81-4560-A5A4-6E4AE5E8216F}"/>
              </a:ext>
            </a:extLst>
          </p:cNvPr>
          <p:cNvSpPr/>
          <p:nvPr/>
        </p:nvSpPr>
        <p:spPr>
          <a:xfrm>
            <a:off x="4295316" y="2876357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B873417-CDF8-40A3-8C48-BB97431EBB92}"/>
              </a:ext>
            </a:extLst>
          </p:cNvPr>
          <p:cNvSpPr/>
          <p:nvPr/>
        </p:nvSpPr>
        <p:spPr>
          <a:xfrm>
            <a:off x="2163574" y="1910938"/>
            <a:ext cx="225524" cy="2769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6CC416A-1EB4-4CA7-B4FB-BF3ABFCE6FA3}"/>
              </a:ext>
            </a:extLst>
          </p:cNvPr>
          <p:cNvCxnSpPr>
            <a:cxnSpLocks/>
            <a:stCxn id="47" idx="0"/>
            <a:endCxn id="49" idx="1"/>
          </p:cNvCxnSpPr>
          <p:nvPr/>
        </p:nvCxnSpPr>
        <p:spPr>
          <a:xfrm flipV="1">
            <a:off x="2276336" y="1057251"/>
            <a:ext cx="1169238" cy="8536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C8F0CDED-518E-43C2-98C4-EFCE9EFB4869}"/>
              </a:ext>
            </a:extLst>
          </p:cNvPr>
          <p:cNvSpPr/>
          <p:nvPr/>
        </p:nvSpPr>
        <p:spPr>
          <a:xfrm>
            <a:off x="3445574" y="913235"/>
            <a:ext cx="789023" cy="2880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4042A9C-3E4E-4A33-8EA9-5CDCF718D789}"/>
              </a:ext>
            </a:extLst>
          </p:cNvPr>
          <p:cNvSpPr/>
          <p:nvPr/>
        </p:nvSpPr>
        <p:spPr>
          <a:xfrm>
            <a:off x="4340694" y="1538849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6258661-0472-43F9-84BB-DAC14F64FDA3}"/>
              </a:ext>
            </a:extLst>
          </p:cNvPr>
          <p:cNvCxnSpPr>
            <a:cxnSpLocks/>
            <a:stCxn id="14" idx="3"/>
            <a:endCxn id="39" idx="1"/>
          </p:cNvCxnSpPr>
          <p:nvPr/>
        </p:nvCxnSpPr>
        <p:spPr>
          <a:xfrm>
            <a:off x="3373601" y="3244682"/>
            <a:ext cx="4542521" cy="790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19C58975-E9D3-4653-9C29-9BBA631E6648}"/>
              </a:ext>
            </a:extLst>
          </p:cNvPr>
          <p:cNvSpPr/>
          <p:nvPr/>
        </p:nvSpPr>
        <p:spPr>
          <a:xfrm>
            <a:off x="4284228" y="4193810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5717CB0-B8B4-44F1-A681-CE78C5D5B6A2}"/>
              </a:ext>
            </a:extLst>
          </p:cNvPr>
          <p:cNvCxnSpPr>
            <a:cxnSpLocks/>
            <a:stCxn id="49" idx="3"/>
            <a:endCxn id="50" idx="0"/>
          </p:cNvCxnSpPr>
          <p:nvPr/>
        </p:nvCxnSpPr>
        <p:spPr>
          <a:xfrm>
            <a:off x="4234597" y="1057251"/>
            <a:ext cx="845137" cy="4815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A045A106-D69F-462B-9C06-F89EDCB0AED8}"/>
              </a:ext>
            </a:extLst>
          </p:cNvPr>
          <p:cNvSpPr txBox="1"/>
          <p:nvPr/>
        </p:nvSpPr>
        <p:spPr>
          <a:xfrm>
            <a:off x="2684792" y="403911"/>
            <a:ext cx="3704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从</a:t>
            </a:r>
            <a:r>
              <a:rPr lang="en-US" altLang="zh-CN" sz="1200" dirty="0">
                <a:solidFill>
                  <a:srgbClr val="FF0000"/>
                </a:solidFill>
              </a:rPr>
              <a:t>0.9</a:t>
            </a:r>
            <a:r>
              <a:rPr lang="zh-CN" altLang="en-US" sz="1200" dirty="0">
                <a:solidFill>
                  <a:srgbClr val="FF0000"/>
                </a:solidFill>
              </a:rPr>
              <a:t>版本开始，</a:t>
            </a:r>
            <a:r>
              <a:rPr lang="en-US" altLang="zh-CN" sz="1200" dirty="0">
                <a:solidFill>
                  <a:srgbClr val="FF0000"/>
                </a:solidFill>
              </a:rPr>
              <a:t>consumer</a:t>
            </a:r>
            <a:r>
              <a:rPr lang="zh-CN" altLang="en-US" sz="1200" dirty="0">
                <a:solidFill>
                  <a:srgbClr val="FF0000"/>
                </a:solidFill>
              </a:rPr>
              <a:t>默认将</a:t>
            </a:r>
            <a:r>
              <a:rPr lang="en-US" altLang="zh-CN" sz="1200" dirty="0">
                <a:solidFill>
                  <a:srgbClr val="FF0000"/>
                </a:solidFill>
              </a:rPr>
              <a:t>offset</a:t>
            </a:r>
            <a:r>
              <a:rPr lang="zh-CN" altLang="en-US" sz="1200" dirty="0">
                <a:solidFill>
                  <a:srgbClr val="FF0000"/>
                </a:solidFill>
              </a:rPr>
              <a:t>保存在</a:t>
            </a:r>
            <a:r>
              <a:rPr lang="en-US" altLang="zh-CN" sz="1200" dirty="0">
                <a:solidFill>
                  <a:srgbClr val="FF0000"/>
                </a:solidFill>
              </a:rPr>
              <a:t>Kafka</a:t>
            </a:r>
            <a:r>
              <a:rPr lang="zh-CN" altLang="en-US" sz="1200" dirty="0">
                <a:solidFill>
                  <a:srgbClr val="FF0000"/>
                </a:solidFill>
              </a:rPr>
              <a:t>一个内置的</a:t>
            </a:r>
            <a:r>
              <a:rPr lang="en-US" altLang="zh-CN" sz="1200" dirty="0">
                <a:solidFill>
                  <a:srgbClr val="FF0000"/>
                </a:solidFill>
              </a:rPr>
              <a:t>topic</a:t>
            </a:r>
            <a:r>
              <a:rPr lang="zh-CN" altLang="en-US" sz="1200" dirty="0">
                <a:solidFill>
                  <a:srgbClr val="FF0000"/>
                </a:solidFill>
              </a:rPr>
              <a:t>中，该</a:t>
            </a:r>
            <a:r>
              <a:rPr lang="en-US" altLang="zh-CN" sz="1200" dirty="0">
                <a:solidFill>
                  <a:srgbClr val="FF0000"/>
                </a:solidFill>
              </a:rPr>
              <a:t>topic</a:t>
            </a:r>
            <a:r>
              <a:rPr lang="zh-CN" altLang="en-US" sz="1200" dirty="0">
                <a:solidFill>
                  <a:srgbClr val="FF0000"/>
                </a:solidFill>
              </a:rPr>
              <a:t>为</a:t>
            </a:r>
            <a:r>
              <a:rPr lang="en-US" altLang="zh-CN" sz="1200" dirty="0">
                <a:solidFill>
                  <a:srgbClr val="FF0000"/>
                </a:solidFill>
              </a:rPr>
              <a:t>__</a:t>
            </a:r>
            <a:r>
              <a:rPr lang="en-US" altLang="zh-CN" sz="1200" dirty="0" err="1">
                <a:solidFill>
                  <a:srgbClr val="FF0000"/>
                </a:solidFill>
              </a:rPr>
              <a:t>consumer_offsets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3681BBF-5AF7-48F8-84C6-978BD68E47D7}"/>
              </a:ext>
            </a:extLst>
          </p:cNvPr>
          <p:cNvSpPr txBox="1"/>
          <p:nvPr/>
        </p:nvSpPr>
        <p:spPr>
          <a:xfrm>
            <a:off x="7252127" y="627534"/>
            <a:ext cx="19283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Kafka0.9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版本之前，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默认将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保存在</a:t>
            </a:r>
            <a:r>
              <a:rPr lang="en-US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Zookeeper</a:t>
            </a:r>
            <a:r>
              <a:rPr lang="zh-CN" altLang="zh-CN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endParaRPr lang="zh-CN" altLang="en-US" sz="1400" dirty="0"/>
          </a:p>
        </p:txBody>
      </p:sp>
      <p:sp>
        <p:nvSpPr>
          <p:cNvPr id="56" name="乘号 55">
            <a:extLst>
              <a:ext uri="{FF2B5EF4-FFF2-40B4-BE49-F238E27FC236}">
                <a16:creationId xmlns:a16="http://schemas.microsoft.com/office/drawing/2014/main" id="{A0A8B504-0E8D-49A7-B825-3F6C9FED7CE5}"/>
              </a:ext>
            </a:extLst>
          </p:cNvPr>
          <p:cNvSpPr/>
          <p:nvPr/>
        </p:nvSpPr>
        <p:spPr>
          <a:xfrm>
            <a:off x="6610861" y="1011182"/>
            <a:ext cx="547645" cy="52766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E2A7635-8AD3-4156-8EB2-6EE7E6EBF3D7}"/>
              </a:ext>
            </a:extLst>
          </p:cNvPr>
          <p:cNvSpPr/>
          <p:nvPr/>
        </p:nvSpPr>
        <p:spPr>
          <a:xfrm>
            <a:off x="5028580" y="156301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07378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 animBg="1"/>
      <p:bldP spid="16" grpId="0"/>
      <p:bldP spid="17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5" grpId="0"/>
      <p:bldP spid="46" grpId="0" animBg="1"/>
      <p:bldP spid="47" grpId="0" animBg="1"/>
      <p:bldP spid="49" grpId="0" animBg="1"/>
      <p:bldP spid="50" grpId="0" animBg="1"/>
      <p:bldP spid="52" grpId="0" animBg="1"/>
      <p:bldP spid="54" grpId="0"/>
      <p:bldP spid="55" grpId="0"/>
      <p:bldP spid="56" grpId="0" animBg="1"/>
      <p:bldP spid="5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094F25-0598-42FF-9D37-2430AB2ACC39}"/>
              </a:ext>
            </a:extLst>
          </p:cNvPr>
          <p:cNvSpPr txBox="1"/>
          <p:nvPr/>
        </p:nvSpPr>
        <p:spPr>
          <a:xfrm>
            <a:off x="467543" y="0"/>
            <a:ext cx="172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自动提交</a:t>
            </a:r>
            <a:r>
              <a:rPr lang="en-US" altLang="zh-CN" dirty="0">
                <a:solidFill>
                  <a:srgbClr val="FF0000"/>
                </a:solidFill>
              </a:rPr>
              <a:t>offset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3788FA-408A-487A-9CF5-71C3CEF63F60}"/>
              </a:ext>
            </a:extLst>
          </p:cNvPr>
          <p:cNvSpPr/>
          <p:nvPr/>
        </p:nvSpPr>
        <p:spPr>
          <a:xfrm>
            <a:off x="323012" y="3327334"/>
            <a:ext cx="82352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83B049-3619-4278-B1B7-0BA736C18B41}"/>
              </a:ext>
            </a:extLst>
          </p:cNvPr>
          <p:cNvSpPr/>
          <p:nvPr/>
        </p:nvSpPr>
        <p:spPr>
          <a:xfrm>
            <a:off x="1473441" y="2359980"/>
            <a:ext cx="4680520" cy="1738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0648F6-2AF4-4320-9AF4-9510BEB40781}"/>
              </a:ext>
            </a:extLst>
          </p:cNvPr>
          <p:cNvSpPr/>
          <p:nvPr/>
        </p:nvSpPr>
        <p:spPr>
          <a:xfrm>
            <a:off x="1607956" y="2809358"/>
            <a:ext cx="4329982" cy="1241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C6A5B4-8164-477B-BEB5-57552D4A3EE7}"/>
              </a:ext>
            </a:extLst>
          </p:cNvPr>
          <p:cNvSpPr txBox="1"/>
          <p:nvPr/>
        </p:nvSpPr>
        <p:spPr>
          <a:xfrm>
            <a:off x="1533430" y="2387756"/>
            <a:ext cx="12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102FFE-05FF-45D4-9B1F-098B4EC57603}"/>
              </a:ext>
            </a:extLst>
          </p:cNvPr>
          <p:cNvSpPr txBox="1"/>
          <p:nvPr/>
        </p:nvSpPr>
        <p:spPr>
          <a:xfrm>
            <a:off x="1607957" y="2803821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B1F2F3-7690-4448-80FE-3C3C6AB537FA}"/>
              </a:ext>
            </a:extLst>
          </p:cNvPr>
          <p:cNvSpPr/>
          <p:nvPr/>
        </p:nvSpPr>
        <p:spPr>
          <a:xfrm>
            <a:off x="1679964" y="3104442"/>
            <a:ext cx="1956816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9396C8-25E6-4683-AECE-7D08F032B367}"/>
              </a:ext>
            </a:extLst>
          </p:cNvPr>
          <p:cNvSpPr txBox="1"/>
          <p:nvPr/>
        </p:nvSpPr>
        <p:spPr>
          <a:xfrm>
            <a:off x="1692560" y="3165599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TopicA-partition0-leader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23F6331-F63F-4299-B195-87A188D32554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1146534" y="3471350"/>
            <a:ext cx="533430" cy="14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F01B4FEC-D212-4817-8AD5-AB170A1EF3C4}"/>
              </a:ext>
            </a:extLst>
          </p:cNvPr>
          <p:cNvSpPr/>
          <p:nvPr/>
        </p:nvSpPr>
        <p:spPr>
          <a:xfrm>
            <a:off x="1828730" y="347276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C6C14C2-DE5A-42C1-BF8D-BE171681E2AE}"/>
              </a:ext>
            </a:extLst>
          </p:cNvPr>
          <p:cNvSpPr/>
          <p:nvPr/>
        </p:nvSpPr>
        <p:spPr>
          <a:xfrm>
            <a:off x="2126262" y="347686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8CAB21-B19D-45C1-9967-8C284053444E}"/>
              </a:ext>
            </a:extLst>
          </p:cNvPr>
          <p:cNvSpPr/>
          <p:nvPr/>
        </p:nvSpPr>
        <p:spPr>
          <a:xfrm>
            <a:off x="2423794" y="347879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0925F0-15AB-4A15-8F07-38B04AB1ACED}"/>
              </a:ext>
            </a:extLst>
          </p:cNvPr>
          <p:cNvSpPr/>
          <p:nvPr/>
        </p:nvSpPr>
        <p:spPr>
          <a:xfrm>
            <a:off x="2716955" y="347703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BF8DDA-25B0-4041-9BB1-8E953FBE0C3C}"/>
              </a:ext>
            </a:extLst>
          </p:cNvPr>
          <p:cNvSpPr/>
          <p:nvPr/>
        </p:nvSpPr>
        <p:spPr>
          <a:xfrm>
            <a:off x="3014487" y="3481014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61FE46-8833-4583-BFFE-70E54E3E14DD}"/>
              </a:ext>
            </a:extLst>
          </p:cNvPr>
          <p:cNvSpPr/>
          <p:nvPr/>
        </p:nvSpPr>
        <p:spPr>
          <a:xfrm>
            <a:off x="3311064" y="348579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DDBD64-23F0-4674-9E35-5CA17EB9DBC5}"/>
              </a:ext>
            </a:extLst>
          </p:cNvPr>
          <p:cNvSpPr/>
          <p:nvPr/>
        </p:nvSpPr>
        <p:spPr>
          <a:xfrm>
            <a:off x="2426565" y="3474326"/>
            <a:ext cx="225524" cy="2769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E350688-F796-450A-98F4-D05C92A1129A}"/>
              </a:ext>
            </a:extLst>
          </p:cNvPr>
          <p:cNvCxnSpPr>
            <a:cxnSpLocks/>
            <a:stCxn id="17" idx="0"/>
            <a:endCxn id="19" idx="1"/>
          </p:cNvCxnSpPr>
          <p:nvPr/>
        </p:nvCxnSpPr>
        <p:spPr>
          <a:xfrm flipV="1">
            <a:off x="2539327" y="2632364"/>
            <a:ext cx="1097452" cy="84196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761773C-7C13-4C46-B480-4EB2DB36B44E}"/>
              </a:ext>
            </a:extLst>
          </p:cNvPr>
          <p:cNvSpPr/>
          <p:nvPr/>
        </p:nvSpPr>
        <p:spPr>
          <a:xfrm>
            <a:off x="3636779" y="2488348"/>
            <a:ext cx="701440" cy="2880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A3D679-AE57-48BD-8FAB-5B4C8742A055}"/>
              </a:ext>
            </a:extLst>
          </p:cNvPr>
          <p:cNvSpPr/>
          <p:nvPr/>
        </p:nvSpPr>
        <p:spPr>
          <a:xfrm>
            <a:off x="4338218" y="3100677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E04688B-E0E5-406C-8AA5-F3DEC4E64F78}"/>
              </a:ext>
            </a:extLst>
          </p:cNvPr>
          <p:cNvCxnSpPr>
            <a:cxnSpLocks/>
            <a:stCxn id="19" idx="3"/>
            <a:endCxn id="20" idx="0"/>
          </p:cNvCxnSpPr>
          <p:nvPr/>
        </p:nvCxnSpPr>
        <p:spPr>
          <a:xfrm>
            <a:off x="4338219" y="2632364"/>
            <a:ext cx="739039" cy="4683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6655B773-E979-4713-8238-1FF775347886}"/>
              </a:ext>
            </a:extLst>
          </p:cNvPr>
          <p:cNvSpPr txBox="1"/>
          <p:nvPr/>
        </p:nvSpPr>
        <p:spPr>
          <a:xfrm>
            <a:off x="4677399" y="2398763"/>
            <a:ext cx="1313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</a:t>
            </a:r>
            <a:r>
              <a:rPr lang="zh-CN" altLang="en-US" sz="1200" dirty="0"/>
              <a:t>）</a:t>
            </a:r>
            <a:r>
              <a:rPr lang="en-US" altLang="zh-CN" sz="1200" dirty="0"/>
              <a:t> Consumer</a:t>
            </a:r>
            <a:r>
              <a:rPr lang="zh-CN" altLang="en-US" sz="1200" dirty="0"/>
              <a:t>每</a:t>
            </a:r>
            <a:r>
              <a:rPr lang="en-US" altLang="zh-CN" sz="1200" dirty="0"/>
              <a:t>5s</a:t>
            </a:r>
            <a:r>
              <a:rPr lang="zh-CN" altLang="en-US" sz="1200" dirty="0"/>
              <a:t>提交</a:t>
            </a:r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7783CD-3771-4BE9-B359-A7BF30713AC9}"/>
              </a:ext>
            </a:extLst>
          </p:cNvPr>
          <p:cNvSpPr txBox="1"/>
          <p:nvPr/>
        </p:nvSpPr>
        <p:spPr>
          <a:xfrm>
            <a:off x="6658017" y="2576610"/>
            <a:ext cx="150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/>
              <a:t>1</a:t>
            </a:r>
            <a:r>
              <a:rPr lang="zh-CN" altLang="en-US" sz="1200" dirty="0"/>
              <a:t>）不断的拉取数据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D6438-BFAA-4D03-A6F7-72BA15448E2C}"/>
              </a:ext>
            </a:extLst>
          </p:cNvPr>
          <p:cNvSpPr/>
          <p:nvPr/>
        </p:nvSpPr>
        <p:spPr>
          <a:xfrm>
            <a:off x="6732240" y="2927180"/>
            <a:ext cx="2016224" cy="9066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FDBFD1-C4C0-4FD7-909F-6F7D414C9236}"/>
              </a:ext>
            </a:extLst>
          </p:cNvPr>
          <p:cNvSpPr/>
          <p:nvPr/>
        </p:nvSpPr>
        <p:spPr>
          <a:xfrm>
            <a:off x="6861574" y="3310513"/>
            <a:ext cx="1757563" cy="3194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BA190-98E3-46EC-9683-509C573E7AD3}"/>
              </a:ext>
            </a:extLst>
          </p:cNvPr>
          <p:cNvSpPr txBox="1"/>
          <p:nvPr/>
        </p:nvSpPr>
        <p:spPr>
          <a:xfrm>
            <a:off x="6861572" y="2927179"/>
            <a:ext cx="1664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group</a:t>
            </a:r>
            <a:endParaRPr lang="zh-CN" altLang="en-US" sz="12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9FC1E18-B7F1-4AA9-94EF-B3E8BF019577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 flipV="1">
            <a:off x="3636780" y="3470217"/>
            <a:ext cx="3224794" cy="2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A765CA64-AAD8-41E4-BAEB-33EC58DE73B4}"/>
              </a:ext>
            </a:extLst>
          </p:cNvPr>
          <p:cNvSpPr/>
          <p:nvPr/>
        </p:nvSpPr>
        <p:spPr>
          <a:xfrm>
            <a:off x="5118438" y="312133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箭头: 上 28">
            <a:extLst>
              <a:ext uri="{FF2B5EF4-FFF2-40B4-BE49-F238E27FC236}">
                <a16:creationId xmlns:a16="http://schemas.microsoft.com/office/drawing/2014/main" id="{0137F542-5BAE-4DD3-B53C-EAEADC79BD9D}"/>
              </a:ext>
            </a:extLst>
          </p:cNvPr>
          <p:cNvSpPr/>
          <p:nvPr/>
        </p:nvSpPr>
        <p:spPr>
          <a:xfrm>
            <a:off x="3070599" y="3870339"/>
            <a:ext cx="113299" cy="18702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30C145C-0B8D-4F89-9046-6C63AC483758}"/>
              </a:ext>
            </a:extLst>
          </p:cNvPr>
          <p:cNvSpPr txBox="1"/>
          <p:nvPr/>
        </p:nvSpPr>
        <p:spPr>
          <a:xfrm>
            <a:off x="280659" y="448218"/>
            <a:ext cx="6302910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为了使我们能够专注于自己的业务逻辑，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提供了自动提交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的功能。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箭头: 上 30">
            <a:extLst>
              <a:ext uri="{FF2B5EF4-FFF2-40B4-BE49-F238E27FC236}">
                <a16:creationId xmlns:a16="http://schemas.microsoft.com/office/drawing/2014/main" id="{3744449B-7A10-452B-8D64-7B3B545EF14F}"/>
              </a:ext>
            </a:extLst>
          </p:cNvPr>
          <p:cNvSpPr/>
          <p:nvPr/>
        </p:nvSpPr>
        <p:spPr>
          <a:xfrm>
            <a:off x="2479906" y="3853319"/>
            <a:ext cx="113299" cy="18702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A092D99-CB76-4F1C-B575-7E99891E5448}"/>
              </a:ext>
            </a:extLst>
          </p:cNvPr>
          <p:cNvSpPr txBox="1"/>
          <p:nvPr/>
        </p:nvSpPr>
        <p:spPr>
          <a:xfrm>
            <a:off x="2351786" y="4094951"/>
            <a:ext cx="4777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5s</a:t>
            </a:r>
            <a:endParaRPr lang="zh-CN" altLang="en-US" sz="12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C8A221C-2500-48B9-B611-B3F7F05B48F6}"/>
              </a:ext>
            </a:extLst>
          </p:cNvPr>
          <p:cNvSpPr txBox="1"/>
          <p:nvPr/>
        </p:nvSpPr>
        <p:spPr>
          <a:xfrm>
            <a:off x="274656" y="787084"/>
            <a:ext cx="2654509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自动提交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的相关参数：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7DEE78E-F1F7-424D-9734-730F32F26B8A}"/>
              </a:ext>
            </a:extLst>
          </p:cNvPr>
          <p:cNvSpPr txBox="1"/>
          <p:nvPr/>
        </p:nvSpPr>
        <p:spPr>
          <a:xfrm>
            <a:off x="280659" y="1153850"/>
            <a:ext cx="5709758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en-US" altLang="zh-CN" sz="1400" b="1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enable.auto.commit</a:t>
            </a: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是否开启自动提交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功能，默认是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true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en-US" altLang="zh-CN" sz="1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auto.commit.interval.ms</a:t>
            </a: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自动提交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的时间间隔，默认是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5s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37284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 animBg="1"/>
      <p:bldP spid="9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6" grpId="0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7E97B5-5CCE-4FF4-AE60-56E20747E066}"/>
              </a:ext>
            </a:extLst>
          </p:cNvPr>
          <p:cNvSpPr txBox="1"/>
          <p:nvPr/>
        </p:nvSpPr>
        <p:spPr>
          <a:xfrm>
            <a:off x="467543" y="0"/>
            <a:ext cx="172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手动提交</a:t>
            </a:r>
            <a:r>
              <a:rPr lang="en-US" altLang="zh-CN" dirty="0">
                <a:solidFill>
                  <a:srgbClr val="FF0000"/>
                </a:solidFill>
              </a:rPr>
              <a:t>offset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5E85B9-3AAD-4B58-8DD5-B1F55F6896D0}"/>
              </a:ext>
            </a:extLst>
          </p:cNvPr>
          <p:cNvSpPr/>
          <p:nvPr/>
        </p:nvSpPr>
        <p:spPr>
          <a:xfrm>
            <a:off x="323012" y="4104408"/>
            <a:ext cx="82352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566AC2-126E-467D-BB53-13AC053A4DD8}"/>
              </a:ext>
            </a:extLst>
          </p:cNvPr>
          <p:cNvSpPr/>
          <p:nvPr/>
        </p:nvSpPr>
        <p:spPr>
          <a:xfrm>
            <a:off x="1473441" y="3137054"/>
            <a:ext cx="4680520" cy="1738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02FCC9-3A5C-4BCC-B12B-7EB82FF7C06E}"/>
              </a:ext>
            </a:extLst>
          </p:cNvPr>
          <p:cNvSpPr/>
          <p:nvPr/>
        </p:nvSpPr>
        <p:spPr>
          <a:xfrm>
            <a:off x="1607956" y="3586432"/>
            <a:ext cx="4329982" cy="1241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4DE842-DCCA-4949-9FE2-3B8225783C46}"/>
              </a:ext>
            </a:extLst>
          </p:cNvPr>
          <p:cNvSpPr txBox="1"/>
          <p:nvPr/>
        </p:nvSpPr>
        <p:spPr>
          <a:xfrm>
            <a:off x="1533430" y="3164830"/>
            <a:ext cx="12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236520-ACB4-4A1B-ABBA-ACF16D1D710B}"/>
              </a:ext>
            </a:extLst>
          </p:cNvPr>
          <p:cNvSpPr txBox="1"/>
          <p:nvPr/>
        </p:nvSpPr>
        <p:spPr>
          <a:xfrm>
            <a:off x="1607957" y="3580895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57DF2B-354A-4FB4-BF7A-4E79A690EB35}"/>
              </a:ext>
            </a:extLst>
          </p:cNvPr>
          <p:cNvSpPr/>
          <p:nvPr/>
        </p:nvSpPr>
        <p:spPr>
          <a:xfrm>
            <a:off x="1679964" y="3881516"/>
            <a:ext cx="1956816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2968A3-E94D-44A0-AB9B-B1D6D8EEF363}"/>
              </a:ext>
            </a:extLst>
          </p:cNvPr>
          <p:cNvSpPr txBox="1"/>
          <p:nvPr/>
        </p:nvSpPr>
        <p:spPr>
          <a:xfrm>
            <a:off x="1692560" y="3942673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TopicA-partition0-leader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79C8DE-1BA7-4FA2-9F69-A9066D5CBB66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1146534" y="4248424"/>
            <a:ext cx="533430" cy="14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5753FEA-3B1C-4BFE-B8A7-B503F0B29704}"/>
              </a:ext>
            </a:extLst>
          </p:cNvPr>
          <p:cNvSpPr/>
          <p:nvPr/>
        </p:nvSpPr>
        <p:spPr>
          <a:xfrm>
            <a:off x="1828730" y="424984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D2190E-5737-4979-9DD6-04E93F10EC71}"/>
              </a:ext>
            </a:extLst>
          </p:cNvPr>
          <p:cNvSpPr/>
          <p:nvPr/>
        </p:nvSpPr>
        <p:spPr>
          <a:xfrm>
            <a:off x="2126262" y="425394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59F485-6756-4E38-B805-9537A994B20F}"/>
              </a:ext>
            </a:extLst>
          </p:cNvPr>
          <p:cNvSpPr/>
          <p:nvPr/>
        </p:nvSpPr>
        <p:spPr>
          <a:xfrm>
            <a:off x="2423794" y="425586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F496C8-F255-4E39-B04C-61CA451EA6E2}"/>
              </a:ext>
            </a:extLst>
          </p:cNvPr>
          <p:cNvSpPr/>
          <p:nvPr/>
        </p:nvSpPr>
        <p:spPr>
          <a:xfrm>
            <a:off x="2716955" y="425410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B6F677-33FE-42C7-A78F-7C65189DDF88}"/>
              </a:ext>
            </a:extLst>
          </p:cNvPr>
          <p:cNvSpPr/>
          <p:nvPr/>
        </p:nvSpPr>
        <p:spPr>
          <a:xfrm>
            <a:off x="3014487" y="425808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5E29F8-2CED-4EDB-9ADA-1E2E84A48108}"/>
              </a:ext>
            </a:extLst>
          </p:cNvPr>
          <p:cNvSpPr/>
          <p:nvPr/>
        </p:nvSpPr>
        <p:spPr>
          <a:xfrm>
            <a:off x="3311064" y="4262865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87F8F8-876C-4E1F-AD44-D660FC8918E4}"/>
              </a:ext>
            </a:extLst>
          </p:cNvPr>
          <p:cNvSpPr/>
          <p:nvPr/>
        </p:nvSpPr>
        <p:spPr>
          <a:xfrm>
            <a:off x="2426565" y="4251400"/>
            <a:ext cx="225524" cy="2769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DADBA7-4903-41D5-9281-172C961136F2}"/>
              </a:ext>
            </a:extLst>
          </p:cNvPr>
          <p:cNvCxnSpPr>
            <a:cxnSpLocks/>
            <a:stCxn id="17" idx="0"/>
            <a:endCxn id="19" idx="1"/>
          </p:cNvCxnSpPr>
          <p:nvPr/>
        </p:nvCxnSpPr>
        <p:spPr>
          <a:xfrm flipV="1">
            <a:off x="2539327" y="3409438"/>
            <a:ext cx="1097452" cy="84196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EF544E9-9B9F-4B39-BA48-8601947195EB}"/>
              </a:ext>
            </a:extLst>
          </p:cNvPr>
          <p:cNvSpPr/>
          <p:nvPr/>
        </p:nvSpPr>
        <p:spPr>
          <a:xfrm>
            <a:off x="3636779" y="3265422"/>
            <a:ext cx="701440" cy="2880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F0BF21-CBFA-4ACB-92D4-5FD38E9E51FA}"/>
              </a:ext>
            </a:extLst>
          </p:cNvPr>
          <p:cNvSpPr/>
          <p:nvPr/>
        </p:nvSpPr>
        <p:spPr>
          <a:xfrm>
            <a:off x="4338218" y="3877751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A161E2A-4959-431F-940C-5F9ED4CB3E5D}"/>
              </a:ext>
            </a:extLst>
          </p:cNvPr>
          <p:cNvCxnSpPr>
            <a:cxnSpLocks/>
            <a:stCxn id="19" idx="3"/>
            <a:endCxn id="20" idx="0"/>
          </p:cNvCxnSpPr>
          <p:nvPr/>
        </p:nvCxnSpPr>
        <p:spPr>
          <a:xfrm>
            <a:off x="4338219" y="3409438"/>
            <a:ext cx="739039" cy="4683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CC4A3BA-E04E-4FA3-838D-ACAA076D3260}"/>
              </a:ext>
            </a:extLst>
          </p:cNvPr>
          <p:cNvSpPr txBox="1"/>
          <p:nvPr/>
        </p:nvSpPr>
        <p:spPr>
          <a:xfrm>
            <a:off x="4677399" y="3175837"/>
            <a:ext cx="1313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</a:t>
            </a:r>
            <a:r>
              <a:rPr lang="zh-CN" altLang="en-US" sz="1200" dirty="0"/>
              <a:t>）</a:t>
            </a:r>
            <a:r>
              <a:rPr lang="en-US" altLang="zh-CN" sz="1200" dirty="0"/>
              <a:t> Consumer</a:t>
            </a:r>
            <a:r>
              <a:rPr lang="zh-CN" altLang="en-US" sz="1200" dirty="0"/>
              <a:t>手动提交</a:t>
            </a:r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D793EF-FE57-4900-AC4F-774CEA79F442}"/>
              </a:ext>
            </a:extLst>
          </p:cNvPr>
          <p:cNvSpPr txBox="1"/>
          <p:nvPr/>
        </p:nvSpPr>
        <p:spPr>
          <a:xfrm>
            <a:off x="6658017" y="3353684"/>
            <a:ext cx="150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/>
              <a:t>1</a:t>
            </a:r>
            <a:r>
              <a:rPr lang="zh-CN" altLang="en-US" sz="1200" dirty="0"/>
              <a:t>）不断的拉取数据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CEB45B8-94F0-4567-8DFB-90420E3041EC}"/>
              </a:ext>
            </a:extLst>
          </p:cNvPr>
          <p:cNvSpPr/>
          <p:nvPr/>
        </p:nvSpPr>
        <p:spPr>
          <a:xfrm>
            <a:off x="6732240" y="3704254"/>
            <a:ext cx="2016224" cy="9066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4B703D2-EBD5-47FB-82A4-720A72781959}"/>
              </a:ext>
            </a:extLst>
          </p:cNvPr>
          <p:cNvSpPr/>
          <p:nvPr/>
        </p:nvSpPr>
        <p:spPr>
          <a:xfrm>
            <a:off x="6861574" y="4087587"/>
            <a:ext cx="1757563" cy="3194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BE0955-3AC6-43D3-95D6-7CB8D7155C08}"/>
              </a:ext>
            </a:extLst>
          </p:cNvPr>
          <p:cNvSpPr txBox="1"/>
          <p:nvPr/>
        </p:nvSpPr>
        <p:spPr>
          <a:xfrm>
            <a:off x="6861572" y="3704253"/>
            <a:ext cx="1664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group</a:t>
            </a:r>
            <a:endParaRPr lang="zh-CN" altLang="en-US" sz="12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C6B1CE8-13D4-43E4-836D-27F434D4D019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 flipV="1">
            <a:off x="3636780" y="4247291"/>
            <a:ext cx="3224794" cy="2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DACA948C-DEB1-4D48-905B-29A500C30A0A}"/>
              </a:ext>
            </a:extLst>
          </p:cNvPr>
          <p:cNvSpPr/>
          <p:nvPr/>
        </p:nvSpPr>
        <p:spPr>
          <a:xfrm>
            <a:off x="5118438" y="3898410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箭头: 上 28">
            <a:extLst>
              <a:ext uri="{FF2B5EF4-FFF2-40B4-BE49-F238E27FC236}">
                <a16:creationId xmlns:a16="http://schemas.microsoft.com/office/drawing/2014/main" id="{5B84650C-E28E-4699-8FA2-1BE69C210C90}"/>
              </a:ext>
            </a:extLst>
          </p:cNvPr>
          <p:cNvSpPr/>
          <p:nvPr/>
        </p:nvSpPr>
        <p:spPr>
          <a:xfrm>
            <a:off x="2587917" y="4627972"/>
            <a:ext cx="113299" cy="18702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F8A238E-3BA0-433D-A9B8-677BBAC5DC57}"/>
              </a:ext>
            </a:extLst>
          </p:cNvPr>
          <p:cNvSpPr txBox="1"/>
          <p:nvPr/>
        </p:nvSpPr>
        <p:spPr>
          <a:xfrm>
            <a:off x="280658" y="408906"/>
            <a:ext cx="8683829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虽然自动提交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十分简单便利，但由于其是基于时间提交的，开发人员难以把握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提交的时机。因此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还提供了手动提交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API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箭头: 上 30">
            <a:extLst>
              <a:ext uri="{FF2B5EF4-FFF2-40B4-BE49-F238E27FC236}">
                <a16:creationId xmlns:a16="http://schemas.microsoft.com/office/drawing/2014/main" id="{82185FF8-0546-4FA9-B0C7-9C5FE773086B}"/>
              </a:ext>
            </a:extLst>
          </p:cNvPr>
          <p:cNvSpPr/>
          <p:nvPr/>
        </p:nvSpPr>
        <p:spPr>
          <a:xfrm>
            <a:off x="2479906" y="4630393"/>
            <a:ext cx="113299" cy="18702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E934CE2-1B7C-4432-AC06-82AC40441D95}"/>
              </a:ext>
            </a:extLst>
          </p:cNvPr>
          <p:cNvSpPr txBox="1"/>
          <p:nvPr/>
        </p:nvSpPr>
        <p:spPr>
          <a:xfrm>
            <a:off x="280659" y="1083628"/>
            <a:ext cx="8683828" cy="134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手动提交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的方法有两种：分别是</a:t>
            </a:r>
            <a:r>
              <a:rPr lang="en-US" altLang="zh-CN" sz="1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commitSync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（同步提交）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commitAsync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（异步提交）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。两者的相同点是，都会将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本次提交的一批数据最高的偏移量提交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；不同点是，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同步提交阻塞当前线程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，一直到提交成功，并且会自动失败重试（由不可控因素导致，也会出现提交失败）；而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异步提交则没有失败重试机制，故有可能提交失败。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CAB7B16-7653-4D54-881F-C82510FC34A8}"/>
              </a:ext>
            </a:extLst>
          </p:cNvPr>
          <p:cNvSpPr txBox="1"/>
          <p:nvPr/>
        </p:nvSpPr>
        <p:spPr>
          <a:xfrm>
            <a:off x="722658" y="2359347"/>
            <a:ext cx="6297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commitSync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（同步提交）：必须等待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提交完毕，再去消费下一批数据。</a:t>
            </a:r>
            <a:endParaRPr lang="zh-CN" altLang="en-US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C7DC724-35EE-4E65-9BAF-A0DA1525076B}"/>
              </a:ext>
            </a:extLst>
          </p:cNvPr>
          <p:cNvSpPr txBox="1"/>
          <p:nvPr/>
        </p:nvSpPr>
        <p:spPr>
          <a:xfrm>
            <a:off x="722658" y="2643012"/>
            <a:ext cx="68016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commitAsync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（异步提交） ：发送完提交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请求后，就开始消费下一批数据了。</a:t>
            </a:r>
            <a:endParaRPr lang="zh-CN" alt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00233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 animBg="1"/>
      <p:bldP spid="9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6" grpId="0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40EBB6B-4017-4F4E-8AE5-3B80E062D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230158"/>
            <a:ext cx="5333365" cy="268318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8017678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1B757D-66E2-4E29-AD81-18DE7E90FECA}"/>
              </a:ext>
            </a:extLst>
          </p:cNvPr>
          <p:cNvSpPr txBox="1"/>
          <p:nvPr/>
        </p:nvSpPr>
        <p:spPr>
          <a:xfrm>
            <a:off x="467543" y="0"/>
            <a:ext cx="208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重复消费与漏消费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C5937E-223E-4EBF-B67B-4CB9FBB82A95}"/>
              </a:ext>
            </a:extLst>
          </p:cNvPr>
          <p:cNvSpPr/>
          <p:nvPr/>
        </p:nvSpPr>
        <p:spPr>
          <a:xfrm>
            <a:off x="37195" y="1796009"/>
            <a:ext cx="82352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F680FA-6127-47AE-8047-6D9E7CCE2969}"/>
              </a:ext>
            </a:extLst>
          </p:cNvPr>
          <p:cNvSpPr/>
          <p:nvPr/>
        </p:nvSpPr>
        <p:spPr>
          <a:xfrm>
            <a:off x="1187624" y="828655"/>
            <a:ext cx="4680520" cy="1738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0C5A1C-E6AA-4794-A480-2EC6EFA75690}"/>
              </a:ext>
            </a:extLst>
          </p:cNvPr>
          <p:cNvSpPr/>
          <p:nvPr/>
        </p:nvSpPr>
        <p:spPr>
          <a:xfrm>
            <a:off x="1322139" y="1278033"/>
            <a:ext cx="4329982" cy="1241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17DBD4-13B1-4B2B-8B82-8128D81852F6}"/>
              </a:ext>
            </a:extLst>
          </p:cNvPr>
          <p:cNvSpPr txBox="1"/>
          <p:nvPr/>
        </p:nvSpPr>
        <p:spPr>
          <a:xfrm>
            <a:off x="1247613" y="856431"/>
            <a:ext cx="12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0BED3F-017E-4474-8289-B543BC588223}"/>
              </a:ext>
            </a:extLst>
          </p:cNvPr>
          <p:cNvSpPr txBox="1"/>
          <p:nvPr/>
        </p:nvSpPr>
        <p:spPr>
          <a:xfrm>
            <a:off x="1322140" y="1272496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78B3DB-FED3-4BAB-B0C4-CAD9467B920E}"/>
              </a:ext>
            </a:extLst>
          </p:cNvPr>
          <p:cNvSpPr/>
          <p:nvPr/>
        </p:nvSpPr>
        <p:spPr>
          <a:xfrm>
            <a:off x="1394147" y="1573117"/>
            <a:ext cx="1956816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9EB05A-CEDF-43C3-A940-A141864C2F76}"/>
              </a:ext>
            </a:extLst>
          </p:cNvPr>
          <p:cNvSpPr txBox="1"/>
          <p:nvPr/>
        </p:nvSpPr>
        <p:spPr>
          <a:xfrm>
            <a:off x="1406743" y="1634274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TopicA-partition0-leader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D374597-6995-4D11-B5D8-3F37A870E41B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860717" y="1940025"/>
            <a:ext cx="533430" cy="14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8A70539-A565-4963-AC05-3CCD3A4FAB2E}"/>
              </a:ext>
            </a:extLst>
          </p:cNvPr>
          <p:cNvSpPr/>
          <p:nvPr/>
        </p:nvSpPr>
        <p:spPr>
          <a:xfrm>
            <a:off x="1542913" y="194144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D2A1AE-2A7E-4A16-9BA4-AF065FD8B0D0}"/>
              </a:ext>
            </a:extLst>
          </p:cNvPr>
          <p:cNvSpPr/>
          <p:nvPr/>
        </p:nvSpPr>
        <p:spPr>
          <a:xfrm>
            <a:off x="1840445" y="1945542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45F757-A318-4265-AB9B-2E46DADB5210}"/>
              </a:ext>
            </a:extLst>
          </p:cNvPr>
          <p:cNvSpPr/>
          <p:nvPr/>
        </p:nvSpPr>
        <p:spPr>
          <a:xfrm>
            <a:off x="2137977" y="194746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815197-6B6D-4BA3-B2B0-07898DB5332D}"/>
              </a:ext>
            </a:extLst>
          </p:cNvPr>
          <p:cNvSpPr/>
          <p:nvPr/>
        </p:nvSpPr>
        <p:spPr>
          <a:xfrm>
            <a:off x="2431138" y="194570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F39041-28AF-459C-946A-D0746A109514}"/>
              </a:ext>
            </a:extLst>
          </p:cNvPr>
          <p:cNvSpPr/>
          <p:nvPr/>
        </p:nvSpPr>
        <p:spPr>
          <a:xfrm>
            <a:off x="2728670" y="1949689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2047EA-EC68-42A4-BE3D-F6BDEA45611F}"/>
              </a:ext>
            </a:extLst>
          </p:cNvPr>
          <p:cNvSpPr/>
          <p:nvPr/>
        </p:nvSpPr>
        <p:spPr>
          <a:xfrm>
            <a:off x="3025247" y="1954466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9E680B-4A75-4E72-AD80-47404ACBED63}"/>
              </a:ext>
            </a:extLst>
          </p:cNvPr>
          <p:cNvSpPr/>
          <p:nvPr/>
        </p:nvSpPr>
        <p:spPr>
          <a:xfrm>
            <a:off x="2140748" y="1943001"/>
            <a:ext cx="225524" cy="2769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2838456-F7CB-4F1C-82F0-0B5E712AF16F}"/>
              </a:ext>
            </a:extLst>
          </p:cNvPr>
          <p:cNvCxnSpPr>
            <a:cxnSpLocks/>
            <a:stCxn id="17" idx="0"/>
            <a:endCxn id="19" idx="1"/>
          </p:cNvCxnSpPr>
          <p:nvPr/>
        </p:nvCxnSpPr>
        <p:spPr>
          <a:xfrm flipV="1">
            <a:off x="2253510" y="1101039"/>
            <a:ext cx="1097452" cy="84196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AD6BBA6-E5D6-4D22-AA32-39AA01EAF22E}"/>
              </a:ext>
            </a:extLst>
          </p:cNvPr>
          <p:cNvSpPr/>
          <p:nvPr/>
        </p:nvSpPr>
        <p:spPr>
          <a:xfrm>
            <a:off x="3350962" y="957023"/>
            <a:ext cx="701440" cy="2880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D815C8-E8F4-4027-B937-541A2A15946D}"/>
              </a:ext>
            </a:extLst>
          </p:cNvPr>
          <p:cNvSpPr/>
          <p:nvPr/>
        </p:nvSpPr>
        <p:spPr>
          <a:xfrm>
            <a:off x="4052401" y="1569352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2212957-9236-477B-BC85-C4BAB892ADFC}"/>
              </a:ext>
            </a:extLst>
          </p:cNvPr>
          <p:cNvCxnSpPr>
            <a:cxnSpLocks/>
            <a:stCxn id="19" idx="3"/>
            <a:endCxn id="20" idx="0"/>
          </p:cNvCxnSpPr>
          <p:nvPr/>
        </p:nvCxnSpPr>
        <p:spPr>
          <a:xfrm>
            <a:off x="4052402" y="1101039"/>
            <a:ext cx="739039" cy="4683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DA4A2AD-7E9B-407F-B5BC-7D8B82B0EC44}"/>
              </a:ext>
            </a:extLst>
          </p:cNvPr>
          <p:cNvSpPr txBox="1"/>
          <p:nvPr/>
        </p:nvSpPr>
        <p:spPr>
          <a:xfrm>
            <a:off x="4391582" y="867438"/>
            <a:ext cx="1313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）</a:t>
            </a:r>
            <a:r>
              <a:rPr lang="en-US" altLang="zh-CN" sz="1200" dirty="0"/>
              <a:t> Consumer</a:t>
            </a:r>
            <a:r>
              <a:rPr lang="zh-CN" altLang="en-US" sz="1200" dirty="0"/>
              <a:t>每</a:t>
            </a:r>
            <a:r>
              <a:rPr lang="en-US" altLang="zh-CN" sz="1200" dirty="0"/>
              <a:t>5s</a:t>
            </a:r>
            <a:r>
              <a:rPr lang="zh-CN" altLang="en-US" sz="1200" dirty="0"/>
              <a:t>提交</a:t>
            </a:r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34B944-D755-4881-A11B-44FCC80BD1D9}"/>
              </a:ext>
            </a:extLst>
          </p:cNvPr>
          <p:cNvSpPr txBox="1"/>
          <p:nvPr/>
        </p:nvSpPr>
        <p:spPr>
          <a:xfrm>
            <a:off x="5986340" y="699542"/>
            <a:ext cx="3079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/>
              <a:t>2</a:t>
            </a:r>
            <a:r>
              <a:rPr lang="zh-CN" altLang="en-US" sz="1200" dirty="0"/>
              <a:t>）如果提交</a:t>
            </a:r>
            <a:r>
              <a:rPr lang="en-US" altLang="zh-CN" sz="1200" dirty="0"/>
              <a:t>offset</a:t>
            </a:r>
            <a:r>
              <a:rPr lang="zh-CN" altLang="en-US" sz="1200" dirty="0"/>
              <a:t>后的</a:t>
            </a:r>
            <a:r>
              <a:rPr lang="en-US" altLang="zh-CN" sz="1200" dirty="0"/>
              <a:t>2s</a:t>
            </a:r>
            <a:r>
              <a:rPr lang="zh-CN" altLang="en-US" sz="1200" dirty="0"/>
              <a:t>，</a:t>
            </a:r>
            <a:r>
              <a:rPr lang="en-US" altLang="zh-CN" sz="1200" dirty="0"/>
              <a:t>consumer</a:t>
            </a:r>
            <a:r>
              <a:rPr lang="zh-CN" altLang="en-US" sz="1200" dirty="0"/>
              <a:t>挂了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136565-A6DC-4358-A0C0-5B5EE0B45233}"/>
              </a:ext>
            </a:extLst>
          </p:cNvPr>
          <p:cNvSpPr/>
          <p:nvPr/>
        </p:nvSpPr>
        <p:spPr>
          <a:xfrm>
            <a:off x="6948264" y="1395855"/>
            <a:ext cx="2016224" cy="9066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7C46B7-9465-4581-B2C8-6DEE5E9A4329}"/>
              </a:ext>
            </a:extLst>
          </p:cNvPr>
          <p:cNvSpPr/>
          <p:nvPr/>
        </p:nvSpPr>
        <p:spPr>
          <a:xfrm>
            <a:off x="7077598" y="1779188"/>
            <a:ext cx="1757563" cy="3194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9E1B3FE-3DF2-423A-909E-436E0ECF9CD2}"/>
              </a:ext>
            </a:extLst>
          </p:cNvPr>
          <p:cNvSpPr txBox="1"/>
          <p:nvPr/>
        </p:nvSpPr>
        <p:spPr>
          <a:xfrm>
            <a:off x="7077596" y="1395854"/>
            <a:ext cx="1664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group</a:t>
            </a:r>
            <a:endParaRPr lang="zh-CN" altLang="en-US" sz="12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80BB049-ABB8-4CA1-9526-892475477CD3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 flipV="1">
            <a:off x="3350963" y="1938892"/>
            <a:ext cx="3726635" cy="2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B50107EB-71DE-4FDD-BF1C-2D13A148B5FC}"/>
              </a:ext>
            </a:extLst>
          </p:cNvPr>
          <p:cNvSpPr/>
          <p:nvPr/>
        </p:nvSpPr>
        <p:spPr>
          <a:xfrm>
            <a:off x="4832621" y="1590011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940B1AD-866E-4131-A074-9E23B4B08C3E}"/>
              </a:ext>
            </a:extLst>
          </p:cNvPr>
          <p:cNvSpPr txBox="1"/>
          <p:nvPr/>
        </p:nvSpPr>
        <p:spPr>
          <a:xfrm>
            <a:off x="5986752" y="934190"/>
            <a:ext cx="307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/>
              <a:t>3</a:t>
            </a:r>
            <a:r>
              <a:rPr lang="zh-CN" altLang="en-US" sz="1200" dirty="0"/>
              <a:t>）再次重启</a:t>
            </a:r>
            <a:r>
              <a:rPr lang="en-US" altLang="zh-CN" sz="1200" dirty="0"/>
              <a:t>consumer</a:t>
            </a:r>
            <a:r>
              <a:rPr lang="zh-CN" altLang="en-US" sz="1200" dirty="0"/>
              <a:t>，则从上一次提交的</a:t>
            </a:r>
            <a:r>
              <a:rPr lang="en-US" altLang="zh-CN" sz="1200" dirty="0"/>
              <a:t>offset</a:t>
            </a:r>
            <a:r>
              <a:rPr lang="zh-CN" altLang="en-US" sz="1200" dirty="0"/>
              <a:t>处继续消费，导致重复消费</a:t>
            </a:r>
          </a:p>
        </p:txBody>
      </p:sp>
      <p:sp>
        <p:nvSpPr>
          <p:cNvPr id="30" name="乘号 29">
            <a:extLst>
              <a:ext uri="{FF2B5EF4-FFF2-40B4-BE49-F238E27FC236}">
                <a16:creationId xmlns:a16="http://schemas.microsoft.com/office/drawing/2014/main" id="{3FEC16A9-B8CE-4F1B-91B2-3038219AD91A}"/>
              </a:ext>
            </a:extLst>
          </p:cNvPr>
          <p:cNvSpPr/>
          <p:nvPr/>
        </p:nvSpPr>
        <p:spPr>
          <a:xfrm>
            <a:off x="8334890" y="1779188"/>
            <a:ext cx="406965" cy="38333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上 30">
            <a:extLst>
              <a:ext uri="{FF2B5EF4-FFF2-40B4-BE49-F238E27FC236}">
                <a16:creationId xmlns:a16="http://schemas.microsoft.com/office/drawing/2014/main" id="{3A9FEE6D-EE3C-4C2A-9656-F8CA77453B58}"/>
              </a:ext>
            </a:extLst>
          </p:cNvPr>
          <p:cNvSpPr/>
          <p:nvPr/>
        </p:nvSpPr>
        <p:spPr>
          <a:xfrm>
            <a:off x="2784782" y="2339014"/>
            <a:ext cx="113299" cy="18702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64226E4-8DCA-4D89-A0A5-4C3341324F16}"/>
              </a:ext>
            </a:extLst>
          </p:cNvPr>
          <p:cNvSpPr txBox="1"/>
          <p:nvPr/>
        </p:nvSpPr>
        <p:spPr>
          <a:xfrm>
            <a:off x="285314" y="402127"/>
            <a:ext cx="4430702" cy="37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）场景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重复消费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自动提交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引起。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箭头: 上 32">
            <a:extLst>
              <a:ext uri="{FF2B5EF4-FFF2-40B4-BE49-F238E27FC236}">
                <a16:creationId xmlns:a16="http://schemas.microsoft.com/office/drawing/2014/main" id="{CCD22264-F251-4CF0-B98B-6B1E6501CC09}"/>
              </a:ext>
            </a:extLst>
          </p:cNvPr>
          <p:cNvSpPr/>
          <p:nvPr/>
        </p:nvSpPr>
        <p:spPr>
          <a:xfrm>
            <a:off x="2194089" y="2321994"/>
            <a:ext cx="113299" cy="18702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DDDD30D-D39F-4D55-8FD8-1D647CDACA79}"/>
              </a:ext>
            </a:extLst>
          </p:cNvPr>
          <p:cNvSpPr txBox="1"/>
          <p:nvPr/>
        </p:nvSpPr>
        <p:spPr>
          <a:xfrm>
            <a:off x="282008" y="2598960"/>
            <a:ext cx="8682480" cy="69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）场景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漏消费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手动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提交，当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被提交时，数据还在内存中未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落盘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，此时刚好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线程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被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kill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掉，那么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已经提交，但是数据未处理，导致这部分内存中的数据丢失。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3802676-CC99-4450-95F2-21C80C3EAE2D}"/>
              </a:ext>
            </a:extLst>
          </p:cNvPr>
          <p:cNvSpPr/>
          <p:nvPr/>
        </p:nvSpPr>
        <p:spPr>
          <a:xfrm>
            <a:off x="44099" y="4340990"/>
            <a:ext cx="82352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Producer</a:t>
            </a:r>
            <a:endParaRPr lang="zh-CN" altLang="en-US" sz="12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5EB7A73-59B6-4CAD-8AC4-C51E7646F8D2}"/>
              </a:ext>
            </a:extLst>
          </p:cNvPr>
          <p:cNvSpPr/>
          <p:nvPr/>
        </p:nvSpPr>
        <p:spPr>
          <a:xfrm>
            <a:off x="1194528" y="3373636"/>
            <a:ext cx="4680520" cy="1738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8A6066-6AE9-4119-822C-601669F5D0B4}"/>
              </a:ext>
            </a:extLst>
          </p:cNvPr>
          <p:cNvSpPr/>
          <p:nvPr/>
        </p:nvSpPr>
        <p:spPr>
          <a:xfrm>
            <a:off x="1329043" y="3823014"/>
            <a:ext cx="4329982" cy="1241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02694A6-73D6-4C76-B093-2D9DB0E78D67}"/>
              </a:ext>
            </a:extLst>
          </p:cNvPr>
          <p:cNvSpPr txBox="1"/>
          <p:nvPr/>
        </p:nvSpPr>
        <p:spPr>
          <a:xfrm>
            <a:off x="1254517" y="3401412"/>
            <a:ext cx="1296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871D817-F265-4A72-B308-C44306DA6235}"/>
              </a:ext>
            </a:extLst>
          </p:cNvPr>
          <p:cNvSpPr txBox="1"/>
          <p:nvPr/>
        </p:nvSpPr>
        <p:spPr>
          <a:xfrm>
            <a:off x="1329044" y="3817477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6202E5-1373-4425-AC52-6C1979601754}"/>
              </a:ext>
            </a:extLst>
          </p:cNvPr>
          <p:cNvSpPr/>
          <p:nvPr/>
        </p:nvSpPr>
        <p:spPr>
          <a:xfrm>
            <a:off x="1401051" y="4118098"/>
            <a:ext cx="1956816" cy="7366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B3588B1-8CD6-4BB6-815B-0B90467C6D13}"/>
              </a:ext>
            </a:extLst>
          </p:cNvPr>
          <p:cNvSpPr txBox="1"/>
          <p:nvPr/>
        </p:nvSpPr>
        <p:spPr>
          <a:xfrm>
            <a:off x="1413647" y="4179255"/>
            <a:ext cx="1944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TopicA-partition0-leader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1D31BCF-FB93-491D-9CF7-FD89CCE07DB1}"/>
              </a:ext>
            </a:extLst>
          </p:cNvPr>
          <p:cNvCxnSpPr>
            <a:cxnSpLocks/>
            <a:stCxn id="35" idx="3"/>
            <a:endCxn id="40" idx="1"/>
          </p:cNvCxnSpPr>
          <p:nvPr/>
        </p:nvCxnSpPr>
        <p:spPr>
          <a:xfrm>
            <a:off x="867621" y="4485006"/>
            <a:ext cx="533430" cy="14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17F2702-757F-4D5F-863E-38E6E519C86E}"/>
              </a:ext>
            </a:extLst>
          </p:cNvPr>
          <p:cNvSpPr/>
          <p:nvPr/>
        </p:nvSpPr>
        <p:spPr>
          <a:xfrm>
            <a:off x="1549817" y="44864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E91EB0B-9D54-4D81-A200-A146A0856621}"/>
              </a:ext>
            </a:extLst>
          </p:cNvPr>
          <p:cNvSpPr/>
          <p:nvPr/>
        </p:nvSpPr>
        <p:spPr>
          <a:xfrm>
            <a:off x="1847349" y="4490523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AA26DB2-D231-4EAB-AB06-609A568F4CB6}"/>
              </a:ext>
            </a:extLst>
          </p:cNvPr>
          <p:cNvSpPr/>
          <p:nvPr/>
        </p:nvSpPr>
        <p:spPr>
          <a:xfrm>
            <a:off x="2144881" y="449244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5B3DD7E-0C8D-4FE3-B7E8-C0188EEB1D06}"/>
              </a:ext>
            </a:extLst>
          </p:cNvPr>
          <p:cNvSpPr/>
          <p:nvPr/>
        </p:nvSpPr>
        <p:spPr>
          <a:xfrm>
            <a:off x="2438042" y="449068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F4249DA-6690-4E9B-BE3B-14AEC912D3CA}"/>
              </a:ext>
            </a:extLst>
          </p:cNvPr>
          <p:cNvSpPr/>
          <p:nvPr/>
        </p:nvSpPr>
        <p:spPr>
          <a:xfrm>
            <a:off x="2735574" y="4494670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A70BB6A-18BE-485D-BD42-1AFB7CCA829F}"/>
              </a:ext>
            </a:extLst>
          </p:cNvPr>
          <p:cNvSpPr/>
          <p:nvPr/>
        </p:nvSpPr>
        <p:spPr>
          <a:xfrm>
            <a:off x="3032151" y="449944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9D8690C-CA68-43C4-96C0-38C94C87D419}"/>
              </a:ext>
            </a:extLst>
          </p:cNvPr>
          <p:cNvSpPr/>
          <p:nvPr/>
        </p:nvSpPr>
        <p:spPr>
          <a:xfrm>
            <a:off x="2147652" y="4487982"/>
            <a:ext cx="225524" cy="2769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19EBAC9-9289-4A18-B2EC-668BEB4DF5DC}"/>
              </a:ext>
            </a:extLst>
          </p:cNvPr>
          <p:cNvCxnSpPr>
            <a:cxnSpLocks/>
            <a:stCxn id="49" idx="0"/>
            <a:endCxn id="51" idx="1"/>
          </p:cNvCxnSpPr>
          <p:nvPr/>
        </p:nvCxnSpPr>
        <p:spPr>
          <a:xfrm flipV="1">
            <a:off x="2260414" y="3646020"/>
            <a:ext cx="1097452" cy="84196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8EDF16A3-8DF9-4CE1-916C-F9D3F18298D6}"/>
              </a:ext>
            </a:extLst>
          </p:cNvPr>
          <p:cNvSpPr/>
          <p:nvPr/>
        </p:nvSpPr>
        <p:spPr>
          <a:xfrm>
            <a:off x="3357866" y="3502004"/>
            <a:ext cx="701440" cy="2880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D4460F5-22C0-4649-AF5C-3B85AF6343CA}"/>
              </a:ext>
            </a:extLst>
          </p:cNvPr>
          <p:cNvSpPr/>
          <p:nvPr/>
        </p:nvSpPr>
        <p:spPr>
          <a:xfrm>
            <a:off x="4059305" y="4114333"/>
            <a:ext cx="1478079" cy="7464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zh-CN" sz="1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__</a:t>
            </a:r>
            <a:r>
              <a:rPr lang="en-US" altLang="zh-CN" sz="12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consumer_offsets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4207CD15-41A3-4411-9EE6-F02197CB9194}"/>
              </a:ext>
            </a:extLst>
          </p:cNvPr>
          <p:cNvCxnSpPr>
            <a:cxnSpLocks/>
            <a:stCxn id="51" idx="3"/>
            <a:endCxn id="52" idx="0"/>
          </p:cNvCxnSpPr>
          <p:nvPr/>
        </p:nvCxnSpPr>
        <p:spPr>
          <a:xfrm>
            <a:off x="4059306" y="3646020"/>
            <a:ext cx="739039" cy="4683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3BE734F-57E0-4BDA-B5B1-3F816D4E4323}"/>
              </a:ext>
            </a:extLst>
          </p:cNvPr>
          <p:cNvSpPr txBox="1"/>
          <p:nvPr/>
        </p:nvSpPr>
        <p:spPr>
          <a:xfrm>
            <a:off x="4398486" y="3412419"/>
            <a:ext cx="1495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）</a:t>
            </a:r>
            <a:r>
              <a:rPr lang="en-US" altLang="zh-CN" sz="1200" dirty="0"/>
              <a:t> </a:t>
            </a:r>
            <a:r>
              <a:rPr lang="zh-CN" altLang="en-US" sz="1200" dirty="0"/>
              <a:t>提交</a:t>
            </a:r>
            <a:r>
              <a:rPr lang="en-US" altLang="zh-CN" sz="1200" dirty="0"/>
              <a:t>offset</a:t>
            </a:r>
            <a:endParaRPr lang="zh-CN" altLang="en-US" sz="12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B21B8C6-9081-42D3-836A-4E375EFE61D6}"/>
              </a:ext>
            </a:extLst>
          </p:cNvPr>
          <p:cNvSpPr/>
          <p:nvPr/>
        </p:nvSpPr>
        <p:spPr>
          <a:xfrm>
            <a:off x="6955168" y="3940836"/>
            <a:ext cx="2016224" cy="9066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E6A16AE-B3AF-40DF-8925-FFF441AE5938}"/>
              </a:ext>
            </a:extLst>
          </p:cNvPr>
          <p:cNvSpPr/>
          <p:nvPr/>
        </p:nvSpPr>
        <p:spPr>
          <a:xfrm>
            <a:off x="7084502" y="4324169"/>
            <a:ext cx="1757563" cy="3194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Consumer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D534D81-B271-4600-8C8E-CE4696D87F75}"/>
              </a:ext>
            </a:extLst>
          </p:cNvPr>
          <p:cNvSpPr txBox="1"/>
          <p:nvPr/>
        </p:nvSpPr>
        <p:spPr>
          <a:xfrm>
            <a:off x="7084500" y="3940835"/>
            <a:ext cx="1664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group</a:t>
            </a:r>
            <a:endParaRPr lang="zh-CN" altLang="en-US" sz="12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3E4896FC-9913-4D29-AE13-5E33D99DC565}"/>
              </a:ext>
            </a:extLst>
          </p:cNvPr>
          <p:cNvCxnSpPr>
            <a:cxnSpLocks/>
            <a:stCxn id="40" idx="3"/>
            <a:endCxn id="56" idx="1"/>
          </p:cNvCxnSpPr>
          <p:nvPr/>
        </p:nvCxnSpPr>
        <p:spPr>
          <a:xfrm flipV="1">
            <a:off x="3357867" y="4483873"/>
            <a:ext cx="3726635" cy="25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乘号 58">
            <a:extLst>
              <a:ext uri="{FF2B5EF4-FFF2-40B4-BE49-F238E27FC236}">
                <a16:creationId xmlns:a16="http://schemas.microsoft.com/office/drawing/2014/main" id="{DAF9590B-CD61-4EA9-BFC4-46A226E1B680}"/>
              </a:ext>
            </a:extLst>
          </p:cNvPr>
          <p:cNvSpPr/>
          <p:nvPr/>
        </p:nvSpPr>
        <p:spPr>
          <a:xfrm>
            <a:off x="8383314" y="4307780"/>
            <a:ext cx="406965" cy="38333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箭头: 上 59">
            <a:extLst>
              <a:ext uri="{FF2B5EF4-FFF2-40B4-BE49-F238E27FC236}">
                <a16:creationId xmlns:a16="http://schemas.microsoft.com/office/drawing/2014/main" id="{C14BB849-C6E3-4794-8BB3-7B5E453D9F2A}"/>
              </a:ext>
            </a:extLst>
          </p:cNvPr>
          <p:cNvSpPr/>
          <p:nvPr/>
        </p:nvSpPr>
        <p:spPr>
          <a:xfrm>
            <a:off x="2200993" y="4882347"/>
            <a:ext cx="113299" cy="18702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1516CE7-E7C3-4DD3-B6EA-CA1B0EFEB6CB}"/>
              </a:ext>
            </a:extLst>
          </p:cNvPr>
          <p:cNvSpPr/>
          <p:nvPr/>
        </p:nvSpPr>
        <p:spPr>
          <a:xfrm>
            <a:off x="7169635" y="4352437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DABA1FF-BF75-42A6-80CE-623B567CB844}"/>
              </a:ext>
            </a:extLst>
          </p:cNvPr>
          <p:cNvSpPr txBox="1"/>
          <p:nvPr/>
        </p:nvSpPr>
        <p:spPr>
          <a:xfrm>
            <a:off x="6004464" y="3346215"/>
            <a:ext cx="3032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</a:t>
            </a:r>
            <a:r>
              <a:rPr lang="zh-CN" altLang="en-US" sz="1200" dirty="0"/>
              <a:t>）</a:t>
            </a:r>
            <a:r>
              <a:rPr lang="en-US" altLang="zh-CN" sz="1200" dirty="0"/>
              <a:t> </a:t>
            </a:r>
            <a:r>
              <a:rPr lang="zh-CN" altLang="en-US" sz="1200" dirty="0"/>
              <a:t>消费者消费的数据还在内存中，消费者挂掉，导致漏消费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5A4CD3A-EED4-443E-81AE-7D4B3859EA31}"/>
              </a:ext>
            </a:extLst>
          </p:cNvPr>
          <p:cNvSpPr/>
          <p:nvPr/>
        </p:nvSpPr>
        <p:spPr>
          <a:xfrm>
            <a:off x="4799940" y="4156388"/>
            <a:ext cx="22552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56575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 animBg="1"/>
      <p:bldP spid="9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6" grpId="0"/>
      <p:bldP spid="28" grpId="0" animBg="1"/>
      <p:bldP spid="29" grpId="0"/>
      <p:bldP spid="30" grpId="0" animBg="1"/>
      <p:bldP spid="31" grpId="0" animBg="1"/>
      <p:bldP spid="32" grpId="0"/>
      <p:bldP spid="33" grpId="0" animBg="1"/>
      <p:bldP spid="34" grpId="0"/>
      <p:bldP spid="35" grpId="0" animBg="1"/>
      <p:bldP spid="36" grpId="0" animBg="1"/>
      <p:bldP spid="37" grpId="0" animBg="1"/>
      <p:bldP spid="38" grpId="0"/>
      <p:bldP spid="39" grpId="0"/>
      <p:bldP spid="40" grpId="0" animBg="1"/>
      <p:bldP spid="41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4" grpId="0"/>
      <p:bldP spid="55" grpId="0" animBg="1"/>
      <p:bldP spid="56" grpId="0" animBg="1"/>
      <p:bldP spid="57" grpId="0"/>
      <p:bldP spid="59" grpId="0" animBg="1"/>
      <p:bldP spid="60" grpId="0" animBg="1"/>
      <p:bldP spid="61" grpId="0" animBg="1"/>
      <p:bldP spid="62" grpId="0"/>
      <p:bldP spid="6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80F1F2-836B-4C71-B971-D2BF6D086C1C}"/>
              </a:ext>
            </a:extLst>
          </p:cNvPr>
          <p:cNvSpPr txBox="1"/>
          <p:nvPr/>
        </p:nvSpPr>
        <p:spPr>
          <a:xfrm>
            <a:off x="467543" y="0"/>
            <a:ext cx="302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生产经验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消费者事务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3D5C69-5C75-4AA9-A207-5FAA72DF47AB}"/>
              </a:ext>
            </a:extLst>
          </p:cNvPr>
          <p:cNvSpPr/>
          <p:nvPr/>
        </p:nvSpPr>
        <p:spPr>
          <a:xfrm>
            <a:off x="323528" y="2325041"/>
            <a:ext cx="1044119" cy="26229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Kafka</a:t>
            </a:r>
          </a:p>
          <a:p>
            <a:pPr algn="ctr"/>
            <a:r>
              <a:rPr lang="en-US" altLang="zh-CN" sz="1400" dirty="0"/>
              <a:t>Producer</a:t>
            </a:r>
            <a:endParaRPr lang="zh-CN" altLang="en-US" sz="1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C71B14-A865-402F-B25B-1D49A2EB765E}"/>
              </a:ext>
            </a:extLst>
          </p:cNvPr>
          <p:cNvSpPr/>
          <p:nvPr/>
        </p:nvSpPr>
        <p:spPr>
          <a:xfrm>
            <a:off x="2069600" y="2325041"/>
            <a:ext cx="2016224" cy="26229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9FCF48-46AC-4E84-A453-CC304068B253}"/>
              </a:ext>
            </a:extLst>
          </p:cNvPr>
          <p:cNvSpPr/>
          <p:nvPr/>
        </p:nvSpPr>
        <p:spPr>
          <a:xfrm>
            <a:off x="2223490" y="2656386"/>
            <a:ext cx="1623836" cy="96479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F42F8B-81D2-4ABF-A72B-DEED20324B0E}"/>
              </a:ext>
            </a:extLst>
          </p:cNvPr>
          <p:cNvSpPr txBox="1"/>
          <p:nvPr/>
        </p:nvSpPr>
        <p:spPr>
          <a:xfrm>
            <a:off x="2262956" y="2647823"/>
            <a:ext cx="738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broker0</a:t>
            </a: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FCC28E-E2BD-462A-9F6B-E7BE84C55FB8}"/>
              </a:ext>
            </a:extLst>
          </p:cNvPr>
          <p:cNvSpPr txBox="1"/>
          <p:nvPr/>
        </p:nvSpPr>
        <p:spPr>
          <a:xfrm>
            <a:off x="2429640" y="2332544"/>
            <a:ext cx="1555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Kafka cluster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0D76AE-DF28-488E-88A0-01F2393A0F4C}"/>
              </a:ext>
            </a:extLst>
          </p:cNvPr>
          <p:cNvSpPr/>
          <p:nvPr/>
        </p:nvSpPr>
        <p:spPr>
          <a:xfrm>
            <a:off x="2274694" y="3012445"/>
            <a:ext cx="1499537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TopicA-Partition0</a:t>
            </a:r>
          </a:p>
          <a:p>
            <a:pPr algn="ctr"/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8F20FF-3120-4FAC-B1A1-B8C066624D79}"/>
              </a:ext>
            </a:extLst>
          </p:cNvPr>
          <p:cNvSpPr/>
          <p:nvPr/>
        </p:nvSpPr>
        <p:spPr>
          <a:xfrm>
            <a:off x="2223490" y="3780290"/>
            <a:ext cx="1623836" cy="96479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04C2F3-E2E2-46D3-A732-70B833F3B352}"/>
              </a:ext>
            </a:extLst>
          </p:cNvPr>
          <p:cNvSpPr txBox="1"/>
          <p:nvPr/>
        </p:nvSpPr>
        <p:spPr>
          <a:xfrm>
            <a:off x="2262956" y="3771727"/>
            <a:ext cx="738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broker1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C6D05D-7371-4D52-A108-9BFBFF3436BA}"/>
              </a:ext>
            </a:extLst>
          </p:cNvPr>
          <p:cNvSpPr/>
          <p:nvPr/>
        </p:nvSpPr>
        <p:spPr>
          <a:xfrm>
            <a:off x="2274694" y="4136349"/>
            <a:ext cx="1499537" cy="487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TopicA-Partition1</a:t>
            </a:r>
          </a:p>
          <a:p>
            <a:pPr algn="ctr"/>
            <a:r>
              <a:rPr lang="en-US" altLang="zh-CN" sz="1200" dirty="0">
                <a:solidFill>
                  <a:srgbClr val="FF0000"/>
                </a:solidFill>
              </a:rPr>
              <a:t>Leader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638B0E-348E-43DE-A0C7-A7B124272916}"/>
              </a:ext>
            </a:extLst>
          </p:cNvPr>
          <p:cNvSpPr/>
          <p:nvPr/>
        </p:nvSpPr>
        <p:spPr>
          <a:xfrm>
            <a:off x="4716016" y="3012445"/>
            <a:ext cx="1080120" cy="4874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Consumer</a:t>
            </a:r>
            <a:endParaRPr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AEB0A5-21E9-4595-984A-1E90433E43FA}"/>
              </a:ext>
            </a:extLst>
          </p:cNvPr>
          <p:cNvSpPr/>
          <p:nvPr/>
        </p:nvSpPr>
        <p:spPr>
          <a:xfrm>
            <a:off x="6785206" y="2427734"/>
            <a:ext cx="1549090" cy="5866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Mysql</a:t>
            </a:r>
            <a:endParaRPr lang="zh-CN" altLang="en-US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AB8181-3F47-44A9-A53F-D7DEB30737CD}"/>
              </a:ext>
            </a:extLst>
          </p:cNvPr>
          <p:cNvSpPr/>
          <p:nvPr/>
        </p:nvSpPr>
        <p:spPr>
          <a:xfrm>
            <a:off x="6785206" y="3579862"/>
            <a:ext cx="1549090" cy="5866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Kafka</a:t>
            </a:r>
            <a:r>
              <a:rPr lang="zh-CN" altLang="en-US" sz="1400" dirty="0"/>
              <a:t>其他主题（</a:t>
            </a:r>
            <a:r>
              <a:rPr lang="en-US" altLang="zh-CN" sz="1400" dirty="0" err="1"/>
              <a:t>TopicB</a:t>
            </a:r>
            <a:r>
              <a:rPr lang="zh-CN" altLang="en-US" sz="1400" dirty="0"/>
              <a:t>）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C696533-5EBA-4ADE-8604-C78875B9358E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 flipV="1">
            <a:off x="1367647" y="3256167"/>
            <a:ext cx="907047" cy="380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810C705-F571-4FBC-B48B-4DF82A5C5AAB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3774231" y="3256167"/>
            <a:ext cx="941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2EF18ED-29CC-4367-9743-DEEE6D4FF4E2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796136" y="2721075"/>
            <a:ext cx="989070" cy="535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F883AEA-F58D-4A69-86D1-3738F74F8F59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796136" y="3256167"/>
            <a:ext cx="989070" cy="617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D36375D-F251-4E35-A6F7-53FC61EF03AD}"/>
              </a:ext>
            </a:extLst>
          </p:cNvPr>
          <p:cNvSpPr txBox="1"/>
          <p:nvPr/>
        </p:nvSpPr>
        <p:spPr>
          <a:xfrm>
            <a:off x="6534096" y="1851670"/>
            <a:ext cx="2358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/>
              <a:t>下游消费者必须支持事务，才能做到精确一次性消费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2104C1-C5E9-4921-98D6-3A2FA3B59080}"/>
              </a:ext>
            </a:extLst>
          </p:cNvPr>
          <p:cNvSpPr txBox="1"/>
          <p:nvPr/>
        </p:nvSpPr>
        <p:spPr>
          <a:xfrm>
            <a:off x="179512" y="421806"/>
            <a:ext cx="8352928" cy="115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Bef>
                <a:spcPts val="240"/>
              </a:spcBef>
              <a:spcAft>
                <a:spcPts val="240"/>
              </a:spcAft>
            </a:pP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如果想完成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Consumer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端的精准一次性消费，那么需要</a:t>
            </a:r>
            <a:r>
              <a:rPr lang="en-US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消费端将消费过程和提交</a:t>
            </a:r>
            <a:r>
              <a:rPr lang="en-US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过程做原子绑定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。此时我们需要将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保存到支持事务的自定义介质（比如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）。这部分知识会在后续项目部分涉及。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8486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9" grpId="0"/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1F6471-16D9-497B-BDFD-4535CDBEFC5E}"/>
              </a:ext>
            </a:extLst>
          </p:cNvPr>
          <p:cNvSpPr txBox="1"/>
          <p:nvPr/>
        </p:nvSpPr>
        <p:spPr>
          <a:xfrm>
            <a:off x="467543" y="0"/>
            <a:ext cx="565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生产经验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数据积压</a:t>
            </a:r>
            <a:r>
              <a:rPr lang="zh-CN" altLang="zh-CN" dirty="0">
                <a:solidFill>
                  <a:srgbClr val="FF0000"/>
                </a:solidFill>
              </a:rPr>
              <a:t>（消费者如何提高吞吐量）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B283DE-CE5F-44FB-8127-0F9D15899429}"/>
              </a:ext>
            </a:extLst>
          </p:cNvPr>
          <p:cNvSpPr txBox="1"/>
          <p:nvPr/>
        </p:nvSpPr>
        <p:spPr>
          <a:xfrm>
            <a:off x="250987" y="438055"/>
            <a:ext cx="3528392" cy="88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）如果是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消费能力不足，则可以考虑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增加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Topic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的分区数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，并且同时提升消费组的消费者数量，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消费者数 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分区数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。（两者缺一不可）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D2C48B-71EB-4657-8671-93DE7C7FC7B7}"/>
              </a:ext>
            </a:extLst>
          </p:cNvPr>
          <p:cNvSpPr txBox="1"/>
          <p:nvPr/>
        </p:nvSpPr>
        <p:spPr>
          <a:xfrm>
            <a:off x="4572000" y="425194"/>
            <a:ext cx="4248471" cy="88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）如果是下游的数据处理不及时：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提高每批次拉取的数量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。批次拉取数据过少（拉取数据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处理时间 </a:t>
            </a:r>
            <a:r>
              <a:rPr lang="en-US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 </a:t>
            </a:r>
            <a:r>
              <a:rPr lang="zh-CN" altLang="zh-CN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生产速度），使处理的数据小于生产的数据，也会造成数据积压。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B72626-E7DC-49E4-A363-F8214D1244C2}"/>
              </a:ext>
            </a:extLst>
          </p:cNvPr>
          <p:cNvSpPr/>
          <p:nvPr/>
        </p:nvSpPr>
        <p:spPr>
          <a:xfrm>
            <a:off x="2410878" y="1623705"/>
            <a:ext cx="1225018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C590E7-6738-4238-AD0E-30B0047921F2}"/>
              </a:ext>
            </a:extLst>
          </p:cNvPr>
          <p:cNvSpPr txBox="1"/>
          <p:nvPr/>
        </p:nvSpPr>
        <p:spPr>
          <a:xfrm>
            <a:off x="2702776" y="1607135"/>
            <a:ext cx="553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CG1</a:t>
            </a:r>
            <a:endParaRPr lang="zh-CN" altLang="en-US" sz="1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C52A91-DD8F-4F40-8DF8-266A8368F20D}"/>
              </a:ext>
            </a:extLst>
          </p:cNvPr>
          <p:cNvSpPr/>
          <p:nvPr/>
        </p:nvSpPr>
        <p:spPr>
          <a:xfrm>
            <a:off x="2571047" y="2220116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FD54B0-A72B-4C86-BA2F-72651E43FD85}"/>
              </a:ext>
            </a:extLst>
          </p:cNvPr>
          <p:cNvSpPr/>
          <p:nvPr/>
        </p:nvSpPr>
        <p:spPr>
          <a:xfrm>
            <a:off x="2571047" y="2937994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178060-7625-4D48-B561-F60BCE12E1A6}"/>
              </a:ext>
            </a:extLst>
          </p:cNvPr>
          <p:cNvSpPr/>
          <p:nvPr/>
        </p:nvSpPr>
        <p:spPr>
          <a:xfrm>
            <a:off x="323528" y="1623705"/>
            <a:ext cx="1296144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84B5A7-6E70-49A0-BAC9-777F4E701DCA}"/>
              </a:ext>
            </a:extLst>
          </p:cNvPr>
          <p:cNvSpPr/>
          <p:nvPr/>
        </p:nvSpPr>
        <p:spPr>
          <a:xfrm>
            <a:off x="431006" y="1955051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CADD8A-7F8A-4EAD-9D7A-20011CE49D56}"/>
              </a:ext>
            </a:extLst>
          </p:cNvPr>
          <p:cNvSpPr txBox="1"/>
          <p:nvPr/>
        </p:nvSpPr>
        <p:spPr>
          <a:xfrm>
            <a:off x="431007" y="1940536"/>
            <a:ext cx="6126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broker0</a:t>
            </a:r>
            <a:endParaRPr lang="zh-CN" altLang="en-US" sz="1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F18904-34E7-4F62-8FE4-DAA0E2F73EA1}"/>
              </a:ext>
            </a:extLst>
          </p:cNvPr>
          <p:cNvSpPr txBox="1"/>
          <p:nvPr/>
        </p:nvSpPr>
        <p:spPr>
          <a:xfrm>
            <a:off x="403335" y="1608674"/>
            <a:ext cx="1216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Kafka cluster</a:t>
            </a:r>
            <a:endParaRPr lang="zh-CN" altLang="en-US" sz="1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AC1AA4-5B26-456D-B5D4-98A980C762E0}"/>
              </a:ext>
            </a:extLst>
          </p:cNvPr>
          <p:cNvSpPr/>
          <p:nvPr/>
        </p:nvSpPr>
        <p:spPr>
          <a:xfrm>
            <a:off x="429796" y="2673769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66000B-0B4F-4EA6-97F1-5334FFD4879E}"/>
              </a:ext>
            </a:extLst>
          </p:cNvPr>
          <p:cNvSpPr/>
          <p:nvPr/>
        </p:nvSpPr>
        <p:spPr>
          <a:xfrm>
            <a:off x="534075" y="2191217"/>
            <a:ext cx="864558" cy="3364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9C90EB-58F9-4CA2-A0D4-A03BA6ED50D3}"/>
              </a:ext>
            </a:extLst>
          </p:cNvPr>
          <p:cNvSpPr txBox="1"/>
          <p:nvPr/>
        </p:nvSpPr>
        <p:spPr>
          <a:xfrm>
            <a:off x="457656" y="2631817"/>
            <a:ext cx="699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broker1</a:t>
            </a:r>
            <a:endParaRPr lang="zh-CN" altLang="en-US" sz="1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C73A13-A5CF-4D2A-82E6-6801CF7CC27D}"/>
              </a:ext>
            </a:extLst>
          </p:cNvPr>
          <p:cNvSpPr/>
          <p:nvPr/>
        </p:nvSpPr>
        <p:spPr>
          <a:xfrm>
            <a:off x="429796" y="3388951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8327AA-D640-4340-97CD-EF3187D27E2A}"/>
              </a:ext>
            </a:extLst>
          </p:cNvPr>
          <p:cNvSpPr txBox="1"/>
          <p:nvPr/>
        </p:nvSpPr>
        <p:spPr>
          <a:xfrm>
            <a:off x="457656" y="3374097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broker2</a:t>
            </a:r>
            <a:endParaRPr lang="zh-CN" altLang="en-US" sz="10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480569-ECBC-4A58-A291-B0FE287989FF}"/>
              </a:ext>
            </a:extLst>
          </p:cNvPr>
          <p:cNvSpPr/>
          <p:nvPr/>
        </p:nvSpPr>
        <p:spPr>
          <a:xfrm>
            <a:off x="533363" y="3621519"/>
            <a:ext cx="862551" cy="3440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C1FD0C-5812-49BC-A2CB-101773C02C56}"/>
              </a:ext>
            </a:extLst>
          </p:cNvPr>
          <p:cNvSpPr/>
          <p:nvPr/>
        </p:nvSpPr>
        <p:spPr>
          <a:xfrm>
            <a:off x="536081" y="2915308"/>
            <a:ext cx="862551" cy="3386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EBECCC-AA2B-44CA-B767-C8F6FFCB7EF3}"/>
              </a:ext>
            </a:extLst>
          </p:cNvPr>
          <p:cNvSpPr/>
          <p:nvPr/>
        </p:nvSpPr>
        <p:spPr>
          <a:xfrm>
            <a:off x="429796" y="4067038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F56043-0C49-4F2A-9969-377077108A44}"/>
              </a:ext>
            </a:extLst>
          </p:cNvPr>
          <p:cNvSpPr txBox="1"/>
          <p:nvPr/>
        </p:nvSpPr>
        <p:spPr>
          <a:xfrm>
            <a:off x="457656" y="4052184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broker3</a:t>
            </a:r>
            <a:endParaRPr lang="zh-CN" altLang="en-US" sz="1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A5F9B7-0245-45B1-B1D3-69CB6E7A5472}"/>
              </a:ext>
            </a:extLst>
          </p:cNvPr>
          <p:cNvSpPr/>
          <p:nvPr/>
        </p:nvSpPr>
        <p:spPr>
          <a:xfrm>
            <a:off x="533363" y="4299607"/>
            <a:ext cx="862551" cy="3484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Partition3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939C8CE-9BA9-4DA1-9A79-30FDAE797FFD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 flipV="1">
            <a:off x="1398633" y="2358616"/>
            <a:ext cx="1172414" cy="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A4DE1E3-93B3-4A54-B1DF-B6678298B84B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>
            <a:off x="1395914" y="3793554"/>
            <a:ext cx="1175132" cy="12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F833CB6-495E-4313-8C88-0F8D093A3C7C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1398632" y="3076494"/>
            <a:ext cx="1172415" cy="8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83B11B9-1505-45E7-894C-EE32CDC288B0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1395914" y="4473824"/>
            <a:ext cx="1175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26FE1A-4FE8-492C-B8EA-C2AE5B0D1CE6}"/>
              </a:ext>
            </a:extLst>
          </p:cNvPr>
          <p:cNvSpPr/>
          <p:nvPr/>
        </p:nvSpPr>
        <p:spPr>
          <a:xfrm>
            <a:off x="2571046" y="3667968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07ED377-A530-436D-B1D4-2049B09343F2}"/>
              </a:ext>
            </a:extLst>
          </p:cNvPr>
          <p:cNvSpPr/>
          <p:nvPr/>
        </p:nvSpPr>
        <p:spPr>
          <a:xfrm>
            <a:off x="2571045" y="4335324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3F3A8D3-73EB-4D41-BFD5-405CC8CEB1F4}"/>
              </a:ext>
            </a:extLst>
          </p:cNvPr>
          <p:cNvSpPr/>
          <p:nvPr/>
        </p:nvSpPr>
        <p:spPr>
          <a:xfrm>
            <a:off x="6694387" y="1635104"/>
            <a:ext cx="1225018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544919D-682A-4A57-8631-13BD3FA34EE1}"/>
              </a:ext>
            </a:extLst>
          </p:cNvPr>
          <p:cNvSpPr txBox="1"/>
          <p:nvPr/>
        </p:nvSpPr>
        <p:spPr>
          <a:xfrm>
            <a:off x="6986285" y="1618534"/>
            <a:ext cx="553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CG1</a:t>
            </a:r>
            <a:endParaRPr lang="zh-CN" altLang="en-US" sz="10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D81315-0693-4FC7-90A5-553A3167DAA7}"/>
              </a:ext>
            </a:extLst>
          </p:cNvPr>
          <p:cNvSpPr/>
          <p:nvPr/>
        </p:nvSpPr>
        <p:spPr>
          <a:xfrm>
            <a:off x="6854556" y="2231515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759F91C-C347-41E1-8F04-621167C4B963}"/>
              </a:ext>
            </a:extLst>
          </p:cNvPr>
          <p:cNvSpPr/>
          <p:nvPr/>
        </p:nvSpPr>
        <p:spPr>
          <a:xfrm>
            <a:off x="6854556" y="2949393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consumer2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FDD16FD-E25A-4E2D-B65A-95352726B0B4}"/>
              </a:ext>
            </a:extLst>
          </p:cNvPr>
          <p:cNvSpPr/>
          <p:nvPr/>
        </p:nvSpPr>
        <p:spPr>
          <a:xfrm>
            <a:off x="4716016" y="1635104"/>
            <a:ext cx="1296144" cy="3108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7E3721-5CE0-4FA2-BFD0-54C32302351B}"/>
              </a:ext>
            </a:extLst>
          </p:cNvPr>
          <p:cNvSpPr/>
          <p:nvPr/>
        </p:nvSpPr>
        <p:spPr>
          <a:xfrm>
            <a:off x="4823494" y="1966450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2E7F4E4-C061-46E0-9DD3-0448A448C805}"/>
              </a:ext>
            </a:extLst>
          </p:cNvPr>
          <p:cNvSpPr txBox="1"/>
          <p:nvPr/>
        </p:nvSpPr>
        <p:spPr>
          <a:xfrm>
            <a:off x="4823495" y="1951935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broker0</a:t>
            </a:r>
            <a:endParaRPr lang="zh-CN" altLang="en-US" sz="1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0954A42-1038-435A-B331-D00A1E52EE7C}"/>
              </a:ext>
            </a:extLst>
          </p:cNvPr>
          <p:cNvSpPr txBox="1"/>
          <p:nvPr/>
        </p:nvSpPr>
        <p:spPr>
          <a:xfrm>
            <a:off x="4795823" y="1620073"/>
            <a:ext cx="1216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Kafka cluster</a:t>
            </a:r>
            <a:endParaRPr lang="zh-CN" altLang="en-US" sz="1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89378E-21BE-441B-AE2D-FF626F103C29}"/>
              </a:ext>
            </a:extLst>
          </p:cNvPr>
          <p:cNvSpPr/>
          <p:nvPr/>
        </p:nvSpPr>
        <p:spPr>
          <a:xfrm>
            <a:off x="4822284" y="2685168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2CF0BB7-76FF-4617-9F0A-BF9F30B9DC4A}"/>
              </a:ext>
            </a:extLst>
          </p:cNvPr>
          <p:cNvSpPr/>
          <p:nvPr/>
        </p:nvSpPr>
        <p:spPr>
          <a:xfrm>
            <a:off x="4926563" y="2202616"/>
            <a:ext cx="864558" cy="3364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Partition0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575909D-51BA-4DC7-B92A-7981E156792C}"/>
              </a:ext>
            </a:extLst>
          </p:cNvPr>
          <p:cNvSpPr txBox="1"/>
          <p:nvPr/>
        </p:nvSpPr>
        <p:spPr>
          <a:xfrm>
            <a:off x="4850144" y="2643216"/>
            <a:ext cx="699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broker1</a:t>
            </a:r>
            <a:endParaRPr lang="zh-CN" altLang="en-US" sz="10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4959385-91E8-45B3-97D1-06EABCED3E15}"/>
              </a:ext>
            </a:extLst>
          </p:cNvPr>
          <p:cNvSpPr/>
          <p:nvPr/>
        </p:nvSpPr>
        <p:spPr>
          <a:xfrm>
            <a:off x="4822284" y="3400350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867B4DB-ECA8-4112-94C2-0AA551F62839}"/>
              </a:ext>
            </a:extLst>
          </p:cNvPr>
          <p:cNvSpPr txBox="1"/>
          <p:nvPr/>
        </p:nvSpPr>
        <p:spPr>
          <a:xfrm>
            <a:off x="4850144" y="3385496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broker2</a:t>
            </a:r>
            <a:endParaRPr lang="zh-CN" altLang="en-US" sz="10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97C376A-6151-4C47-9918-F677D508E7D1}"/>
              </a:ext>
            </a:extLst>
          </p:cNvPr>
          <p:cNvSpPr/>
          <p:nvPr/>
        </p:nvSpPr>
        <p:spPr>
          <a:xfrm>
            <a:off x="4925851" y="3632918"/>
            <a:ext cx="862551" cy="3440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918609C-31C6-4794-BFA8-9E0553F81A0B}"/>
              </a:ext>
            </a:extLst>
          </p:cNvPr>
          <p:cNvSpPr/>
          <p:nvPr/>
        </p:nvSpPr>
        <p:spPr>
          <a:xfrm>
            <a:off x="4928569" y="2926707"/>
            <a:ext cx="862551" cy="3386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4987B8A-B167-4890-ABAC-509897DE8EDD}"/>
              </a:ext>
            </a:extLst>
          </p:cNvPr>
          <p:cNvSpPr/>
          <p:nvPr/>
        </p:nvSpPr>
        <p:spPr>
          <a:xfrm>
            <a:off x="4822284" y="4078437"/>
            <a:ext cx="1089086" cy="6110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0398684-4206-4AF6-8D7C-293C84D9BAE4}"/>
              </a:ext>
            </a:extLst>
          </p:cNvPr>
          <p:cNvSpPr txBox="1"/>
          <p:nvPr/>
        </p:nvSpPr>
        <p:spPr>
          <a:xfrm>
            <a:off x="4850144" y="4063583"/>
            <a:ext cx="7234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broker3</a:t>
            </a:r>
            <a:endParaRPr lang="zh-CN" altLang="en-US" sz="10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1B6B739-6CB7-4046-B485-50273645A402}"/>
              </a:ext>
            </a:extLst>
          </p:cNvPr>
          <p:cNvSpPr/>
          <p:nvPr/>
        </p:nvSpPr>
        <p:spPr>
          <a:xfrm>
            <a:off x="4925851" y="4311006"/>
            <a:ext cx="862551" cy="3484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TopicA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Partition3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FF0DB8C-4921-419B-82F2-C64968B826F2}"/>
              </a:ext>
            </a:extLst>
          </p:cNvPr>
          <p:cNvCxnSpPr>
            <a:cxnSpLocks/>
            <a:stCxn id="38" idx="3"/>
            <a:endCxn id="31" idx="1"/>
          </p:cNvCxnSpPr>
          <p:nvPr/>
        </p:nvCxnSpPr>
        <p:spPr>
          <a:xfrm flipV="1">
            <a:off x="5791121" y="2370015"/>
            <a:ext cx="1063435" cy="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98EA150-7047-434B-8B19-7173D833CBF3}"/>
              </a:ext>
            </a:extLst>
          </p:cNvPr>
          <p:cNvCxnSpPr>
            <a:cxnSpLocks/>
            <a:stCxn id="42" idx="3"/>
            <a:endCxn id="51" idx="1"/>
          </p:cNvCxnSpPr>
          <p:nvPr/>
        </p:nvCxnSpPr>
        <p:spPr>
          <a:xfrm>
            <a:off x="5788402" y="3804953"/>
            <a:ext cx="1066153" cy="12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19543A4-10DD-45F4-943C-3E76410C89FD}"/>
              </a:ext>
            </a:extLst>
          </p:cNvPr>
          <p:cNvCxnSpPr>
            <a:cxnSpLocks/>
            <a:stCxn id="43" idx="3"/>
            <a:endCxn id="32" idx="1"/>
          </p:cNvCxnSpPr>
          <p:nvPr/>
        </p:nvCxnSpPr>
        <p:spPr>
          <a:xfrm flipV="1">
            <a:off x="5791120" y="3087893"/>
            <a:ext cx="1063436" cy="8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A8E582B-2F3A-471F-82FE-7C2C13ECDE3F}"/>
              </a:ext>
            </a:extLst>
          </p:cNvPr>
          <p:cNvCxnSpPr>
            <a:cxnSpLocks/>
            <a:stCxn id="46" idx="3"/>
            <a:endCxn id="52" idx="1"/>
          </p:cNvCxnSpPr>
          <p:nvPr/>
        </p:nvCxnSpPr>
        <p:spPr>
          <a:xfrm>
            <a:off x="5788402" y="4485223"/>
            <a:ext cx="1066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00F2DA17-EF7A-4059-B5A5-9D9B37CDFAAF}"/>
              </a:ext>
            </a:extLst>
          </p:cNvPr>
          <p:cNvSpPr/>
          <p:nvPr/>
        </p:nvSpPr>
        <p:spPr>
          <a:xfrm>
            <a:off x="6854555" y="3679367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consumer3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D84093D-8859-45FF-83E1-F75538FF0FEA}"/>
              </a:ext>
            </a:extLst>
          </p:cNvPr>
          <p:cNvSpPr/>
          <p:nvPr/>
        </p:nvSpPr>
        <p:spPr>
          <a:xfrm>
            <a:off x="6854554" y="4346723"/>
            <a:ext cx="941881" cy="277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consumer4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BADC64C-C965-4576-B793-3CE9A9569C92}"/>
              </a:ext>
            </a:extLst>
          </p:cNvPr>
          <p:cNvCxnSpPr>
            <a:cxnSpLocks/>
            <a:stCxn id="19" idx="3"/>
            <a:endCxn id="7" idx="1"/>
          </p:cNvCxnSpPr>
          <p:nvPr/>
        </p:nvCxnSpPr>
        <p:spPr>
          <a:xfrm flipV="1">
            <a:off x="1398632" y="2358616"/>
            <a:ext cx="1172415" cy="725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54C4E17-9E5D-4AFC-BCD3-EA26DFB85B73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>
          <a:xfrm flipV="1">
            <a:off x="1395914" y="2358616"/>
            <a:ext cx="1175133" cy="143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3F90F6C5-C208-4BB0-A8E5-9F7086EC545C}"/>
              </a:ext>
            </a:extLst>
          </p:cNvPr>
          <p:cNvCxnSpPr>
            <a:cxnSpLocks/>
            <a:stCxn id="22" idx="3"/>
            <a:endCxn id="7" idx="1"/>
          </p:cNvCxnSpPr>
          <p:nvPr/>
        </p:nvCxnSpPr>
        <p:spPr>
          <a:xfrm flipV="1">
            <a:off x="1395914" y="2358616"/>
            <a:ext cx="1175133" cy="2115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A970D556-9153-4E05-A745-87445C95509E}"/>
              </a:ext>
            </a:extLst>
          </p:cNvPr>
          <p:cNvSpPr txBox="1"/>
          <p:nvPr/>
        </p:nvSpPr>
        <p:spPr>
          <a:xfrm>
            <a:off x="7919405" y="2179746"/>
            <a:ext cx="1115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/>
              <a:t>从一次最多拉取</a:t>
            </a:r>
            <a:r>
              <a:rPr lang="en-US" altLang="zh-CN" sz="1200" dirty="0"/>
              <a:t>500</a:t>
            </a:r>
            <a:r>
              <a:rPr lang="zh-CN" altLang="en-US" sz="1200" dirty="0"/>
              <a:t>条，调整为一次最多拉取</a:t>
            </a:r>
            <a:r>
              <a:rPr lang="en-US" altLang="zh-CN" sz="1200" dirty="0"/>
              <a:t>1000</a:t>
            </a:r>
            <a:r>
              <a:rPr lang="zh-CN" altLang="en-US" sz="1200" dirty="0"/>
              <a:t>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08201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/>
      <p:bldP spid="22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 animBg="1"/>
      <p:bldP spid="38" grpId="0" animBg="1"/>
      <p:bldP spid="39" grpId="0"/>
      <p:bldP spid="40" grpId="0" animBg="1"/>
      <p:bldP spid="41" grpId="0"/>
      <p:bldP spid="42" grpId="0" animBg="1"/>
      <p:bldP spid="43" grpId="0" animBg="1"/>
      <p:bldP spid="44" grpId="0" animBg="1"/>
      <p:bldP spid="45" grpId="0"/>
      <p:bldP spid="46" grpId="0" animBg="1"/>
      <p:bldP spid="51" grpId="0" animBg="1"/>
      <p:bldP spid="52" grpId="0" animBg="1"/>
      <p:bldP spid="5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56">
            <a:extLst>
              <a:ext uri="{FF2B5EF4-FFF2-40B4-BE49-F238E27FC236}">
                <a16:creationId xmlns:a16="http://schemas.microsoft.com/office/drawing/2014/main" id="{8E15EDC7-A209-4FAC-8611-CC994E164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70" y="642620"/>
            <a:ext cx="5274310" cy="121031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48AE3B1E-A2A3-4D8D-8B4C-CD8CE7FB4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99" y="2101168"/>
            <a:ext cx="8753475" cy="20020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8988696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52B2160-F3AB-4085-A68D-F6ECE927C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" y="690880"/>
            <a:ext cx="5274310" cy="120904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2DE74AC-7EB1-41E3-8C79-524D57769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20" y="2241232"/>
            <a:ext cx="5274310" cy="119443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FDCC6B8-4E37-437B-BF97-8324709BA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20" y="3697287"/>
            <a:ext cx="5274310" cy="117792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4609832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4695624-5B25-4E92-B1C4-45C9D3365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07" y="846455"/>
            <a:ext cx="5877389" cy="345059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50880581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1682984-DB4D-41A6-8E2F-EF1CF562EFCB}"/>
              </a:ext>
            </a:extLst>
          </p:cNvPr>
          <p:cNvSpPr txBox="1"/>
          <p:nvPr/>
        </p:nvSpPr>
        <p:spPr>
          <a:xfrm>
            <a:off x="35496" y="555526"/>
            <a:ext cx="15121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用户自定义生产者</a:t>
            </a:r>
            <a:endParaRPr lang="en-US" altLang="zh-CN" sz="11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CustomProducer.java </a:t>
            </a:r>
            <a:endParaRPr lang="zh-CN" altLang="en-US" sz="11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8141D86-AC07-439B-B45A-E8D6709E4159}"/>
              </a:ext>
            </a:extLst>
          </p:cNvPr>
          <p:cNvCxnSpPr>
            <a:cxnSpLocks/>
          </p:cNvCxnSpPr>
          <p:nvPr/>
        </p:nvCxnSpPr>
        <p:spPr>
          <a:xfrm>
            <a:off x="251520" y="986413"/>
            <a:ext cx="0" cy="289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3E291CF-BAC7-42AE-811D-F0F70A160CCB}"/>
              </a:ext>
            </a:extLst>
          </p:cNvPr>
          <p:cNvSpPr txBox="1"/>
          <p:nvPr/>
        </p:nvSpPr>
        <p:spPr>
          <a:xfrm>
            <a:off x="237323" y="1251926"/>
            <a:ext cx="5182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main</a:t>
            </a:r>
            <a:endParaRPr lang="zh-CN" altLang="en-US" sz="12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3F380A4-0EA0-4497-937D-DD4303953FA4}"/>
              </a:ext>
            </a:extLst>
          </p:cNvPr>
          <p:cNvCxnSpPr>
            <a:cxnSpLocks/>
          </p:cNvCxnSpPr>
          <p:nvPr/>
        </p:nvCxnSpPr>
        <p:spPr>
          <a:xfrm>
            <a:off x="395536" y="1528925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82F9569-9462-48BE-B932-A73F73607D45}"/>
              </a:ext>
            </a:extLst>
          </p:cNvPr>
          <p:cNvSpPr txBox="1"/>
          <p:nvPr/>
        </p:nvSpPr>
        <p:spPr>
          <a:xfrm>
            <a:off x="364284" y="1682956"/>
            <a:ext cx="1759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创建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生产者对象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new 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KafkaProducer</a:t>
            </a:r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E6E0BC-9B25-4DF7-AC3D-C12EE0F35AE4}"/>
              </a:ext>
            </a:extLst>
          </p:cNvPr>
          <p:cNvSpPr/>
          <p:nvPr/>
        </p:nvSpPr>
        <p:spPr>
          <a:xfrm>
            <a:off x="2486053" y="555526"/>
            <a:ext cx="1512165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获取事务</a:t>
            </a:r>
            <a:r>
              <a:rPr lang="en-US" altLang="zh-CN" sz="1200" dirty="0">
                <a:solidFill>
                  <a:schemeClr val="tx1"/>
                </a:solidFill>
              </a:rPr>
              <a:t>id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transactionalId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73A801-D5E1-4AF2-836D-E549BCA69DD8}"/>
              </a:ext>
            </a:extLst>
          </p:cNvPr>
          <p:cNvSpPr/>
          <p:nvPr/>
        </p:nvSpPr>
        <p:spPr>
          <a:xfrm>
            <a:off x="2486050" y="1184211"/>
            <a:ext cx="1512165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获取客户端</a:t>
            </a:r>
            <a:r>
              <a:rPr lang="en-US" altLang="zh-CN" sz="1200" dirty="0">
                <a:solidFill>
                  <a:schemeClr val="tx1"/>
                </a:solidFill>
              </a:rPr>
              <a:t>id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clientId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C89AC2-6B67-4D3C-A4BF-A4DFF33AA61B}"/>
              </a:ext>
            </a:extLst>
          </p:cNvPr>
          <p:cNvSpPr/>
          <p:nvPr/>
        </p:nvSpPr>
        <p:spPr>
          <a:xfrm>
            <a:off x="2486053" y="1812896"/>
            <a:ext cx="1512168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监控相关配置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new </a:t>
            </a:r>
            <a:r>
              <a:rPr lang="en-US" altLang="zh-CN" sz="1200" dirty="0" err="1">
                <a:solidFill>
                  <a:schemeClr val="tx1"/>
                </a:solidFill>
              </a:rPr>
              <a:t>JmxReporter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51257B-CAB2-4669-9582-50CC829FF361}"/>
              </a:ext>
            </a:extLst>
          </p:cNvPr>
          <p:cNvSpPr/>
          <p:nvPr/>
        </p:nvSpPr>
        <p:spPr>
          <a:xfrm>
            <a:off x="2487767" y="2441581"/>
            <a:ext cx="1512168" cy="430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分区器配置</a:t>
            </a:r>
            <a:r>
              <a:rPr lang="en-US" altLang="zh-CN" sz="1200" dirty="0" err="1">
                <a:solidFill>
                  <a:schemeClr val="tx1"/>
                </a:solidFill>
              </a:rPr>
              <a:t>this.partitioner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1C735C-4BC8-4B81-BC10-F2EF92F80A55}"/>
              </a:ext>
            </a:extLst>
          </p:cNvPr>
          <p:cNvSpPr/>
          <p:nvPr/>
        </p:nvSpPr>
        <p:spPr>
          <a:xfrm>
            <a:off x="2486053" y="3070266"/>
            <a:ext cx="1512165" cy="6104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序列化配置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keySerializer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valueSerializer</a:t>
            </a:r>
            <a:r>
              <a:rPr lang="en-US" altLang="zh-CN" sz="1200" dirty="0">
                <a:solidFill>
                  <a:schemeClr val="tx1"/>
                </a:solidFill>
              </a:rPr>
              <a:t> 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7293C7-4C76-461E-A7A5-E59C34A69BEE}"/>
              </a:ext>
            </a:extLst>
          </p:cNvPr>
          <p:cNvSpPr txBox="1"/>
          <p:nvPr/>
        </p:nvSpPr>
        <p:spPr>
          <a:xfrm>
            <a:off x="323528" y="2395358"/>
            <a:ext cx="1853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连续点击三次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this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构造器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B0FA578-6A0D-4B2E-9A0C-678FFC02FE62}"/>
              </a:ext>
            </a:extLst>
          </p:cNvPr>
          <p:cNvCxnSpPr>
            <a:cxnSpLocks/>
          </p:cNvCxnSpPr>
          <p:nvPr/>
        </p:nvCxnSpPr>
        <p:spPr>
          <a:xfrm>
            <a:off x="487128" y="2144621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CB1EFA28-18C6-4118-9CFB-C11610C6B3FF}"/>
              </a:ext>
            </a:extLst>
          </p:cNvPr>
          <p:cNvSpPr/>
          <p:nvPr/>
        </p:nvSpPr>
        <p:spPr>
          <a:xfrm>
            <a:off x="2486050" y="3878520"/>
            <a:ext cx="1512168" cy="4308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拦截器配置</a:t>
            </a:r>
            <a:r>
              <a:rPr lang="en-US" altLang="zh-CN" sz="1200" dirty="0" err="1">
                <a:solidFill>
                  <a:schemeClr val="tx1"/>
                </a:solidFill>
              </a:rPr>
              <a:t>interceptorList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787EF8-047C-4E34-9F40-EA67B5B8ACEC}"/>
              </a:ext>
            </a:extLst>
          </p:cNvPr>
          <p:cNvSpPr/>
          <p:nvPr/>
        </p:nvSpPr>
        <p:spPr>
          <a:xfrm>
            <a:off x="2486050" y="4507206"/>
            <a:ext cx="1512168" cy="6362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单条信息的最大值，默认</a:t>
            </a:r>
            <a:r>
              <a:rPr lang="en-US" altLang="zh-CN" sz="1200" dirty="0">
                <a:solidFill>
                  <a:schemeClr val="tx1"/>
                </a:solidFill>
              </a:rPr>
              <a:t>1m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maxRequestSize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4F244F-1E4C-40BF-AA3E-6C58984975EA}"/>
              </a:ext>
            </a:extLst>
          </p:cNvPr>
          <p:cNvSpPr/>
          <p:nvPr/>
        </p:nvSpPr>
        <p:spPr>
          <a:xfrm>
            <a:off x="4644013" y="555526"/>
            <a:ext cx="1944212" cy="430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缓存大小，默认</a:t>
            </a:r>
            <a:r>
              <a:rPr lang="en-US" altLang="zh-CN" sz="1200" dirty="0">
                <a:solidFill>
                  <a:schemeClr val="tx1"/>
                </a:solidFill>
              </a:rPr>
              <a:t>32m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totalMemorySize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E94CCB2-4C55-497D-A20E-C3EAC4D1431F}"/>
              </a:ext>
            </a:extLst>
          </p:cNvPr>
          <p:cNvSpPr/>
          <p:nvPr/>
        </p:nvSpPr>
        <p:spPr>
          <a:xfrm>
            <a:off x="4644011" y="1359263"/>
            <a:ext cx="1944215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创建缓存队列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new </a:t>
            </a:r>
            <a:r>
              <a:rPr lang="en-US" altLang="zh-CN" sz="1200" dirty="0" err="1">
                <a:solidFill>
                  <a:schemeClr val="tx1"/>
                </a:solidFill>
              </a:rPr>
              <a:t>RecordAccumulator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7F2A1C-F83E-45BE-930A-61172595B4A9}"/>
              </a:ext>
            </a:extLst>
          </p:cNvPr>
          <p:cNvSpPr/>
          <p:nvPr/>
        </p:nvSpPr>
        <p:spPr>
          <a:xfrm>
            <a:off x="4644010" y="2163000"/>
            <a:ext cx="1944215" cy="574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连接</a:t>
            </a:r>
            <a:r>
              <a:rPr lang="en-US" altLang="zh-CN" sz="1200" dirty="0" err="1">
                <a:solidFill>
                  <a:schemeClr val="tx1"/>
                </a:solidFill>
              </a:rPr>
              <a:t>kafka</a:t>
            </a:r>
            <a:r>
              <a:rPr lang="zh-CN" altLang="en-US" sz="1200" dirty="0">
                <a:solidFill>
                  <a:schemeClr val="tx1"/>
                </a:solidFill>
              </a:rPr>
              <a:t>集群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BOOTSTRAP_SERVERS_CONFIG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835FD-FEED-4993-A461-BCB213278FBD}"/>
              </a:ext>
            </a:extLst>
          </p:cNvPr>
          <p:cNvSpPr/>
          <p:nvPr/>
        </p:nvSpPr>
        <p:spPr>
          <a:xfrm>
            <a:off x="4644009" y="3110155"/>
            <a:ext cx="1944215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从</a:t>
            </a:r>
            <a:r>
              <a:rPr lang="en-US" altLang="zh-CN" sz="1200" dirty="0">
                <a:solidFill>
                  <a:schemeClr val="tx1"/>
                </a:solidFill>
              </a:rPr>
              <a:t>Kafka</a:t>
            </a:r>
            <a:r>
              <a:rPr lang="zh-CN" altLang="en-US" sz="1200" dirty="0">
                <a:solidFill>
                  <a:schemeClr val="tx1"/>
                </a:solidFill>
              </a:rPr>
              <a:t>集群获取元数据</a:t>
            </a:r>
            <a:r>
              <a:rPr lang="en-US" altLang="zh-CN" sz="1200" dirty="0" err="1">
                <a:solidFill>
                  <a:schemeClr val="tx1"/>
                </a:solidFill>
              </a:rPr>
              <a:t>this.metadata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1C7B55-6494-4FBE-8B9B-15E50F8D4F24}"/>
              </a:ext>
            </a:extLst>
          </p:cNvPr>
          <p:cNvSpPr/>
          <p:nvPr/>
        </p:nvSpPr>
        <p:spPr>
          <a:xfrm>
            <a:off x="4644009" y="3913892"/>
            <a:ext cx="1944215" cy="43088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创建</a:t>
            </a:r>
            <a:r>
              <a:rPr lang="en-US" altLang="zh-CN" sz="1200" dirty="0">
                <a:solidFill>
                  <a:schemeClr val="tx1"/>
                </a:solidFill>
              </a:rPr>
              <a:t>sender</a:t>
            </a:r>
            <a:r>
              <a:rPr lang="zh-CN" altLang="en-US" sz="1200" dirty="0">
                <a:solidFill>
                  <a:schemeClr val="tx1"/>
                </a:solidFill>
              </a:rPr>
              <a:t>线程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newSender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A232FC-F78D-4214-A788-CC90BCBCE29C}"/>
              </a:ext>
            </a:extLst>
          </p:cNvPr>
          <p:cNvSpPr/>
          <p:nvPr/>
        </p:nvSpPr>
        <p:spPr>
          <a:xfrm>
            <a:off x="4646687" y="4717631"/>
            <a:ext cx="1944215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启动发送线程</a:t>
            </a:r>
            <a:r>
              <a:rPr lang="en-US" altLang="zh-CN" sz="1200" dirty="0" err="1">
                <a:solidFill>
                  <a:schemeClr val="tx1"/>
                </a:solidFill>
              </a:rPr>
              <a:t>this.ioThread.start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C489C8-9FFB-45F2-9B95-4401F79692FD}"/>
              </a:ext>
            </a:extLst>
          </p:cNvPr>
          <p:cNvSpPr/>
          <p:nvPr/>
        </p:nvSpPr>
        <p:spPr>
          <a:xfrm>
            <a:off x="7061029" y="555526"/>
            <a:ext cx="1831445" cy="6382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批次大下，默认</a:t>
            </a:r>
            <a:r>
              <a:rPr lang="en-US" altLang="zh-CN" sz="1200" dirty="0">
                <a:solidFill>
                  <a:schemeClr val="tx1"/>
                </a:solidFill>
              </a:rPr>
              <a:t>16k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BATCH_SIZE_CONFIG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26B033E-328B-4112-8214-4902BDBF1883}"/>
              </a:ext>
            </a:extLst>
          </p:cNvPr>
          <p:cNvSpPr/>
          <p:nvPr/>
        </p:nvSpPr>
        <p:spPr>
          <a:xfrm>
            <a:off x="7061030" y="1356183"/>
            <a:ext cx="1831444" cy="430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是否压缩，默认</a:t>
            </a:r>
            <a:r>
              <a:rPr lang="en-US" altLang="zh-CN" sz="1200" dirty="0">
                <a:solidFill>
                  <a:schemeClr val="tx1"/>
                </a:solidFill>
              </a:rPr>
              <a:t>none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compressionType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5AD64A-6124-4CB2-A0D3-69DBC24F5DA0}"/>
              </a:ext>
            </a:extLst>
          </p:cNvPr>
          <p:cNvSpPr/>
          <p:nvPr/>
        </p:nvSpPr>
        <p:spPr>
          <a:xfrm>
            <a:off x="7061030" y="1949456"/>
            <a:ext cx="1831444" cy="430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linger.ms</a:t>
            </a:r>
            <a:r>
              <a:rPr lang="zh-CN" altLang="en-US" sz="1200" dirty="0">
                <a:solidFill>
                  <a:schemeClr val="tx1"/>
                </a:solidFill>
              </a:rPr>
              <a:t>，默认值</a:t>
            </a:r>
            <a:r>
              <a:rPr lang="en-US" altLang="zh-CN" sz="120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lingerMs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D5F2CA-742B-4B95-ABE5-F36871FF2D8F}"/>
              </a:ext>
            </a:extLst>
          </p:cNvPr>
          <p:cNvSpPr/>
          <p:nvPr/>
        </p:nvSpPr>
        <p:spPr>
          <a:xfrm>
            <a:off x="7061030" y="2542729"/>
            <a:ext cx="1831444" cy="6104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重试间隔时间，默认值</a:t>
            </a:r>
            <a:r>
              <a:rPr lang="en-US" altLang="zh-CN" sz="1200" dirty="0">
                <a:solidFill>
                  <a:schemeClr val="tx1"/>
                </a:solidFill>
              </a:rPr>
              <a:t>100ms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retryBackoffMs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CF3E8816-3C58-4268-92EE-C9C13A8B80BF}"/>
              </a:ext>
            </a:extLst>
          </p:cNvPr>
          <p:cNvCxnSpPr>
            <a:stCxn id="12" idx="3"/>
            <a:endCxn id="7" idx="1"/>
          </p:cNvCxnSpPr>
          <p:nvPr/>
        </p:nvCxnSpPr>
        <p:spPr>
          <a:xfrm flipV="1">
            <a:off x="2177480" y="770970"/>
            <a:ext cx="308573" cy="17628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E2FC3AF-6701-4C1B-A1BC-50832CAB136F}"/>
              </a:ext>
            </a:extLst>
          </p:cNvPr>
          <p:cNvCxnSpPr>
            <a:endCxn id="8" idx="0"/>
          </p:cNvCxnSpPr>
          <p:nvPr/>
        </p:nvCxnSpPr>
        <p:spPr>
          <a:xfrm>
            <a:off x="3242132" y="986413"/>
            <a:ext cx="1" cy="197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FCB9F6E-10C2-4D6A-8D32-90DC4FE6026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3242133" y="1615098"/>
            <a:ext cx="4" cy="197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2DE5D39-B690-48B8-8E9E-7D7F7CA4F9AB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3242137" y="2243783"/>
            <a:ext cx="1714" cy="197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9A5FD0A-CAEE-4950-B7D0-A1E7932D122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3242136" y="2872468"/>
            <a:ext cx="1715" cy="197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2DFDF28-24A0-478E-87F2-679257BC076E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 flipH="1">
            <a:off x="3242134" y="3680722"/>
            <a:ext cx="2" cy="197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4E3BBC8-B251-407E-BBA1-1E846F79D3D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3242134" y="4309407"/>
            <a:ext cx="0" cy="197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B5E5B149-6E79-4E97-B2FA-BA337D21B9E3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3998218" y="770970"/>
            <a:ext cx="645795" cy="405438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5B02089-66A7-4F9F-9DBE-D969733F52F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5616119" y="986413"/>
            <a:ext cx="0" cy="372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688336D-857F-4270-A9E2-5B656E7BDD44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5616118" y="1790150"/>
            <a:ext cx="1" cy="372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F9822C9-0009-42B2-A071-821DEFC35D9A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5616117" y="2737305"/>
            <a:ext cx="1" cy="372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41333D9-0502-411C-91F7-04B64C515966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5616117" y="3541042"/>
            <a:ext cx="0" cy="372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7E756BF-AFAE-42FA-A510-CF2670DC102E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5616117" y="4344779"/>
            <a:ext cx="2678" cy="372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7A84F32-B6F7-46A6-9EF0-9B33C5DA71F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6588226" y="874662"/>
            <a:ext cx="472803" cy="700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D8CF568-2A3F-480D-86C2-7ADFA2A0500E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6588226" y="1571627"/>
            <a:ext cx="472804" cy="3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71565A4-15DE-442A-AD7B-93498342ED82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6588226" y="1574707"/>
            <a:ext cx="472804" cy="590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604EBE5-ED36-4C65-A126-16A1B40FEC0A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6588226" y="1574707"/>
            <a:ext cx="472804" cy="1273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913C2DA9-2024-4679-B50E-90A894763A50}"/>
              </a:ext>
            </a:extLst>
          </p:cNvPr>
          <p:cNvSpPr txBox="1"/>
          <p:nvPr/>
        </p:nvSpPr>
        <p:spPr>
          <a:xfrm>
            <a:off x="467542" y="0"/>
            <a:ext cx="2520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生产者</a:t>
            </a:r>
            <a:r>
              <a:rPr lang="en-US" altLang="zh-CN" dirty="0">
                <a:solidFill>
                  <a:srgbClr val="FF0000"/>
                </a:solidFill>
              </a:rPr>
              <a:t>main</a:t>
            </a:r>
            <a:r>
              <a:rPr lang="zh-CN" altLang="en-US" dirty="0">
                <a:solidFill>
                  <a:srgbClr val="FF0000"/>
                </a:solidFill>
              </a:rPr>
              <a:t>线程初始化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86490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6699CF-C49B-4A2E-A427-8661560CDB72}"/>
              </a:ext>
            </a:extLst>
          </p:cNvPr>
          <p:cNvSpPr txBox="1"/>
          <p:nvPr/>
        </p:nvSpPr>
        <p:spPr>
          <a:xfrm>
            <a:off x="467542" y="0"/>
            <a:ext cx="28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生产者</a:t>
            </a:r>
            <a:r>
              <a:rPr lang="en-US" altLang="zh-CN" dirty="0">
                <a:solidFill>
                  <a:srgbClr val="FF0000"/>
                </a:solidFill>
              </a:rPr>
              <a:t>sender</a:t>
            </a:r>
            <a:r>
              <a:rPr lang="zh-CN" altLang="en-US" dirty="0">
                <a:solidFill>
                  <a:srgbClr val="FF0000"/>
                </a:solidFill>
              </a:rPr>
              <a:t>线程初始化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82410F-D38D-4146-83D8-1C7273FEC171}"/>
              </a:ext>
            </a:extLst>
          </p:cNvPr>
          <p:cNvSpPr txBox="1"/>
          <p:nvPr/>
        </p:nvSpPr>
        <p:spPr>
          <a:xfrm>
            <a:off x="66786" y="555526"/>
            <a:ext cx="1853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、初始化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sender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线程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this.sender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newSender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A75BE6-B9D7-46E2-BF3E-E3FC575BE72F}"/>
              </a:ext>
            </a:extLst>
          </p:cNvPr>
          <p:cNvSpPr txBox="1"/>
          <p:nvPr/>
        </p:nvSpPr>
        <p:spPr>
          <a:xfrm>
            <a:off x="35496" y="3576186"/>
            <a:ext cx="2060103" cy="1444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、启动</a:t>
            </a:r>
            <a:r>
              <a:rPr lang="en-US" altLang="zh-CN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sender</a:t>
            </a:r>
            <a:r>
              <a:rPr lang="zh-CN" altLang="en-US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线程</a:t>
            </a:r>
            <a:endParaRPr lang="en-US" altLang="zh-CN" sz="12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this.ioThread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= new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KafkaThread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ioThreadName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2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this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12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sender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true);</a:t>
            </a:r>
            <a:endParaRPr lang="zh-CN" altLang="zh-CN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this.ioThread.</a:t>
            </a:r>
            <a:r>
              <a:rPr lang="en-US" altLang="zh-CN" sz="12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</a:t>
            </a:r>
            <a:r>
              <a:rPr lang="en-US" altLang="zh-CN" sz="12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();</a:t>
            </a:r>
            <a:endParaRPr lang="zh-CN" altLang="zh-CN" sz="1200" kern="1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D4EA03-9EC0-43FA-8371-E7F1DF3661A3}"/>
              </a:ext>
            </a:extLst>
          </p:cNvPr>
          <p:cNvSpPr/>
          <p:nvPr/>
        </p:nvSpPr>
        <p:spPr>
          <a:xfrm>
            <a:off x="6983760" y="584577"/>
            <a:ext cx="2160240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缓存的发送请求，默认值是</a:t>
            </a:r>
            <a:r>
              <a:rPr lang="en-US" altLang="zh-CN" sz="1200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maxInflightRequests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5B2584-62E2-4C3C-B75D-69E998D5860D}"/>
              </a:ext>
            </a:extLst>
          </p:cNvPr>
          <p:cNvSpPr/>
          <p:nvPr/>
        </p:nvSpPr>
        <p:spPr>
          <a:xfrm>
            <a:off x="6983868" y="1088164"/>
            <a:ext cx="2160240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请求超时时间，默认是</a:t>
            </a:r>
            <a:r>
              <a:rPr lang="en-US" altLang="zh-CN" sz="1200" dirty="0">
                <a:solidFill>
                  <a:schemeClr val="tx1"/>
                </a:solidFill>
              </a:rPr>
              <a:t>30s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requestTimeoutMs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4CCD38-BA67-42D6-933A-B40C34DE93ED}"/>
              </a:ext>
            </a:extLst>
          </p:cNvPr>
          <p:cNvSpPr/>
          <p:nvPr/>
        </p:nvSpPr>
        <p:spPr>
          <a:xfrm>
            <a:off x="2084053" y="570914"/>
            <a:ext cx="1995131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创建网络请求客户端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new </a:t>
            </a:r>
            <a:r>
              <a:rPr lang="en-US" altLang="zh-CN" sz="1200" dirty="0" err="1">
                <a:solidFill>
                  <a:schemeClr val="tx1"/>
                </a:solidFill>
              </a:rPr>
              <a:t>NetworkClient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898933-DA94-4864-B038-6B5AAAAB3354}"/>
              </a:ext>
            </a:extLst>
          </p:cNvPr>
          <p:cNvSpPr/>
          <p:nvPr/>
        </p:nvSpPr>
        <p:spPr>
          <a:xfrm>
            <a:off x="2084053" y="1694676"/>
            <a:ext cx="1995131" cy="430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配置应答级别（</a:t>
            </a:r>
            <a:r>
              <a:rPr lang="en-US" altLang="zh-CN" sz="1200" dirty="0">
                <a:solidFill>
                  <a:schemeClr val="tx1"/>
                </a:solidFill>
              </a:rPr>
              <a:t>0</a:t>
            </a:r>
            <a:r>
              <a:rPr lang="zh-CN" altLang="en-US" sz="1200" dirty="0">
                <a:solidFill>
                  <a:schemeClr val="tx1"/>
                </a:solidFill>
              </a:rPr>
              <a:t>，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r>
              <a:rPr lang="zh-CN" altLang="en-US" sz="1200" dirty="0">
                <a:solidFill>
                  <a:schemeClr val="tx1"/>
                </a:solidFill>
              </a:rPr>
              <a:t>，</a:t>
            </a:r>
            <a:r>
              <a:rPr lang="en-US" altLang="zh-CN" sz="1200" dirty="0">
                <a:solidFill>
                  <a:schemeClr val="tx1"/>
                </a:solidFill>
              </a:rPr>
              <a:t>-1</a:t>
            </a:r>
            <a:r>
              <a:rPr lang="zh-CN" altLang="en-US" sz="1200" dirty="0">
                <a:solidFill>
                  <a:schemeClr val="tx1"/>
                </a:solidFill>
              </a:rPr>
              <a:t>）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configureAcks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74E2F1-6027-4AF6-A6F2-020B5C4D6867}"/>
              </a:ext>
            </a:extLst>
          </p:cNvPr>
          <p:cNvSpPr/>
          <p:nvPr/>
        </p:nvSpPr>
        <p:spPr>
          <a:xfrm>
            <a:off x="2084053" y="2818438"/>
            <a:ext cx="1995131" cy="430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创建</a:t>
            </a:r>
            <a:r>
              <a:rPr lang="en-US" altLang="zh-CN" sz="1200" dirty="0">
                <a:solidFill>
                  <a:schemeClr val="tx1"/>
                </a:solidFill>
              </a:rPr>
              <a:t>sender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new Sender()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F81E26-72A6-420A-B302-65ACC8533917}"/>
              </a:ext>
            </a:extLst>
          </p:cNvPr>
          <p:cNvSpPr/>
          <p:nvPr/>
        </p:nvSpPr>
        <p:spPr>
          <a:xfrm>
            <a:off x="6984085" y="1591751"/>
            <a:ext cx="2160240" cy="6192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socket</a:t>
            </a:r>
            <a:r>
              <a:rPr lang="zh-CN" altLang="en-US" sz="1200" dirty="0">
                <a:solidFill>
                  <a:schemeClr val="tx1"/>
                </a:solidFill>
              </a:rPr>
              <a:t>发送数据的缓冲区大小，默认值</a:t>
            </a:r>
            <a:r>
              <a:rPr lang="en-US" altLang="zh-CN" sz="1200" dirty="0">
                <a:solidFill>
                  <a:schemeClr val="tx1"/>
                </a:solidFill>
              </a:rPr>
              <a:t>128k</a:t>
            </a:r>
            <a:r>
              <a:rPr lang="zh-CN" altLang="en-US" sz="1200" dirty="0">
                <a:solidFill>
                  <a:schemeClr val="tx1"/>
                </a:solidFill>
              </a:rPr>
              <a:t>。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send.buffer.bytes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D597A9-C5E5-4761-8265-4F9564E082E1}"/>
              </a:ext>
            </a:extLst>
          </p:cNvPr>
          <p:cNvSpPr/>
          <p:nvPr/>
        </p:nvSpPr>
        <p:spPr>
          <a:xfrm>
            <a:off x="6983976" y="2283718"/>
            <a:ext cx="2160240" cy="6192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socket</a:t>
            </a:r>
            <a:r>
              <a:rPr lang="zh-CN" altLang="en-US" sz="1200" dirty="0">
                <a:solidFill>
                  <a:schemeClr val="tx1"/>
                </a:solidFill>
              </a:rPr>
              <a:t>接收数据的缓冲区大小，默认值</a:t>
            </a:r>
            <a:r>
              <a:rPr lang="en-US" altLang="zh-CN" sz="1200" dirty="0">
                <a:solidFill>
                  <a:schemeClr val="tx1"/>
                </a:solidFill>
              </a:rPr>
              <a:t>32k</a:t>
            </a:r>
            <a:r>
              <a:rPr lang="zh-CN" altLang="en-US" sz="1200" dirty="0">
                <a:solidFill>
                  <a:schemeClr val="tx1"/>
                </a:solidFill>
              </a:rPr>
              <a:t>。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receive.buffer.bytes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E17D11-1BDB-4D33-B422-DE3BD8AFB5FA}"/>
              </a:ext>
            </a:extLst>
          </p:cNvPr>
          <p:cNvSpPr/>
          <p:nvPr/>
        </p:nvSpPr>
        <p:spPr>
          <a:xfrm>
            <a:off x="4283968" y="2344999"/>
            <a:ext cx="2160240" cy="6192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生产者发往</a:t>
            </a:r>
            <a:r>
              <a:rPr lang="en-US" altLang="zh-CN" sz="1200" dirty="0">
                <a:solidFill>
                  <a:schemeClr val="tx1"/>
                </a:solidFill>
              </a:rPr>
              <a:t>Kafka</a:t>
            </a:r>
            <a:r>
              <a:rPr lang="zh-CN" altLang="en-US" sz="1200" dirty="0">
                <a:solidFill>
                  <a:schemeClr val="tx1"/>
                </a:solidFill>
              </a:rPr>
              <a:t>集群单条信息的最大值，默认值</a:t>
            </a:r>
            <a:r>
              <a:rPr lang="en-US" altLang="zh-CN" sz="1200" dirty="0">
                <a:solidFill>
                  <a:schemeClr val="tx1"/>
                </a:solidFill>
              </a:rPr>
              <a:t>1m</a:t>
            </a:r>
            <a:r>
              <a:rPr lang="zh-CN" altLang="en-US" sz="1200" dirty="0">
                <a:solidFill>
                  <a:schemeClr val="tx1"/>
                </a:solidFill>
              </a:rPr>
              <a:t>。 </a:t>
            </a:r>
            <a:r>
              <a:rPr lang="en-US" altLang="zh-CN" sz="1200" dirty="0" err="1">
                <a:solidFill>
                  <a:schemeClr val="tx1"/>
                </a:solidFill>
              </a:rPr>
              <a:t>max.request.size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480611-3B0E-400F-B0C3-DF6E13EE09AA}"/>
              </a:ext>
            </a:extLst>
          </p:cNvPr>
          <p:cNvSpPr/>
          <p:nvPr/>
        </p:nvSpPr>
        <p:spPr>
          <a:xfrm>
            <a:off x="4283968" y="3104610"/>
            <a:ext cx="2160240" cy="6192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重试次数，默认值</a:t>
            </a:r>
            <a:r>
              <a:rPr lang="en-US" altLang="zh-CN" sz="1200" dirty="0">
                <a:solidFill>
                  <a:schemeClr val="tx1"/>
                </a:solidFill>
              </a:rPr>
              <a:t>Int</a:t>
            </a:r>
            <a:r>
              <a:rPr lang="zh-CN" altLang="en-US" sz="1200" dirty="0">
                <a:solidFill>
                  <a:schemeClr val="tx1"/>
                </a:solidFill>
              </a:rPr>
              <a:t>的最大值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retries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A6D9103-9D9D-4AC8-B259-252DCC2B02F2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920738" y="786358"/>
            <a:ext cx="1633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751FD55-D51E-4539-A251-D31D94D66748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4079184" y="786358"/>
            <a:ext cx="2904576" cy="1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F908DFC-82B8-4452-AC5A-239C5FD2E359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4079184" y="786358"/>
            <a:ext cx="2904684" cy="517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CD34967-059E-461E-AF0F-6DBA4F57029F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4079184" y="786358"/>
            <a:ext cx="2904901" cy="1115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B3E6187-3954-4113-924F-B166A90EB565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4079184" y="786358"/>
            <a:ext cx="2904792" cy="1806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3B5730D-5AAE-4FB9-A976-30710724716B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081619" y="1001801"/>
            <a:ext cx="0" cy="692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752C55-E867-4230-926C-C19E918F263F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081619" y="2125563"/>
            <a:ext cx="0" cy="692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D54C00D-2507-4258-B8B2-49E9E2B2974D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4079184" y="2654633"/>
            <a:ext cx="204784" cy="379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C79ABD0-87E1-4136-89B4-9CDB4CD17234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4079184" y="3033882"/>
            <a:ext cx="204784" cy="380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2939FC1-9149-43D6-8BBA-C52BA5099600}"/>
              </a:ext>
            </a:extLst>
          </p:cNvPr>
          <p:cNvSpPr txBox="1"/>
          <p:nvPr/>
        </p:nvSpPr>
        <p:spPr>
          <a:xfrm>
            <a:off x="2803920" y="3723878"/>
            <a:ext cx="63400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@Override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public void run() {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while (running) {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	// sender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线程从缓冲区准备拉取数据，刚启动拉不到数据</a:t>
            </a:r>
          </a:p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runOnce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();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}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sz="1200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8D880B26-5B1C-496F-81B5-8ECE96E46873}"/>
              </a:ext>
            </a:extLst>
          </p:cNvPr>
          <p:cNvSpPr/>
          <p:nvPr/>
        </p:nvSpPr>
        <p:spPr>
          <a:xfrm>
            <a:off x="2095599" y="4298242"/>
            <a:ext cx="532185" cy="27434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07823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0E7AF5-4FC5-44DF-837D-4C417CC50C6E}"/>
              </a:ext>
            </a:extLst>
          </p:cNvPr>
          <p:cNvSpPr txBox="1"/>
          <p:nvPr/>
        </p:nvSpPr>
        <p:spPr>
          <a:xfrm>
            <a:off x="107504" y="555526"/>
            <a:ext cx="15121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用户自定义生产者</a:t>
            </a:r>
            <a:endParaRPr lang="en-US" altLang="zh-CN" sz="11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CustomProducer.java </a:t>
            </a:r>
            <a:endParaRPr lang="zh-CN" altLang="en-US" sz="11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01940A7-8963-4128-B06D-3FABA4B7D9C0}"/>
              </a:ext>
            </a:extLst>
          </p:cNvPr>
          <p:cNvCxnSpPr>
            <a:cxnSpLocks/>
          </p:cNvCxnSpPr>
          <p:nvPr/>
        </p:nvCxnSpPr>
        <p:spPr>
          <a:xfrm>
            <a:off x="323528" y="986413"/>
            <a:ext cx="0" cy="289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325CB39-8BE3-4A78-99AC-147BD8A85854}"/>
              </a:ext>
            </a:extLst>
          </p:cNvPr>
          <p:cNvSpPr txBox="1"/>
          <p:nvPr/>
        </p:nvSpPr>
        <p:spPr>
          <a:xfrm>
            <a:off x="309331" y="1251926"/>
            <a:ext cx="5182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main</a:t>
            </a:r>
            <a:endParaRPr lang="zh-CN" altLang="en-US" sz="12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1B74E16-A38A-4358-8C2A-E4DD17622A0B}"/>
              </a:ext>
            </a:extLst>
          </p:cNvPr>
          <p:cNvCxnSpPr>
            <a:cxnSpLocks/>
          </p:cNvCxnSpPr>
          <p:nvPr/>
        </p:nvCxnSpPr>
        <p:spPr>
          <a:xfrm>
            <a:off x="467544" y="1528925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1E9AE76-22E8-49EB-B9C5-9C1E86AF9293}"/>
              </a:ext>
            </a:extLst>
          </p:cNvPr>
          <p:cNvSpPr txBox="1"/>
          <p:nvPr/>
        </p:nvSpPr>
        <p:spPr>
          <a:xfrm>
            <a:off x="436292" y="1682956"/>
            <a:ext cx="1759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创建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生产者对象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new 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KafkaProducer</a:t>
            </a:r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6C8F08-D1DB-4224-ACFC-71A39B386F8B}"/>
              </a:ext>
            </a:extLst>
          </p:cNvPr>
          <p:cNvSpPr/>
          <p:nvPr/>
        </p:nvSpPr>
        <p:spPr>
          <a:xfrm>
            <a:off x="2486054" y="555526"/>
            <a:ext cx="3177720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拦截器的</a:t>
            </a:r>
            <a:r>
              <a:rPr lang="en-US" altLang="zh-CN" sz="1200" dirty="0">
                <a:solidFill>
                  <a:schemeClr val="tx1"/>
                </a:solidFill>
              </a:rPr>
              <a:t>send</a:t>
            </a:r>
            <a:r>
              <a:rPr lang="zh-CN" altLang="en-US" sz="1200" dirty="0">
                <a:solidFill>
                  <a:schemeClr val="tx1"/>
                </a:solidFill>
              </a:rPr>
              <a:t>处理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this.interceptors.onSend</a:t>
            </a:r>
            <a:r>
              <a:rPr lang="en-US" altLang="zh-CN" sz="1200" dirty="0">
                <a:solidFill>
                  <a:schemeClr val="tx1"/>
                </a:solidFill>
              </a:rPr>
              <a:t>(record)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B3E931-C177-408B-A4CC-D6329A70CBB6}"/>
              </a:ext>
            </a:extLst>
          </p:cNvPr>
          <p:cNvCxnSpPr>
            <a:cxnSpLocks/>
          </p:cNvCxnSpPr>
          <p:nvPr/>
        </p:nvCxnSpPr>
        <p:spPr>
          <a:xfrm>
            <a:off x="559136" y="2144621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74E186B-352A-4B15-A914-BB80C6EBC75A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2059138" y="770970"/>
            <a:ext cx="426916" cy="18931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A341150-0A7E-4E06-A9F3-F689BD999013}"/>
              </a:ext>
            </a:extLst>
          </p:cNvPr>
          <p:cNvSpPr txBox="1"/>
          <p:nvPr/>
        </p:nvSpPr>
        <p:spPr>
          <a:xfrm>
            <a:off x="467543" y="0"/>
            <a:ext cx="201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发送数据到缓冲区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D57617-40E1-48F2-892E-C868B17A633B}"/>
              </a:ext>
            </a:extLst>
          </p:cNvPr>
          <p:cNvSpPr txBox="1"/>
          <p:nvPr/>
        </p:nvSpPr>
        <p:spPr>
          <a:xfrm>
            <a:off x="449228" y="2433250"/>
            <a:ext cx="1609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发送数据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kafkaProducer.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send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sz="1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592D44-20CF-45D1-927A-B9EEE49F5AF5}"/>
              </a:ext>
            </a:extLst>
          </p:cNvPr>
          <p:cNvSpPr/>
          <p:nvPr/>
        </p:nvSpPr>
        <p:spPr>
          <a:xfrm>
            <a:off x="2484279" y="1170631"/>
            <a:ext cx="1007602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doSend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56CC1C-24E3-4C3F-AD3B-9C11EA23E657}"/>
              </a:ext>
            </a:extLst>
          </p:cNvPr>
          <p:cNvSpPr/>
          <p:nvPr/>
        </p:nvSpPr>
        <p:spPr>
          <a:xfrm>
            <a:off x="6662517" y="555525"/>
            <a:ext cx="1797915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每个拦截器的</a:t>
            </a:r>
            <a:r>
              <a:rPr lang="en-US" altLang="zh-CN" sz="1200" dirty="0">
                <a:solidFill>
                  <a:schemeClr val="tx1"/>
                </a:solidFill>
              </a:rPr>
              <a:t>send</a:t>
            </a:r>
            <a:r>
              <a:rPr lang="zh-CN" altLang="en-US" sz="1200" dirty="0">
                <a:solidFill>
                  <a:schemeClr val="tx1"/>
                </a:solidFill>
              </a:rPr>
              <a:t>处理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interceptor.onSend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BD3F7B3-EA38-4740-895D-BFBDA7273B8B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5663774" y="770969"/>
            <a:ext cx="99874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2726375C-53AF-4C3E-A7AD-A8AC3C4D6A7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059138" y="1386075"/>
            <a:ext cx="425141" cy="127800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4E4191F1-36C7-4BEF-B7F8-75E7197F038C}"/>
              </a:ext>
            </a:extLst>
          </p:cNvPr>
          <p:cNvSpPr/>
          <p:nvPr/>
        </p:nvSpPr>
        <p:spPr>
          <a:xfrm>
            <a:off x="3781056" y="1170630"/>
            <a:ext cx="1883863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获取元数据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waitOnMetadata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1DB12A-9B8E-4285-A094-E473ECD963DB}"/>
              </a:ext>
            </a:extLst>
          </p:cNvPr>
          <p:cNvSpPr/>
          <p:nvPr/>
        </p:nvSpPr>
        <p:spPr>
          <a:xfrm>
            <a:off x="3781057" y="1813450"/>
            <a:ext cx="1883864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序列化操作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serializedKey</a:t>
            </a:r>
            <a:r>
              <a:rPr lang="en-US" altLang="zh-CN" sz="1200" dirty="0">
                <a:solidFill>
                  <a:schemeClr val="tx1"/>
                </a:solidFill>
              </a:rPr>
              <a:t>/value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2E8D0E-60E2-4F24-A8AE-0930ADE4AE7F}"/>
              </a:ext>
            </a:extLst>
          </p:cNvPr>
          <p:cNvSpPr/>
          <p:nvPr/>
        </p:nvSpPr>
        <p:spPr>
          <a:xfrm>
            <a:off x="3781057" y="2456270"/>
            <a:ext cx="1883862" cy="43088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分区操作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partition()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3B250-2077-431C-A0FA-841D3F89F411}"/>
              </a:ext>
            </a:extLst>
          </p:cNvPr>
          <p:cNvSpPr/>
          <p:nvPr/>
        </p:nvSpPr>
        <p:spPr>
          <a:xfrm>
            <a:off x="3781056" y="3099090"/>
            <a:ext cx="1883861" cy="6212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校验发送信息是否超过最大值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ensureValidRecordSize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83ACE3-446F-473E-9FBE-E64C4460DDA3}"/>
              </a:ext>
            </a:extLst>
          </p:cNvPr>
          <p:cNvSpPr/>
          <p:nvPr/>
        </p:nvSpPr>
        <p:spPr>
          <a:xfrm>
            <a:off x="3779912" y="3932272"/>
            <a:ext cx="1883861" cy="430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向缓冲区发送数据</a:t>
            </a:r>
            <a:r>
              <a:rPr lang="en-US" altLang="zh-CN" sz="1200" dirty="0" err="1">
                <a:solidFill>
                  <a:schemeClr val="tx1"/>
                </a:solidFill>
              </a:rPr>
              <a:t>accumulator.append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A82B156-0B2B-47B3-A4A9-F7C2E87F177D}"/>
              </a:ext>
            </a:extLst>
          </p:cNvPr>
          <p:cNvSpPr/>
          <p:nvPr/>
        </p:nvSpPr>
        <p:spPr>
          <a:xfrm>
            <a:off x="3779912" y="4575091"/>
            <a:ext cx="1883861" cy="5684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发送条件满足了，唤醒发送线程</a:t>
            </a:r>
            <a:r>
              <a:rPr lang="en-US" altLang="zh-CN" sz="1200" dirty="0" err="1">
                <a:solidFill>
                  <a:schemeClr val="tx1"/>
                </a:solidFill>
              </a:rPr>
              <a:t>this.sender.wakeup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1985B9F-0AE6-4918-92E1-AE61140000EA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3491881" y="1386074"/>
            <a:ext cx="2891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83785C0-CB52-417E-B84A-19848B116B2A}"/>
              </a:ext>
            </a:extLst>
          </p:cNvPr>
          <p:cNvSpPr txBox="1"/>
          <p:nvPr/>
        </p:nvSpPr>
        <p:spPr>
          <a:xfrm>
            <a:off x="5931401" y="2533213"/>
            <a:ext cx="30551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指定分区；指定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key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；都没指定，粘性分区</a:t>
            </a:r>
            <a:endParaRPr lang="zh-CN" altLang="en-US" sz="1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F8D001D-888C-4342-B1BB-5672641E091A}"/>
              </a:ext>
            </a:extLst>
          </p:cNvPr>
          <p:cNvSpPr txBox="1"/>
          <p:nvPr/>
        </p:nvSpPr>
        <p:spPr>
          <a:xfrm>
            <a:off x="5940152" y="3041613"/>
            <a:ext cx="288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一次请求获取消息的最大值，默认是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1m</a:t>
            </a:r>
            <a:endParaRPr lang="zh-CN" altLang="en-US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F33F43-6131-4CF5-B21E-E3DD8E43E4EB}"/>
              </a:ext>
            </a:extLst>
          </p:cNvPr>
          <p:cNvSpPr txBox="1"/>
          <p:nvPr/>
        </p:nvSpPr>
        <p:spPr>
          <a:xfrm>
            <a:off x="5940152" y="3446879"/>
            <a:ext cx="22194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缓冲区内存总大小，默认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32m</a:t>
            </a:r>
            <a:endParaRPr lang="zh-CN" altLang="en-US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FBA96F-3AEE-408B-BEF8-C4ED9DA0C4C7}"/>
              </a:ext>
            </a:extLst>
          </p:cNvPr>
          <p:cNvSpPr txBox="1"/>
          <p:nvPr/>
        </p:nvSpPr>
        <p:spPr>
          <a:xfrm>
            <a:off x="5940477" y="4009215"/>
            <a:ext cx="15118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双端队列，</a:t>
            </a:r>
            <a:r>
              <a:rPr lang="zh-CN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内存池</a:t>
            </a:r>
            <a:endParaRPr lang="zh-CN" altLang="en-US" sz="12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2D6AFDA-183A-4391-84A1-56134FC3E26D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 flipV="1">
            <a:off x="5664919" y="2671713"/>
            <a:ext cx="26648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9EF70D5-2F97-4284-A87C-3EB11719B12A}"/>
              </a:ext>
            </a:extLst>
          </p:cNvPr>
          <p:cNvCxnSpPr>
            <a:stCxn id="19" idx="3"/>
            <a:endCxn id="24" idx="1"/>
          </p:cNvCxnSpPr>
          <p:nvPr/>
        </p:nvCxnSpPr>
        <p:spPr>
          <a:xfrm flipV="1">
            <a:off x="5664917" y="3180113"/>
            <a:ext cx="275235" cy="229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837240A-60CF-4134-B44C-8F69289EAAC2}"/>
              </a:ext>
            </a:extLst>
          </p:cNvPr>
          <p:cNvCxnSpPr>
            <a:stCxn id="19" idx="3"/>
            <a:endCxn id="25" idx="1"/>
          </p:cNvCxnSpPr>
          <p:nvPr/>
        </p:nvCxnSpPr>
        <p:spPr>
          <a:xfrm>
            <a:off x="5664917" y="3409715"/>
            <a:ext cx="275235" cy="175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4BB490A-93C2-4003-9D32-52078591A33C}"/>
              </a:ext>
            </a:extLst>
          </p:cNvPr>
          <p:cNvCxnSpPr>
            <a:cxnSpLocks/>
            <a:stCxn id="20" idx="3"/>
            <a:endCxn id="26" idx="1"/>
          </p:cNvCxnSpPr>
          <p:nvPr/>
        </p:nvCxnSpPr>
        <p:spPr>
          <a:xfrm flipV="1">
            <a:off x="5663773" y="4147715"/>
            <a:ext cx="2767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59D522F-5361-44C5-9A75-24923D51C156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722988" y="1601517"/>
            <a:ext cx="1" cy="211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4F34576-A7A8-4270-91D3-B6E4212FA578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4722988" y="2244337"/>
            <a:ext cx="1" cy="211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BDA605C2-E8E5-4950-B85E-4C51726629F6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4722987" y="2887157"/>
            <a:ext cx="1" cy="211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9B3D119-872B-4ED3-9580-A59943C485E1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 flipH="1">
            <a:off x="4721843" y="3720339"/>
            <a:ext cx="1144" cy="211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894071E-87B6-440F-8180-947745E215FC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4721843" y="4363159"/>
            <a:ext cx="0" cy="211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64794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 animBg="1"/>
      <p:bldP spid="11" grpId="0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/>
      <p:bldP spid="24" grpId="0"/>
      <p:bldP spid="25" grpId="0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C509D1E-65C9-48A7-A602-53A299D0E34F}"/>
              </a:ext>
            </a:extLst>
          </p:cNvPr>
          <p:cNvCxnSpPr>
            <a:cxnSpLocks/>
          </p:cNvCxnSpPr>
          <p:nvPr/>
        </p:nvCxnSpPr>
        <p:spPr>
          <a:xfrm>
            <a:off x="323528" y="986413"/>
            <a:ext cx="0" cy="289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5571DAD-09A5-46A5-9FB3-2E4430797178}"/>
              </a:ext>
            </a:extLst>
          </p:cNvPr>
          <p:cNvSpPr txBox="1"/>
          <p:nvPr/>
        </p:nvSpPr>
        <p:spPr>
          <a:xfrm>
            <a:off x="179512" y="508575"/>
            <a:ext cx="1759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唤醒发送请求</a:t>
            </a:r>
            <a:endParaRPr lang="en-US" altLang="zh-CN" sz="1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this.sender.wakeup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();</a:t>
            </a:r>
            <a:endParaRPr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DE6BBD-68DC-4FF6-A6F7-8C905488A20D}"/>
              </a:ext>
            </a:extLst>
          </p:cNvPr>
          <p:cNvSpPr txBox="1"/>
          <p:nvPr/>
        </p:nvSpPr>
        <p:spPr>
          <a:xfrm>
            <a:off x="467542" y="0"/>
            <a:ext cx="2376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sender</a:t>
            </a:r>
            <a:r>
              <a:rPr lang="zh-CN" altLang="en-US" dirty="0">
                <a:solidFill>
                  <a:srgbClr val="FF0000"/>
                </a:solidFill>
              </a:rPr>
              <a:t>线程发送数据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CC0109-F8CE-441F-90BE-4CB4B7BCBF95}"/>
              </a:ext>
            </a:extLst>
          </p:cNvPr>
          <p:cNvSpPr txBox="1"/>
          <p:nvPr/>
        </p:nvSpPr>
        <p:spPr>
          <a:xfrm>
            <a:off x="215087" y="1275606"/>
            <a:ext cx="17238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@Override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public void run() {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while (running) {</a:t>
            </a:r>
          </a:p>
          <a:p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runOnce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();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}</a:t>
            </a: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55A397-B6DF-4758-AD23-FB830D2246FE}"/>
              </a:ext>
            </a:extLst>
          </p:cNvPr>
          <p:cNvSpPr/>
          <p:nvPr/>
        </p:nvSpPr>
        <p:spPr>
          <a:xfrm>
            <a:off x="215087" y="2985303"/>
            <a:ext cx="1512168" cy="5922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将准备好的数据发送到服务器端</a:t>
            </a:r>
            <a:r>
              <a:rPr lang="en-US" altLang="zh-CN" sz="1200" dirty="0" err="1">
                <a:solidFill>
                  <a:schemeClr val="tx1"/>
                </a:solidFill>
              </a:rPr>
              <a:t>sendProducerData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6A848D-FFD8-4EB6-8B36-04A8874EA444}"/>
              </a:ext>
            </a:extLst>
          </p:cNvPr>
          <p:cNvSpPr/>
          <p:nvPr/>
        </p:nvSpPr>
        <p:spPr>
          <a:xfrm>
            <a:off x="215087" y="4296564"/>
            <a:ext cx="1512165" cy="430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等待发送响应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client.poll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2F0C3A-AA62-4774-9CA5-72276E13C089}"/>
              </a:ext>
            </a:extLst>
          </p:cNvPr>
          <p:cNvSpPr/>
          <p:nvPr/>
        </p:nvSpPr>
        <p:spPr>
          <a:xfrm>
            <a:off x="2267746" y="555526"/>
            <a:ext cx="1992233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获取元数据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metadata.fetch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769669-0203-42F1-BEDA-5DE7AF693FC9}"/>
              </a:ext>
            </a:extLst>
          </p:cNvPr>
          <p:cNvSpPr/>
          <p:nvPr/>
        </p:nvSpPr>
        <p:spPr>
          <a:xfrm>
            <a:off x="2267746" y="1350330"/>
            <a:ext cx="1992233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检查</a:t>
            </a:r>
            <a:r>
              <a:rPr lang="en-US" altLang="zh-CN" sz="1200" dirty="0">
                <a:solidFill>
                  <a:schemeClr val="tx1"/>
                </a:solidFill>
              </a:rPr>
              <a:t>32m</a:t>
            </a:r>
            <a:r>
              <a:rPr lang="zh-CN" altLang="en-US" sz="1200" dirty="0">
                <a:solidFill>
                  <a:schemeClr val="tx1"/>
                </a:solidFill>
              </a:rPr>
              <a:t>缓存是否准备好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this.accumulator.ready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38FDCB-C141-4676-9DEB-5E04E7ECD706}"/>
              </a:ext>
            </a:extLst>
          </p:cNvPr>
          <p:cNvSpPr/>
          <p:nvPr/>
        </p:nvSpPr>
        <p:spPr>
          <a:xfrm>
            <a:off x="2267746" y="2145134"/>
            <a:ext cx="1992233" cy="6001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发往同一个</a:t>
            </a:r>
            <a:r>
              <a:rPr lang="en-US" altLang="zh-CN" sz="1200" dirty="0">
                <a:solidFill>
                  <a:schemeClr val="tx1"/>
                </a:solidFill>
              </a:rPr>
              <a:t>broker</a:t>
            </a:r>
            <a:r>
              <a:rPr lang="zh-CN" altLang="en-US" sz="1200" dirty="0">
                <a:solidFill>
                  <a:schemeClr val="tx1"/>
                </a:solidFill>
              </a:rPr>
              <a:t>节点的数据，打包为一个请求批次</a:t>
            </a:r>
            <a:r>
              <a:rPr lang="en-US" altLang="zh-CN" sz="1200" dirty="0" err="1">
                <a:solidFill>
                  <a:schemeClr val="tx1"/>
                </a:solidFill>
              </a:rPr>
              <a:t>this.accumulator.drain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E5717D-AC8C-4E6F-85C0-B71005174AA6}"/>
              </a:ext>
            </a:extLst>
          </p:cNvPr>
          <p:cNvSpPr/>
          <p:nvPr/>
        </p:nvSpPr>
        <p:spPr>
          <a:xfrm>
            <a:off x="2267745" y="3109217"/>
            <a:ext cx="1992233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发送请求</a:t>
            </a:r>
            <a:r>
              <a:rPr lang="en-US" altLang="zh-CN" sz="1200" dirty="0" err="1">
                <a:solidFill>
                  <a:schemeClr val="tx1"/>
                </a:solidFill>
              </a:rPr>
              <a:t>sendProduceRequests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0E8DB1-79C4-4B18-818F-6067669D34B5}"/>
              </a:ext>
            </a:extLst>
          </p:cNvPr>
          <p:cNvSpPr txBox="1"/>
          <p:nvPr/>
        </p:nvSpPr>
        <p:spPr>
          <a:xfrm>
            <a:off x="4588773" y="2306716"/>
            <a:ext cx="19922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batches.put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(node.id(), ready);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7CB550-C76B-4C14-B8CC-A59BA1AB9829}"/>
              </a:ext>
            </a:extLst>
          </p:cNvPr>
          <p:cNvSpPr txBox="1"/>
          <p:nvPr/>
        </p:nvSpPr>
        <p:spPr>
          <a:xfrm>
            <a:off x="4571536" y="3181567"/>
            <a:ext cx="17238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client.newClientRequest</a:t>
            </a:r>
            <a:endParaRPr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BEC865-693F-47CD-8B10-F069DBF4FC07}"/>
              </a:ext>
            </a:extLst>
          </p:cNvPr>
          <p:cNvSpPr txBox="1"/>
          <p:nvPr/>
        </p:nvSpPr>
        <p:spPr>
          <a:xfrm>
            <a:off x="4577796" y="3577540"/>
            <a:ext cx="9898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client.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send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D59E80-C0B1-4E86-B29E-B1E8AA1EA93E}"/>
              </a:ext>
            </a:extLst>
          </p:cNvPr>
          <p:cNvSpPr txBox="1"/>
          <p:nvPr/>
        </p:nvSpPr>
        <p:spPr>
          <a:xfrm>
            <a:off x="5836477" y="3580333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doSend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B4D2C3-7E51-452B-8671-130B8CE887DA}"/>
              </a:ext>
            </a:extLst>
          </p:cNvPr>
          <p:cNvSpPr txBox="1"/>
          <p:nvPr/>
        </p:nvSpPr>
        <p:spPr>
          <a:xfrm>
            <a:off x="6141603" y="3854539"/>
            <a:ext cx="300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this.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inFlightRequests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.add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inFlightRequest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en-US" sz="1200" dirty="0"/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1B56397C-065A-4F80-9B7D-F4376B245BC8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727255" y="770970"/>
            <a:ext cx="540491" cy="25104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6FEE302-3463-4C9D-B2D2-9017373A5049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263863" y="986413"/>
            <a:ext cx="0" cy="363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072A489-9AD6-4540-B797-265A02AF73BD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3263863" y="1781217"/>
            <a:ext cx="0" cy="363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8E7CF9A-EAC2-401E-AE1E-E771B144CBE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3263862" y="2745299"/>
            <a:ext cx="1" cy="363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066830C-7696-4419-8FDF-279E6511D633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4259979" y="2445216"/>
            <a:ext cx="32879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1573280-05E4-4E32-BAED-EFC0CEC6B79D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4259978" y="3320067"/>
            <a:ext cx="311558" cy="4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4D5DF61-6DA2-41D8-A502-8D8D34D89A13}"/>
              </a:ext>
            </a:extLst>
          </p:cNvPr>
          <p:cNvCxnSpPr/>
          <p:nvPr/>
        </p:nvCxnSpPr>
        <p:spPr>
          <a:xfrm>
            <a:off x="5223755" y="3432556"/>
            <a:ext cx="0" cy="211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F655DA3-59B5-4E93-BB84-27D03E13225B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5567652" y="3716040"/>
            <a:ext cx="268825" cy="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DAA36CB-1A23-4929-B26E-07622B39E03D}"/>
              </a:ext>
            </a:extLst>
          </p:cNvPr>
          <p:cNvSpPr txBox="1"/>
          <p:nvPr/>
        </p:nvSpPr>
        <p:spPr>
          <a:xfrm>
            <a:off x="6141603" y="4166959"/>
            <a:ext cx="1138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selector.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send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sz="12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FC26DD-496C-4A24-9859-33F8FD5E6B14}"/>
              </a:ext>
            </a:extLst>
          </p:cNvPr>
          <p:cNvSpPr txBox="1"/>
          <p:nvPr/>
        </p:nvSpPr>
        <p:spPr>
          <a:xfrm>
            <a:off x="2256165" y="4373507"/>
            <a:ext cx="1512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this.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selector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poll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sz="1200" dirty="0"/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E37CC348-7BE1-4625-A7F6-AFCC8A33CE74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5400000">
            <a:off x="243311" y="2447712"/>
            <a:ext cx="805487" cy="861933"/>
          </a:xfrm>
          <a:prstGeom prst="bentConnector4">
            <a:avLst>
              <a:gd name="adj1" fmla="val 31619"/>
              <a:gd name="adj2" fmla="val 1139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8E9872A7-1576-4637-ACD3-208B765DB714}"/>
              </a:ext>
            </a:extLst>
          </p:cNvPr>
          <p:cNvCxnSpPr>
            <a:stCxn id="5" idx="2"/>
            <a:endCxn id="7" idx="1"/>
          </p:cNvCxnSpPr>
          <p:nvPr/>
        </p:nvCxnSpPr>
        <p:spPr>
          <a:xfrm rot="5400000">
            <a:off x="-371982" y="3063005"/>
            <a:ext cx="2036073" cy="861933"/>
          </a:xfrm>
          <a:prstGeom prst="bentConnector4">
            <a:avLst>
              <a:gd name="adj1" fmla="val 12837"/>
              <a:gd name="adj2" fmla="val 1135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6D49535-BE63-4C7B-AFB3-E6DA61EF4933}"/>
              </a:ext>
            </a:extLst>
          </p:cNvPr>
          <p:cNvCxnSpPr>
            <a:stCxn id="7" idx="3"/>
            <a:endCxn id="26" idx="1"/>
          </p:cNvCxnSpPr>
          <p:nvPr/>
        </p:nvCxnSpPr>
        <p:spPr>
          <a:xfrm flipV="1">
            <a:off x="1727252" y="4512007"/>
            <a:ext cx="52891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2D5661E-22CB-4405-A9C2-290F56CD0A9E}"/>
              </a:ext>
            </a:extLst>
          </p:cNvPr>
          <p:cNvSpPr txBox="1"/>
          <p:nvPr/>
        </p:nvSpPr>
        <p:spPr>
          <a:xfrm>
            <a:off x="4571535" y="1427273"/>
            <a:ext cx="12245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lingerMs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时间到</a:t>
            </a:r>
            <a:endParaRPr lang="zh-CN" altLang="en-US" sz="1200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CBDE907-896E-4A45-B4AA-E96D93D525C2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4259979" y="1565773"/>
            <a:ext cx="31155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492483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25" grpId="0"/>
      <p:bldP spid="26" grpId="0"/>
      <p:bldP spid="3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6A0674FE-BC76-4CDE-A983-E5ED6C262AB0}"/>
              </a:ext>
            </a:extLst>
          </p:cNvPr>
          <p:cNvSpPr txBox="1"/>
          <p:nvPr/>
        </p:nvSpPr>
        <p:spPr>
          <a:xfrm>
            <a:off x="107504" y="555526"/>
            <a:ext cx="15121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用户自定义消费者</a:t>
            </a:r>
            <a:endParaRPr lang="en-US" altLang="zh-CN" sz="11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CustomConsumer.java </a:t>
            </a:r>
            <a:endParaRPr lang="zh-CN" altLang="en-US" sz="11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4436347-2A74-441E-85F8-99B7C9D4A596}"/>
              </a:ext>
            </a:extLst>
          </p:cNvPr>
          <p:cNvCxnSpPr>
            <a:cxnSpLocks/>
          </p:cNvCxnSpPr>
          <p:nvPr/>
        </p:nvCxnSpPr>
        <p:spPr>
          <a:xfrm>
            <a:off x="323528" y="986413"/>
            <a:ext cx="0" cy="289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2EAE83ED-6C8E-48DE-9B4C-67609A2AE12F}"/>
              </a:ext>
            </a:extLst>
          </p:cNvPr>
          <p:cNvSpPr txBox="1"/>
          <p:nvPr/>
        </p:nvSpPr>
        <p:spPr>
          <a:xfrm>
            <a:off x="309331" y="1251926"/>
            <a:ext cx="5182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main</a:t>
            </a:r>
            <a:endParaRPr lang="zh-CN" altLang="en-US" sz="12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01140E5-ADB9-4126-BFDA-AACACF0AEC42}"/>
              </a:ext>
            </a:extLst>
          </p:cNvPr>
          <p:cNvCxnSpPr>
            <a:cxnSpLocks/>
          </p:cNvCxnSpPr>
          <p:nvPr/>
        </p:nvCxnSpPr>
        <p:spPr>
          <a:xfrm>
            <a:off x="467544" y="1528925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161CF48-374D-4F58-8238-310A1DE318CE}"/>
              </a:ext>
            </a:extLst>
          </p:cNvPr>
          <p:cNvSpPr txBox="1"/>
          <p:nvPr/>
        </p:nvSpPr>
        <p:spPr>
          <a:xfrm>
            <a:off x="436292" y="1682956"/>
            <a:ext cx="1759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创建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消费者对象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new 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KafkaConsumer</a:t>
            </a:r>
            <a:endParaRPr lang="zh-CN" altLang="en-US" sz="12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BE49CE-449B-4EC8-8DB4-ED128F6EEBC1}"/>
              </a:ext>
            </a:extLst>
          </p:cNvPr>
          <p:cNvSpPr/>
          <p:nvPr/>
        </p:nvSpPr>
        <p:spPr>
          <a:xfrm>
            <a:off x="2486053" y="555526"/>
            <a:ext cx="1941928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获取消费者组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this.groupId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B549AD9-202B-4286-B3A7-213DFBF6E452}"/>
              </a:ext>
            </a:extLst>
          </p:cNvPr>
          <p:cNvSpPr/>
          <p:nvPr/>
        </p:nvSpPr>
        <p:spPr>
          <a:xfrm>
            <a:off x="2486050" y="1338827"/>
            <a:ext cx="1941928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获取客户端</a:t>
            </a:r>
            <a:r>
              <a:rPr lang="en-US" altLang="zh-CN" sz="1200" dirty="0">
                <a:solidFill>
                  <a:schemeClr val="tx1"/>
                </a:solidFill>
              </a:rPr>
              <a:t>id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this.clientId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A6EB740-8C56-4FF6-9ABE-DF27B3FCD01C}"/>
              </a:ext>
            </a:extLst>
          </p:cNvPr>
          <p:cNvSpPr/>
          <p:nvPr/>
        </p:nvSpPr>
        <p:spPr>
          <a:xfrm>
            <a:off x="2487766" y="2113341"/>
            <a:ext cx="1940211" cy="43088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拦截器配置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interceptorList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779A3A9-52D2-4BD3-A912-4742906BB055}"/>
              </a:ext>
            </a:extLst>
          </p:cNvPr>
          <p:cNvSpPr txBox="1"/>
          <p:nvPr/>
        </p:nvSpPr>
        <p:spPr>
          <a:xfrm>
            <a:off x="323528" y="2397940"/>
            <a:ext cx="1853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连续点击三次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this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构造器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7947CBA-7672-4282-9F4F-E349237FD8FD}"/>
              </a:ext>
            </a:extLst>
          </p:cNvPr>
          <p:cNvCxnSpPr>
            <a:cxnSpLocks/>
          </p:cNvCxnSpPr>
          <p:nvPr/>
        </p:nvCxnSpPr>
        <p:spPr>
          <a:xfrm>
            <a:off x="559136" y="2144621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4BC8ED07-0471-4F61-8A93-1DDF63EAE5D3}"/>
              </a:ext>
            </a:extLst>
          </p:cNvPr>
          <p:cNvCxnSpPr>
            <a:cxnSpLocks/>
            <a:stCxn id="40" idx="3"/>
            <a:endCxn id="37" idx="1"/>
          </p:cNvCxnSpPr>
          <p:nvPr/>
        </p:nvCxnSpPr>
        <p:spPr>
          <a:xfrm flipV="1">
            <a:off x="2177480" y="770970"/>
            <a:ext cx="308573" cy="17654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3EEC74CD-2B1E-48AF-98B3-E8F76392C8EF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3457014" y="986413"/>
            <a:ext cx="3" cy="352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8F2EC26-E265-4CE1-9CC2-0D08982ABC92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3457014" y="1769714"/>
            <a:ext cx="4" cy="352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6485376C-3483-4372-9402-592F5946FE69}"/>
              </a:ext>
            </a:extLst>
          </p:cNvPr>
          <p:cNvSpPr txBox="1"/>
          <p:nvPr/>
        </p:nvSpPr>
        <p:spPr>
          <a:xfrm>
            <a:off x="467543" y="0"/>
            <a:ext cx="1759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消费者初始化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2D2C8EF-A9CD-489D-A4D2-74EA804711F8}"/>
              </a:ext>
            </a:extLst>
          </p:cNvPr>
          <p:cNvSpPr/>
          <p:nvPr/>
        </p:nvSpPr>
        <p:spPr>
          <a:xfrm>
            <a:off x="2492091" y="2896642"/>
            <a:ext cx="1940211" cy="619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key</a:t>
            </a:r>
            <a:r>
              <a:rPr lang="zh-CN" altLang="en-US" sz="1200" dirty="0">
                <a:solidFill>
                  <a:schemeClr val="tx1"/>
                </a:solidFill>
              </a:rPr>
              <a:t>和</a:t>
            </a:r>
            <a:r>
              <a:rPr lang="en-US" altLang="zh-CN" sz="1200" dirty="0">
                <a:solidFill>
                  <a:schemeClr val="tx1"/>
                </a:solidFill>
              </a:rPr>
              <a:t>value</a:t>
            </a:r>
            <a:r>
              <a:rPr lang="zh-CN" altLang="en-US" sz="1200" dirty="0">
                <a:solidFill>
                  <a:schemeClr val="tx1"/>
                </a:solidFill>
              </a:rPr>
              <a:t>反序列化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keyDeserializer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en-US" altLang="zh-CN" sz="1200" dirty="0" err="1">
                <a:solidFill>
                  <a:schemeClr val="tx1"/>
                </a:solidFill>
              </a:rPr>
              <a:t>valueDeserializer</a:t>
            </a:r>
            <a:r>
              <a:rPr lang="en-US" altLang="zh-CN" sz="1200" dirty="0">
                <a:solidFill>
                  <a:schemeClr val="tx1"/>
                </a:solidFill>
              </a:rPr>
              <a:t> 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DBD851A-38BE-49A6-A1BA-61B2ADEBBEE7}"/>
              </a:ext>
            </a:extLst>
          </p:cNvPr>
          <p:cNvSpPr/>
          <p:nvPr/>
        </p:nvSpPr>
        <p:spPr>
          <a:xfrm>
            <a:off x="2487766" y="3869055"/>
            <a:ext cx="1940211" cy="4308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offset</a:t>
            </a:r>
            <a:r>
              <a:rPr lang="zh-CN" altLang="en-US" sz="1200" dirty="0">
                <a:solidFill>
                  <a:schemeClr val="tx1"/>
                </a:solidFill>
              </a:rPr>
              <a:t>从什么位置开始消费</a:t>
            </a:r>
            <a:r>
              <a:rPr lang="en-US" altLang="zh-CN" sz="1200" dirty="0" err="1">
                <a:solidFill>
                  <a:schemeClr val="tx1"/>
                </a:solidFill>
              </a:rPr>
              <a:t>offsetResetStrategy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15BE636-8FFA-4EF9-81F7-12B8CBB411CE}"/>
              </a:ext>
            </a:extLst>
          </p:cNvPr>
          <p:cNvSpPr/>
          <p:nvPr/>
        </p:nvSpPr>
        <p:spPr>
          <a:xfrm>
            <a:off x="5577503" y="564813"/>
            <a:ext cx="1940211" cy="6049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连接</a:t>
            </a:r>
            <a:r>
              <a:rPr lang="en-US" altLang="zh-CN" sz="1200" dirty="0">
                <a:solidFill>
                  <a:schemeClr val="tx1"/>
                </a:solidFill>
              </a:rPr>
              <a:t>Kafka</a:t>
            </a:r>
            <a:r>
              <a:rPr lang="zh-CN" altLang="en-US" sz="1200" dirty="0">
                <a:solidFill>
                  <a:schemeClr val="tx1"/>
                </a:solidFill>
              </a:rPr>
              <a:t>集群</a:t>
            </a:r>
            <a:r>
              <a:rPr lang="en-US" altLang="zh-CN" sz="1200" dirty="0">
                <a:solidFill>
                  <a:schemeClr val="tx1"/>
                </a:solidFill>
              </a:rPr>
              <a:t>BOOTSTRAP_SERVERS_CONFIG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BDEE42F-BE4B-41B1-AE7E-8EAB85083A4A}"/>
              </a:ext>
            </a:extLst>
          </p:cNvPr>
          <p:cNvSpPr/>
          <p:nvPr/>
        </p:nvSpPr>
        <p:spPr>
          <a:xfrm>
            <a:off x="5577503" y="1330528"/>
            <a:ext cx="1940211" cy="430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心跳时间</a:t>
            </a:r>
            <a:r>
              <a:rPr lang="en-US" altLang="zh-CN" sz="1200" dirty="0">
                <a:solidFill>
                  <a:schemeClr val="tx1"/>
                </a:solidFill>
              </a:rPr>
              <a:t>,</a:t>
            </a:r>
            <a:r>
              <a:rPr lang="zh-CN" altLang="en-US" sz="1200" dirty="0">
                <a:solidFill>
                  <a:schemeClr val="tx1"/>
                </a:solidFill>
              </a:rPr>
              <a:t>默认</a:t>
            </a:r>
            <a:r>
              <a:rPr lang="en-US" altLang="zh-CN" sz="1200" dirty="0">
                <a:solidFill>
                  <a:schemeClr val="tx1"/>
                </a:solidFill>
              </a:rPr>
              <a:t>3s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heartbeatIntervalMs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E8854EC-DDDE-4BFC-8DAA-C87996A187D7}"/>
              </a:ext>
            </a:extLst>
          </p:cNvPr>
          <p:cNvSpPr/>
          <p:nvPr/>
        </p:nvSpPr>
        <p:spPr>
          <a:xfrm>
            <a:off x="5577503" y="1922146"/>
            <a:ext cx="1940211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创建网络客户端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new </a:t>
            </a:r>
            <a:r>
              <a:rPr lang="en-US" altLang="zh-CN" sz="1200" dirty="0" err="1">
                <a:solidFill>
                  <a:schemeClr val="tx1"/>
                </a:solidFill>
              </a:rPr>
              <a:t>NetworkClient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DBE35D7-3A44-464E-996C-E127319FD9C6}"/>
              </a:ext>
            </a:extLst>
          </p:cNvPr>
          <p:cNvSpPr/>
          <p:nvPr/>
        </p:nvSpPr>
        <p:spPr>
          <a:xfrm>
            <a:off x="5577503" y="2513764"/>
            <a:ext cx="1940211" cy="619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创建一个消费者客户端</a:t>
            </a:r>
            <a:r>
              <a:rPr lang="en-US" altLang="zh-CN" sz="1200" dirty="0">
                <a:solidFill>
                  <a:schemeClr val="tx1"/>
                </a:solidFill>
              </a:rPr>
              <a:t>new </a:t>
            </a:r>
            <a:r>
              <a:rPr lang="en-US" altLang="zh-CN" sz="1200" dirty="0" err="1">
                <a:solidFill>
                  <a:schemeClr val="tx1"/>
                </a:solidFill>
              </a:rPr>
              <a:t>ConsumerNetworkClient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8A33A56-C29E-4F1C-94CF-936B661F39CE}"/>
              </a:ext>
            </a:extLst>
          </p:cNvPr>
          <p:cNvSpPr/>
          <p:nvPr/>
        </p:nvSpPr>
        <p:spPr>
          <a:xfrm>
            <a:off x="5577503" y="3886110"/>
            <a:ext cx="1940211" cy="60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创建消费者协调器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new </a:t>
            </a:r>
            <a:r>
              <a:rPr lang="en-US" altLang="zh-CN" sz="1200" dirty="0" err="1">
                <a:solidFill>
                  <a:schemeClr val="tx1"/>
                </a:solidFill>
              </a:rPr>
              <a:t>ConsumerCoordinator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BF9FDF5-8191-4599-B52E-FE3F6947B3E4}"/>
              </a:ext>
            </a:extLst>
          </p:cNvPr>
          <p:cNvSpPr/>
          <p:nvPr/>
        </p:nvSpPr>
        <p:spPr>
          <a:xfrm>
            <a:off x="5577503" y="4651824"/>
            <a:ext cx="1940211" cy="43088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抓取数据配置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new Fetcher&lt;&gt;()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BDF0242-9D8A-4C1E-89F6-40D5C535365F}"/>
              </a:ext>
            </a:extLst>
          </p:cNvPr>
          <p:cNvCxnSpPr>
            <a:stCxn id="39" idx="2"/>
            <a:endCxn id="46" idx="0"/>
          </p:cNvCxnSpPr>
          <p:nvPr/>
        </p:nvCxnSpPr>
        <p:spPr>
          <a:xfrm>
            <a:off x="3457872" y="2544228"/>
            <a:ext cx="4325" cy="352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0A28E1F1-94E4-4A30-9BB3-67E23E7CF41D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 flipH="1">
            <a:off x="3457872" y="3516639"/>
            <a:ext cx="4325" cy="352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54F7C99-1C8A-48CA-A2EE-B93D4C39B3B0}"/>
              </a:ext>
            </a:extLst>
          </p:cNvPr>
          <p:cNvCxnSpPr>
            <a:cxnSpLocks/>
            <a:stCxn id="47" idx="2"/>
            <a:endCxn id="63" idx="0"/>
          </p:cNvCxnSpPr>
          <p:nvPr/>
        </p:nvCxnSpPr>
        <p:spPr>
          <a:xfrm>
            <a:off x="3457872" y="4299942"/>
            <a:ext cx="0" cy="404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9D924B7-0C7E-444E-8C40-506D3B7A2818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>
            <a:off x="6547609" y="1169797"/>
            <a:ext cx="0" cy="160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6AB53C2-CF56-4A94-A60A-0F64D8F68BD2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6547609" y="1761415"/>
            <a:ext cx="0" cy="160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99FB872E-C153-4574-8CF2-C460C985C9FA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>
            <a:off x="6547609" y="2353033"/>
            <a:ext cx="0" cy="160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0C8D485-3EEE-4668-A58A-8D183A695F81}"/>
              </a:ext>
            </a:extLst>
          </p:cNvPr>
          <p:cNvCxnSpPr>
            <a:cxnSpLocks/>
            <a:stCxn id="64" idx="2"/>
            <a:endCxn id="52" idx="0"/>
          </p:cNvCxnSpPr>
          <p:nvPr/>
        </p:nvCxnSpPr>
        <p:spPr>
          <a:xfrm>
            <a:off x="6547609" y="3725379"/>
            <a:ext cx="0" cy="160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EE800F79-D0DB-461A-915C-604C600CE065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>
            <a:off x="6547609" y="4491094"/>
            <a:ext cx="0" cy="160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99228922-65A9-4DBD-870E-16C716025292}"/>
              </a:ext>
            </a:extLst>
          </p:cNvPr>
          <p:cNvCxnSpPr>
            <a:cxnSpLocks/>
            <a:stCxn id="63" idx="3"/>
            <a:endCxn id="48" idx="1"/>
          </p:cNvCxnSpPr>
          <p:nvPr/>
        </p:nvCxnSpPr>
        <p:spPr>
          <a:xfrm flipV="1">
            <a:off x="4427977" y="867305"/>
            <a:ext cx="1149526" cy="4052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81E071D9-F2B3-40BE-90C5-5042AE5B4B33}"/>
              </a:ext>
            </a:extLst>
          </p:cNvPr>
          <p:cNvSpPr/>
          <p:nvPr/>
        </p:nvSpPr>
        <p:spPr>
          <a:xfrm>
            <a:off x="2487766" y="4704496"/>
            <a:ext cx="1940211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获取元数据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this.metadata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4A0C6AF-2DC4-41F2-AC05-5D8EFFAC72B1}"/>
              </a:ext>
            </a:extLst>
          </p:cNvPr>
          <p:cNvSpPr/>
          <p:nvPr/>
        </p:nvSpPr>
        <p:spPr>
          <a:xfrm>
            <a:off x="5577503" y="3294492"/>
            <a:ext cx="1940211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获取消费者分区分配策略</a:t>
            </a:r>
            <a:r>
              <a:rPr lang="en-US" altLang="zh-CN" sz="1200" dirty="0" err="1">
                <a:solidFill>
                  <a:schemeClr val="tx1"/>
                </a:solidFill>
              </a:rPr>
              <a:t>this.assignors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C934D0D-A309-4676-8049-A322A22B9B82}"/>
              </a:ext>
            </a:extLst>
          </p:cNvPr>
          <p:cNvCxnSpPr>
            <a:cxnSpLocks/>
            <a:stCxn id="51" idx="2"/>
            <a:endCxn id="64" idx="0"/>
          </p:cNvCxnSpPr>
          <p:nvPr/>
        </p:nvCxnSpPr>
        <p:spPr>
          <a:xfrm>
            <a:off x="6547609" y="3133761"/>
            <a:ext cx="0" cy="160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135711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6" grpId="0"/>
      <p:bldP spid="37" grpId="0" animBg="1"/>
      <p:bldP spid="38" grpId="0" animBg="1"/>
      <p:bldP spid="39" grpId="0" animBg="1"/>
      <p:bldP spid="40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63" grpId="0" animBg="1"/>
      <p:bldP spid="6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82E37F13-27E4-4603-8F5D-F444048175B7}"/>
              </a:ext>
            </a:extLst>
          </p:cNvPr>
          <p:cNvSpPr txBox="1"/>
          <p:nvPr/>
        </p:nvSpPr>
        <p:spPr>
          <a:xfrm>
            <a:off x="107504" y="555526"/>
            <a:ext cx="15121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用户自定义消费者</a:t>
            </a:r>
            <a:endParaRPr lang="en-US" altLang="zh-CN" sz="11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CustomConsumer.java </a:t>
            </a:r>
            <a:endParaRPr lang="zh-CN" altLang="en-US" sz="11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F9FEFBA-A666-4F03-97ED-11F452AA6E0A}"/>
              </a:ext>
            </a:extLst>
          </p:cNvPr>
          <p:cNvCxnSpPr>
            <a:cxnSpLocks/>
          </p:cNvCxnSpPr>
          <p:nvPr/>
        </p:nvCxnSpPr>
        <p:spPr>
          <a:xfrm>
            <a:off x="323528" y="986413"/>
            <a:ext cx="0" cy="289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935CC61-BE53-41FD-A85F-BEFE933D3AE1}"/>
              </a:ext>
            </a:extLst>
          </p:cNvPr>
          <p:cNvSpPr txBox="1"/>
          <p:nvPr/>
        </p:nvSpPr>
        <p:spPr>
          <a:xfrm>
            <a:off x="309331" y="1251926"/>
            <a:ext cx="5182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main</a:t>
            </a:r>
            <a:endParaRPr lang="zh-CN" altLang="en-US" sz="12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27A4D4C-96B7-4DBA-BC1E-5274CE56F780}"/>
              </a:ext>
            </a:extLst>
          </p:cNvPr>
          <p:cNvCxnSpPr>
            <a:cxnSpLocks/>
          </p:cNvCxnSpPr>
          <p:nvPr/>
        </p:nvCxnSpPr>
        <p:spPr>
          <a:xfrm>
            <a:off x="467544" y="1528925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F94A6427-604F-4D73-91ED-987095A0EEA0}"/>
              </a:ext>
            </a:extLst>
          </p:cNvPr>
          <p:cNvSpPr txBox="1"/>
          <p:nvPr/>
        </p:nvSpPr>
        <p:spPr>
          <a:xfrm>
            <a:off x="436292" y="1682956"/>
            <a:ext cx="1759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创建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消费者对象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new 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KafkaConsumer</a:t>
            </a:r>
            <a:endParaRPr lang="zh-CN" alt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04AF69B-61E6-4A22-9CB5-2F029E8FF54D}"/>
              </a:ext>
            </a:extLst>
          </p:cNvPr>
          <p:cNvSpPr txBox="1"/>
          <p:nvPr/>
        </p:nvSpPr>
        <p:spPr>
          <a:xfrm>
            <a:off x="414988" y="2395696"/>
            <a:ext cx="30420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订阅主题</a:t>
            </a:r>
            <a:endParaRPr lang="en-US" altLang="zh-CN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ArrayList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&lt;String&gt; topics = new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ArrayList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&lt;&gt;();</a:t>
            </a:r>
          </a:p>
          <a:p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topics.add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("first");</a:t>
            </a:r>
          </a:p>
          <a:p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kafkaConsumer.</a:t>
            </a:r>
            <a:r>
              <a:rPr lang="en-US" altLang="zh-CN" sz="12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subscribe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(topics);</a:t>
            </a:r>
            <a:endParaRPr lang="zh-CN" altLang="en-US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A36F85D-ADBF-470A-880B-961DFABEA907}"/>
              </a:ext>
            </a:extLst>
          </p:cNvPr>
          <p:cNvCxnSpPr>
            <a:cxnSpLocks/>
          </p:cNvCxnSpPr>
          <p:nvPr/>
        </p:nvCxnSpPr>
        <p:spPr>
          <a:xfrm>
            <a:off x="559136" y="2144621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3ED83F5-E09F-47F0-84E4-58A456C08F64}"/>
              </a:ext>
            </a:extLst>
          </p:cNvPr>
          <p:cNvSpPr txBox="1"/>
          <p:nvPr/>
        </p:nvSpPr>
        <p:spPr>
          <a:xfrm>
            <a:off x="467542" y="0"/>
            <a:ext cx="2160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消费者订阅主题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875E766-7044-4765-9230-95188E6A0600}"/>
              </a:ext>
            </a:extLst>
          </p:cNvPr>
          <p:cNvSpPr/>
          <p:nvPr/>
        </p:nvSpPr>
        <p:spPr>
          <a:xfrm>
            <a:off x="3779912" y="533024"/>
            <a:ext cx="4968552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判断是否需要更改订阅主题，如果需要更改主题，则更新元数据信息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 err="1">
                <a:solidFill>
                  <a:schemeClr val="tx1"/>
                </a:solidFill>
              </a:rPr>
              <a:t>this.subscriptions.subscribe</a:t>
            </a:r>
            <a:r>
              <a:rPr lang="en-US" altLang="zh-CN" sz="1200" dirty="0">
                <a:solidFill>
                  <a:schemeClr val="tx1"/>
                </a:solidFill>
              </a:rPr>
              <a:t>(new HashSet&lt;&gt;(topics), listener)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9A7E503-3FE5-48E0-B44C-2FBD3964BB60}"/>
              </a:ext>
            </a:extLst>
          </p:cNvPr>
          <p:cNvSpPr/>
          <p:nvPr/>
        </p:nvSpPr>
        <p:spPr>
          <a:xfrm>
            <a:off x="4463480" y="1616943"/>
            <a:ext cx="4680520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注册负载均衡监听（例如消费者组中，其他消费者退出触发再平衡）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 err="1">
                <a:solidFill>
                  <a:schemeClr val="tx1"/>
                </a:solidFill>
              </a:rPr>
              <a:t>registerRebalanceListener</a:t>
            </a:r>
            <a:r>
              <a:rPr lang="en-US" altLang="zh-CN" sz="1200" dirty="0">
                <a:solidFill>
                  <a:schemeClr val="tx1"/>
                </a:solidFill>
              </a:rPr>
              <a:t>(listener)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4881DA7-6898-4303-B62E-6E39B3B94B98}"/>
              </a:ext>
            </a:extLst>
          </p:cNvPr>
          <p:cNvSpPr/>
          <p:nvPr/>
        </p:nvSpPr>
        <p:spPr>
          <a:xfrm>
            <a:off x="4463480" y="2390384"/>
            <a:ext cx="2124742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修改订阅主题信息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 err="1">
                <a:solidFill>
                  <a:schemeClr val="tx1"/>
                </a:solidFill>
              </a:rPr>
              <a:t>changeSubscription</a:t>
            </a:r>
            <a:r>
              <a:rPr lang="en-US" altLang="zh-CN" sz="1200" dirty="0">
                <a:solidFill>
                  <a:schemeClr val="tx1"/>
                </a:solidFill>
              </a:rPr>
              <a:t>(topics)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3418103A-B651-450B-A736-75D3F7926466}"/>
              </a:ext>
            </a:extLst>
          </p:cNvPr>
          <p:cNvCxnSpPr>
            <a:cxnSpLocks/>
            <a:stCxn id="37" idx="3"/>
            <a:endCxn id="40" idx="1"/>
          </p:cNvCxnSpPr>
          <p:nvPr/>
        </p:nvCxnSpPr>
        <p:spPr>
          <a:xfrm flipV="1">
            <a:off x="3457005" y="748468"/>
            <a:ext cx="322907" cy="20627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21E4589-F787-4B6A-8AB1-1A1BCD8CA65E}"/>
              </a:ext>
            </a:extLst>
          </p:cNvPr>
          <p:cNvSpPr txBox="1"/>
          <p:nvPr/>
        </p:nvSpPr>
        <p:spPr>
          <a:xfrm>
            <a:off x="6821929" y="2285459"/>
            <a:ext cx="2322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如果订阅的主题和以前订阅的一致，就不需要修改订阅信息。如果不一致，就需要修改</a:t>
            </a:r>
            <a:endParaRPr lang="zh-CN" altLang="en-US" sz="12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C975786-22DA-4CED-BED8-DAC90F0B1098}"/>
              </a:ext>
            </a:extLst>
          </p:cNvPr>
          <p:cNvSpPr/>
          <p:nvPr/>
        </p:nvSpPr>
        <p:spPr>
          <a:xfrm>
            <a:off x="3776419" y="3869055"/>
            <a:ext cx="4248470" cy="430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如果订阅的和以前不一致，需要更新元数据信息</a:t>
            </a:r>
            <a:r>
              <a:rPr lang="en-US" altLang="zh-CN" sz="1200" dirty="0" err="1">
                <a:solidFill>
                  <a:schemeClr val="tx1"/>
                </a:solidFill>
              </a:rPr>
              <a:t>metadata.requestUpdateForNewTopics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C7CD0C8E-C231-4ED3-B48F-A268766626C7}"/>
              </a:ext>
            </a:extLst>
          </p:cNvPr>
          <p:cNvCxnSpPr>
            <a:stCxn id="37" idx="3"/>
            <a:endCxn id="45" idx="1"/>
          </p:cNvCxnSpPr>
          <p:nvPr/>
        </p:nvCxnSpPr>
        <p:spPr>
          <a:xfrm>
            <a:off x="3457005" y="2811195"/>
            <a:ext cx="319414" cy="12733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DD7CB86A-AB33-419B-B31C-50AF6449454D}"/>
              </a:ext>
            </a:extLst>
          </p:cNvPr>
          <p:cNvCxnSpPr>
            <a:stCxn id="40" idx="2"/>
            <a:endCxn id="41" idx="1"/>
          </p:cNvCxnSpPr>
          <p:nvPr/>
        </p:nvCxnSpPr>
        <p:spPr>
          <a:xfrm rot="5400000">
            <a:off x="4929596" y="497795"/>
            <a:ext cx="868476" cy="1800708"/>
          </a:xfrm>
          <a:prstGeom prst="bentConnector4">
            <a:avLst>
              <a:gd name="adj1" fmla="val 37596"/>
              <a:gd name="adj2" fmla="val 1126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1D762BB0-D066-4D1F-BE3B-87CF64BDFFA3}"/>
              </a:ext>
            </a:extLst>
          </p:cNvPr>
          <p:cNvCxnSpPr>
            <a:stCxn id="40" idx="2"/>
            <a:endCxn id="42" idx="1"/>
          </p:cNvCxnSpPr>
          <p:nvPr/>
        </p:nvCxnSpPr>
        <p:spPr>
          <a:xfrm rot="5400000">
            <a:off x="4542876" y="884515"/>
            <a:ext cx="1641917" cy="1800708"/>
          </a:xfrm>
          <a:prstGeom prst="bentConnector4">
            <a:avLst>
              <a:gd name="adj1" fmla="val 20171"/>
              <a:gd name="adj2" fmla="val 1126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559896D-D1D4-4A34-9F3A-C1E1984E8DA5}"/>
              </a:ext>
            </a:extLst>
          </p:cNvPr>
          <p:cNvCxnSpPr>
            <a:stCxn id="42" idx="3"/>
            <a:endCxn id="44" idx="1"/>
          </p:cNvCxnSpPr>
          <p:nvPr/>
        </p:nvCxnSpPr>
        <p:spPr>
          <a:xfrm>
            <a:off x="6588222" y="2605828"/>
            <a:ext cx="233707" cy="2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69652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6" grpId="0"/>
      <p:bldP spid="37" grpId="0"/>
      <p:bldP spid="40" grpId="0" animBg="1"/>
      <p:bldP spid="41" grpId="0" animBg="1"/>
      <p:bldP spid="42" grpId="0" animBg="1"/>
      <p:bldP spid="44" grpId="0"/>
      <p:bldP spid="4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16322F7C-2947-4A9F-A9D9-9FAAE935F768}"/>
              </a:ext>
            </a:extLst>
          </p:cNvPr>
          <p:cNvSpPr txBox="1"/>
          <p:nvPr/>
        </p:nvSpPr>
        <p:spPr>
          <a:xfrm>
            <a:off x="-36512" y="483518"/>
            <a:ext cx="15121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用户自定义消费者</a:t>
            </a:r>
            <a:endParaRPr lang="en-US" altLang="zh-CN" sz="11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1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CustomConsumer.java </a:t>
            </a:r>
            <a:endParaRPr lang="zh-CN" altLang="en-US" sz="11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4AAE109-54CD-4854-BD26-2EF21430CD31}"/>
              </a:ext>
            </a:extLst>
          </p:cNvPr>
          <p:cNvCxnSpPr>
            <a:cxnSpLocks/>
          </p:cNvCxnSpPr>
          <p:nvPr/>
        </p:nvCxnSpPr>
        <p:spPr>
          <a:xfrm>
            <a:off x="179512" y="914405"/>
            <a:ext cx="0" cy="289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4B48C45-ECB1-4131-A3EC-EFA85FB7485A}"/>
              </a:ext>
            </a:extLst>
          </p:cNvPr>
          <p:cNvSpPr txBox="1"/>
          <p:nvPr/>
        </p:nvSpPr>
        <p:spPr>
          <a:xfrm>
            <a:off x="165315" y="1179918"/>
            <a:ext cx="5182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main</a:t>
            </a:r>
            <a:endParaRPr lang="zh-CN" altLang="en-US" sz="12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0A3865D-6A7A-45B5-B4D9-35161763AE18}"/>
              </a:ext>
            </a:extLst>
          </p:cNvPr>
          <p:cNvCxnSpPr>
            <a:cxnSpLocks/>
          </p:cNvCxnSpPr>
          <p:nvPr/>
        </p:nvCxnSpPr>
        <p:spPr>
          <a:xfrm>
            <a:off x="323528" y="1456917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CADAB32-A2CF-4DE6-8AF3-C9EDF64B15F8}"/>
              </a:ext>
            </a:extLst>
          </p:cNvPr>
          <p:cNvSpPr txBox="1"/>
          <p:nvPr/>
        </p:nvSpPr>
        <p:spPr>
          <a:xfrm>
            <a:off x="227610" y="1779768"/>
            <a:ext cx="1759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创建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消费者对象</a:t>
            </a:r>
            <a:endParaRPr lang="en-US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new 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KafkaConsumer</a:t>
            </a:r>
            <a:endParaRPr lang="zh-CN" alt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1D071F-A0CD-4A58-8EA7-F5097F84C201}"/>
              </a:ext>
            </a:extLst>
          </p:cNvPr>
          <p:cNvSpPr txBox="1"/>
          <p:nvPr/>
        </p:nvSpPr>
        <p:spPr>
          <a:xfrm>
            <a:off x="228524" y="2431322"/>
            <a:ext cx="25728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订阅主题</a:t>
            </a:r>
            <a:endParaRPr lang="en-US" altLang="zh-CN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ArrayList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&lt;String&gt; topics = new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ArrayList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&lt;&gt;();</a:t>
            </a:r>
          </a:p>
          <a:p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topics.add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("first");</a:t>
            </a:r>
          </a:p>
          <a:p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kafkaConsumer.</a:t>
            </a:r>
            <a:r>
              <a:rPr lang="en-US" altLang="zh-CN" sz="12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subscribe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(topics);</a:t>
            </a:r>
            <a:endParaRPr lang="zh-CN" altLang="en-US" sz="1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11BDA37-110D-4037-A45E-5BD188CDEC75}"/>
              </a:ext>
            </a:extLst>
          </p:cNvPr>
          <p:cNvCxnSpPr>
            <a:cxnSpLocks/>
          </p:cNvCxnSpPr>
          <p:nvPr/>
        </p:nvCxnSpPr>
        <p:spPr>
          <a:xfrm>
            <a:off x="415120" y="2249005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C4E7E0E4-B42D-4F6B-BB1F-1072F64B7908}"/>
              </a:ext>
            </a:extLst>
          </p:cNvPr>
          <p:cNvSpPr txBox="1"/>
          <p:nvPr/>
        </p:nvSpPr>
        <p:spPr>
          <a:xfrm>
            <a:off x="467542" y="0"/>
            <a:ext cx="259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消费者拉取和处理数据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6364565-B4C8-4F02-BDC7-11BB8C2600FD}"/>
              </a:ext>
            </a:extLst>
          </p:cNvPr>
          <p:cNvSpPr/>
          <p:nvPr/>
        </p:nvSpPr>
        <p:spPr>
          <a:xfrm>
            <a:off x="2933338" y="548670"/>
            <a:ext cx="3227869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消费者</a:t>
            </a:r>
            <a:r>
              <a:rPr lang="en-US" altLang="zh-CN" sz="1200" dirty="0">
                <a:solidFill>
                  <a:schemeClr val="tx1"/>
                </a:solidFill>
              </a:rPr>
              <a:t>or</a:t>
            </a:r>
            <a:r>
              <a:rPr lang="zh-CN" altLang="en-US" sz="1200" dirty="0">
                <a:solidFill>
                  <a:schemeClr val="tx1"/>
                </a:solidFill>
              </a:rPr>
              <a:t>消费者组初始化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 err="1">
                <a:solidFill>
                  <a:schemeClr val="tx1"/>
                </a:solidFill>
              </a:rPr>
              <a:t>updateAssignmentMetadataIfNeeded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FDE2B50-1FF1-4644-942A-E8C606657092}"/>
              </a:ext>
            </a:extLst>
          </p:cNvPr>
          <p:cNvSpPr txBox="1"/>
          <p:nvPr/>
        </p:nvSpPr>
        <p:spPr>
          <a:xfrm>
            <a:off x="270971" y="3651870"/>
            <a:ext cx="67493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1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消费数据</a:t>
            </a:r>
          </a:p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while (true){</a:t>
            </a:r>
          </a:p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ConsumerRecords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&lt;String, String&gt;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consumerRecords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kafkaConsumer.</a:t>
            </a:r>
            <a:r>
              <a:rPr lang="en-US" altLang="zh-CN" sz="12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poll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Duration.ofSeconds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(1));</a:t>
            </a:r>
          </a:p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for (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ConsumerRecord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&lt;String, String&gt;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consumerRecord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: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consumerRecords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 {</a:t>
            </a:r>
          </a:p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System.out.println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consumerRecord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}</a:t>
            </a:r>
          </a:p>
          <a:p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2373D88-F8A0-4ADA-BB6F-660CAF9EA6F8}"/>
              </a:ext>
            </a:extLst>
          </p:cNvPr>
          <p:cNvCxnSpPr>
            <a:cxnSpLocks/>
          </p:cNvCxnSpPr>
          <p:nvPr/>
        </p:nvCxnSpPr>
        <p:spPr>
          <a:xfrm>
            <a:off x="415120" y="3401133"/>
            <a:ext cx="0" cy="250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5F7E97B2-FB69-4FF4-82B3-99E03B23E997}"/>
              </a:ext>
            </a:extLst>
          </p:cNvPr>
          <p:cNvSpPr/>
          <p:nvPr/>
        </p:nvSpPr>
        <p:spPr>
          <a:xfrm>
            <a:off x="2933342" y="1995686"/>
            <a:ext cx="1346563" cy="430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拉取数据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 err="1">
                <a:solidFill>
                  <a:schemeClr val="tx1"/>
                </a:solidFill>
              </a:rPr>
              <a:t>pollForFetches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A39AB5B-C29B-4B1C-BA4D-08FD7619D5E8}"/>
              </a:ext>
            </a:extLst>
          </p:cNvPr>
          <p:cNvSpPr/>
          <p:nvPr/>
        </p:nvSpPr>
        <p:spPr>
          <a:xfrm>
            <a:off x="2933340" y="3011249"/>
            <a:ext cx="1979090" cy="4308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拦截器处理消息</a:t>
            </a:r>
            <a:r>
              <a:rPr lang="en-US" altLang="zh-CN" sz="1200" dirty="0" err="1">
                <a:solidFill>
                  <a:schemeClr val="tx1"/>
                </a:solidFill>
              </a:rPr>
              <a:t>interceptors.onConsume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4564539-AC8E-4A22-9A96-97094018B5AF}"/>
              </a:ext>
            </a:extLst>
          </p:cNvPr>
          <p:cNvSpPr/>
          <p:nvPr/>
        </p:nvSpPr>
        <p:spPr>
          <a:xfrm>
            <a:off x="6588224" y="555526"/>
            <a:ext cx="1584176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协调器交互</a:t>
            </a:r>
            <a:r>
              <a:rPr lang="en-US" altLang="zh-CN" sz="1200" dirty="0" err="1">
                <a:solidFill>
                  <a:schemeClr val="tx1"/>
                </a:solidFill>
              </a:rPr>
              <a:t>coordinator.poll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13E277E-831F-4F76-A71C-64CDFC701624}"/>
              </a:ext>
            </a:extLst>
          </p:cNvPr>
          <p:cNvSpPr/>
          <p:nvPr/>
        </p:nvSpPr>
        <p:spPr>
          <a:xfrm>
            <a:off x="7840767" y="1083680"/>
            <a:ext cx="1296137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获取最新元数据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7517D7A-4BD0-4E6B-9488-72691159DBC6}"/>
              </a:ext>
            </a:extLst>
          </p:cNvPr>
          <p:cNvSpPr/>
          <p:nvPr/>
        </p:nvSpPr>
        <p:spPr>
          <a:xfrm>
            <a:off x="7840767" y="1607277"/>
            <a:ext cx="1296137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</a:rPr>
              <a:t>3s</a:t>
            </a:r>
            <a:r>
              <a:rPr lang="zh-CN" altLang="en-US" sz="1200" dirty="0">
                <a:solidFill>
                  <a:schemeClr val="tx1"/>
                </a:solidFill>
              </a:rPr>
              <a:t>发送一次心跳</a:t>
            </a:r>
            <a:r>
              <a:rPr lang="en-US" altLang="zh-CN" sz="1200" dirty="0" err="1">
                <a:solidFill>
                  <a:schemeClr val="tx1"/>
                </a:solidFill>
              </a:rPr>
              <a:t>pollHeartbeat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BAB1652-FB2F-4EB7-ACAC-6E7F3B85E7EA}"/>
              </a:ext>
            </a:extLst>
          </p:cNvPr>
          <p:cNvSpPr/>
          <p:nvPr/>
        </p:nvSpPr>
        <p:spPr>
          <a:xfrm>
            <a:off x="7840767" y="2132585"/>
            <a:ext cx="1296137" cy="4308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判断是否需要加入消费者组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B55AA13-B12F-4070-8AAA-19BC3EC3525F}"/>
              </a:ext>
            </a:extLst>
          </p:cNvPr>
          <p:cNvSpPr/>
          <p:nvPr/>
        </p:nvSpPr>
        <p:spPr>
          <a:xfrm>
            <a:off x="4503984" y="1995686"/>
            <a:ext cx="1657232" cy="430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发送请求并抓取数据</a:t>
            </a:r>
            <a:r>
              <a:rPr lang="en-US" altLang="zh-CN" sz="1200" dirty="0" err="1">
                <a:solidFill>
                  <a:schemeClr val="tx1"/>
                </a:solidFill>
              </a:rPr>
              <a:t>fetcher.sendFetches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215A1F1-89A9-4DB9-89DE-E912770FA2C9}"/>
              </a:ext>
            </a:extLst>
          </p:cNvPr>
          <p:cNvSpPr/>
          <p:nvPr/>
        </p:nvSpPr>
        <p:spPr>
          <a:xfrm>
            <a:off x="5724129" y="2585885"/>
            <a:ext cx="1818761" cy="4179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初始化抓取参数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 err="1">
                <a:solidFill>
                  <a:schemeClr val="tx1"/>
                </a:solidFill>
              </a:rPr>
              <a:t>FetchRequest.Builder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41FD835-2FC1-46D0-9575-43CAAEEB633D}"/>
              </a:ext>
            </a:extLst>
          </p:cNvPr>
          <p:cNvSpPr/>
          <p:nvPr/>
        </p:nvSpPr>
        <p:spPr>
          <a:xfrm>
            <a:off x="5726104" y="3117602"/>
            <a:ext cx="1816783" cy="38338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发送拉取数据请求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 err="1">
                <a:solidFill>
                  <a:schemeClr val="tx1"/>
                </a:solidFill>
              </a:rPr>
              <a:t>client.send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7D0A2BE-01DA-449C-8348-B2D4BD676C5F}"/>
              </a:ext>
            </a:extLst>
          </p:cNvPr>
          <p:cNvSpPr/>
          <p:nvPr/>
        </p:nvSpPr>
        <p:spPr>
          <a:xfrm>
            <a:off x="5724128" y="3607422"/>
            <a:ext cx="1818762" cy="38338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监听服务器端返回的数据</a:t>
            </a:r>
            <a:r>
              <a:rPr lang="en-US" altLang="zh-CN" sz="1200" dirty="0" err="1">
                <a:solidFill>
                  <a:schemeClr val="tx1"/>
                </a:solidFill>
              </a:rPr>
              <a:t>future.addListener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2883304E-1415-49EF-85A6-E69258FB4FDA}"/>
              </a:ext>
            </a:extLst>
          </p:cNvPr>
          <p:cNvCxnSpPr>
            <a:cxnSpLocks/>
            <a:endCxn id="40" idx="1"/>
          </p:cNvCxnSpPr>
          <p:nvPr/>
        </p:nvCxnSpPr>
        <p:spPr>
          <a:xfrm rot="5400000" flipH="1" flipV="1">
            <a:off x="1131211" y="2260685"/>
            <a:ext cx="3298698" cy="3055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0F2F82FE-E188-4CAB-819D-8FE2085BA6B3}"/>
              </a:ext>
            </a:extLst>
          </p:cNvPr>
          <p:cNvCxnSpPr>
            <a:cxnSpLocks/>
            <a:endCxn id="43" idx="1"/>
          </p:cNvCxnSpPr>
          <p:nvPr/>
        </p:nvCxnSpPr>
        <p:spPr>
          <a:xfrm rot="5400000" flipH="1" flipV="1">
            <a:off x="1891714" y="2949176"/>
            <a:ext cx="1779674" cy="3035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F08FD514-848E-4D1D-86FE-43FE8862E53F}"/>
              </a:ext>
            </a:extLst>
          </p:cNvPr>
          <p:cNvCxnSpPr>
            <a:cxnSpLocks/>
            <a:endCxn id="44" idx="1"/>
          </p:cNvCxnSpPr>
          <p:nvPr/>
        </p:nvCxnSpPr>
        <p:spPr>
          <a:xfrm rot="5400000" flipH="1" flipV="1">
            <a:off x="2363490" y="3492962"/>
            <a:ext cx="836118" cy="3035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E7958F57-2CFF-4ED4-85A7-AAE0863B7896}"/>
              </a:ext>
            </a:extLst>
          </p:cNvPr>
          <p:cNvCxnSpPr>
            <a:cxnSpLocks/>
            <a:stCxn id="40" idx="3"/>
            <a:endCxn id="45" idx="1"/>
          </p:cNvCxnSpPr>
          <p:nvPr/>
        </p:nvCxnSpPr>
        <p:spPr>
          <a:xfrm>
            <a:off x="6161207" y="764114"/>
            <a:ext cx="427017" cy="6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C4A34E87-7443-41A4-B07F-005AB583576A}"/>
              </a:ext>
            </a:extLst>
          </p:cNvPr>
          <p:cNvCxnSpPr>
            <a:cxnSpLocks/>
            <a:stCxn id="45" idx="2"/>
            <a:endCxn id="46" idx="1"/>
          </p:cNvCxnSpPr>
          <p:nvPr/>
        </p:nvCxnSpPr>
        <p:spPr>
          <a:xfrm rot="16200000" flipH="1">
            <a:off x="7454184" y="912540"/>
            <a:ext cx="312711" cy="4604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7CDB6D01-52C7-4C96-BDB2-BB738A735C2D}"/>
              </a:ext>
            </a:extLst>
          </p:cNvPr>
          <p:cNvCxnSpPr>
            <a:cxnSpLocks/>
            <a:stCxn id="45" idx="2"/>
            <a:endCxn id="47" idx="1"/>
          </p:cNvCxnSpPr>
          <p:nvPr/>
        </p:nvCxnSpPr>
        <p:spPr>
          <a:xfrm rot="16200000" flipH="1">
            <a:off x="7192385" y="1174339"/>
            <a:ext cx="836308" cy="4604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92F1CB90-FEE6-4E79-9FDE-4F6C7FF75DC6}"/>
              </a:ext>
            </a:extLst>
          </p:cNvPr>
          <p:cNvCxnSpPr>
            <a:cxnSpLocks/>
            <a:stCxn id="45" idx="2"/>
            <a:endCxn id="48" idx="1"/>
          </p:cNvCxnSpPr>
          <p:nvPr/>
        </p:nvCxnSpPr>
        <p:spPr>
          <a:xfrm rot="16200000" flipH="1">
            <a:off x="6929731" y="1436993"/>
            <a:ext cx="1361616" cy="4604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40480CF-0B6A-482C-9DAF-892A0A889AB0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>
            <a:off x="4279905" y="2211130"/>
            <a:ext cx="2240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AA1DD38F-7F03-4CAA-8EDC-E5FF56F6679F}"/>
              </a:ext>
            </a:extLst>
          </p:cNvPr>
          <p:cNvCxnSpPr>
            <a:cxnSpLocks/>
            <a:stCxn id="49" idx="2"/>
            <a:endCxn id="50" idx="1"/>
          </p:cNvCxnSpPr>
          <p:nvPr/>
        </p:nvCxnSpPr>
        <p:spPr>
          <a:xfrm rot="16200000" flipH="1">
            <a:off x="5344230" y="2414942"/>
            <a:ext cx="368269" cy="3915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F2B88E8F-0065-4A26-BA9E-F320A86261FB}"/>
              </a:ext>
            </a:extLst>
          </p:cNvPr>
          <p:cNvCxnSpPr>
            <a:cxnSpLocks/>
            <a:stCxn id="49" idx="2"/>
            <a:endCxn id="51" idx="1"/>
          </p:cNvCxnSpPr>
          <p:nvPr/>
        </p:nvCxnSpPr>
        <p:spPr>
          <a:xfrm rot="16200000" flipH="1">
            <a:off x="5087992" y="2671181"/>
            <a:ext cx="882720" cy="3935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7589425D-C5A7-47FD-93AE-11045F96AA77}"/>
              </a:ext>
            </a:extLst>
          </p:cNvPr>
          <p:cNvCxnSpPr>
            <a:cxnSpLocks/>
            <a:stCxn id="49" idx="2"/>
            <a:endCxn id="52" idx="1"/>
          </p:cNvCxnSpPr>
          <p:nvPr/>
        </p:nvCxnSpPr>
        <p:spPr>
          <a:xfrm rot="16200000" flipH="1">
            <a:off x="4842094" y="2917079"/>
            <a:ext cx="1372540" cy="3915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883218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6" grpId="0"/>
      <p:bldP spid="37" grpId="0"/>
      <p:bldP spid="40" grpId="0" animBg="1"/>
      <p:bldP spid="41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7087</Words>
  <Application>Microsoft Office PowerPoint</Application>
  <PresentationFormat>全屏显示(16:9)</PresentationFormat>
  <Paragraphs>1592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7" baseType="lpstr">
      <vt:lpstr>等线</vt:lpstr>
      <vt:lpstr>宋体</vt:lpstr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2018-03-01T02:03:00Z</dcterms:created>
  <dcterms:modified xsi:type="dcterms:W3CDTF">2022-02-05T16:03:36Z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